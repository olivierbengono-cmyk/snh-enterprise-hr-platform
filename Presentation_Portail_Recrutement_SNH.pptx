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6A34A"/>
          </a:solidFill>
          <a:ln w="12700">
            <a:solidFill>
              <a:srgbClr val="16A34A"/>
            </a:solidFill>
            <a:prstDash val="solid"/>
          </a:ln>
        </p:spPr>
      </p:sp>
      <p:sp>
        <p:nvSpPr>
          <p:cNvPr id="3" name="Text 1"/>
          <p:cNvSpPr/>
          <p:nvPr/>
        </p:nvSpPr>
        <p:spPr>
          <a:xfrm>
            <a:off x="457200" y="457200"/>
            <a:ext cx="2743200" cy="731520"/>
          </a:xfrm>
          <a:prstGeom prst="rect">
            <a:avLst/>
          </a:prstGeom>
          <a:noFill/>
          <a:ln/>
        </p:spPr>
        <p:txBody>
          <a:bodyPr wrap="square" rtlCol="0" anchor="ctr"/>
          <a:lstStyle/>
          <a:p>
            <a:pPr indent="0" marL="0">
              <a:buNone/>
            </a:pPr>
            <a:r>
              <a:rPr lang="en-US" sz="3600" b="1" dirty="0">
                <a:solidFill>
                  <a:srgbClr val="FFFFFF"/>
                </a:solidFill>
              </a:rPr>
              <a:t>SNH</a:t>
            </a:r>
            <a:endParaRPr lang="en-US" sz="3600" dirty="0"/>
          </a:p>
        </p:txBody>
      </p:sp>
      <p:sp>
        <p:nvSpPr>
          <p:cNvPr id="4" name="Text 2"/>
          <p:cNvSpPr/>
          <p:nvPr/>
        </p:nvSpPr>
        <p:spPr>
          <a:xfrm>
            <a:off x="457200" y="1097280"/>
            <a:ext cx="6400800" cy="365760"/>
          </a:xfrm>
          <a:prstGeom prst="rect">
            <a:avLst/>
          </a:prstGeom>
          <a:noFill/>
          <a:ln/>
        </p:spPr>
        <p:txBody>
          <a:bodyPr wrap="square" rtlCol="0" anchor="ctr"/>
          <a:lstStyle/>
          <a:p>
            <a:pPr indent="0" marL="0">
              <a:buNone/>
            </a:pPr>
            <a:r>
              <a:rPr lang="en-US" sz="1100" i="1" dirty="0">
                <a:solidFill>
                  <a:srgbClr val="A0C4E8"/>
                </a:solidFill>
              </a:rPr>
              <a:t>Société Nationale des Hydrocarbures</a:t>
            </a:r>
            <a:endParaRPr lang="en-US" sz="1100" dirty="0"/>
          </a:p>
        </p:txBody>
      </p:sp>
      <p:sp>
        <p:nvSpPr>
          <p:cNvPr id="5" name="Text 3"/>
          <p:cNvSpPr/>
          <p:nvPr/>
        </p:nvSpPr>
        <p:spPr>
          <a:xfrm>
            <a:off x="457200" y="2011680"/>
            <a:ext cx="10972800" cy="1645920"/>
          </a:xfrm>
          <a:prstGeom prst="rect">
            <a:avLst/>
          </a:prstGeom>
          <a:noFill/>
          <a:ln/>
        </p:spPr>
        <p:txBody>
          <a:bodyPr wrap="square" rtlCol="0" anchor="ctr"/>
          <a:lstStyle/>
          <a:p>
            <a:pPr indent="0" marL="0">
              <a:lnSpc>
                <a:spcPct val="120000"/>
              </a:lnSpc>
              <a:buNone/>
            </a:pPr>
            <a:r>
              <a:rPr lang="en-US" sz="4000" b="1" dirty="0">
                <a:solidFill>
                  <a:srgbClr val="FFFFFF"/>
                </a:solidFill>
              </a:rPr>
              <a:t>Portail de Recrutement</a:t>
            </a:r>
            <a:endParaRPr lang="en-US" sz="4000" dirty="0"/>
          </a:p>
          <a:p>
            <a:pPr indent="0" marL="0">
              <a:lnSpc>
                <a:spcPct val="120000"/>
              </a:lnSpc>
              <a:buNone/>
            </a:pPr>
            <a:r>
              <a:rPr lang="en-US" sz="4000" b="1" dirty="0">
                <a:solidFill>
                  <a:srgbClr val="FFFFFF"/>
                </a:solidFill>
              </a:rPr>
              <a:t>&amp; Espace CVthèque</a:t>
            </a:r>
            <a:endParaRPr lang="en-US" sz="4000" dirty="0"/>
          </a:p>
        </p:txBody>
      </p:sp>
      <p:sp>
        <p:nvSpPr>
          <p:cNvPr id="6" name="Shape 4"/>
          <p:cNvSpPr/>
          <p:nvPr/>
        </p:nvSpPr>
        <p:spPr>
          <a:xfrm>
            <a:off x="457200" y="3794760"/>
            <a:ext cx="7315200" cy="54864"/>
          </a:xfrm>
          <a:prstGeom prst="rect">
            <a:avLst/>
          </a:prstGeom>
          <a:solidFill>
            <a:srgbClr val="16A34A"/>
          </a:solidFill>
          <a:ln w="12700">
            <a:solidFill>
              <a:srgbClr val="16A34A"/>
            </a:solidFill>
            <a:prstDash val="solid"/>
          </a:ln>
        </p:spPr>
      </p:sp>
      <p:sp>
        <p:nvSpPr>
          <p:cNvPr id="7" name="Text 5"/>
          <p:cNvSpPr/>
          <p:nvPr/>
        </p:nvSpPr>
        <p:spPr>
          <a:xfrm>
            <a:off x="457200" y="3977640"/>
            <a:ext cx="9144000" cy="411480"/>
          </a:xfrm>
          <a:prstGeom prst="rect">
            <a:avLst/>
          </a:prstGeom>
          <a:noFill/>
          <a:ln/>
        </p:spPr>
        <p:txBody>
          <a:bodyPr wrap="square" rtlCol="0" anchor="ctr"/>
          <a:lstStyle/>
          <a:p>
            <a:pPr indent="0" marL="0">
              <a:buNone/>
            </a:pPr>
            <a:r>
              <a:rPr lang="en-US" sz="1500" dirty="0">
                <a:solidFill>
                  <a:srgbClr val="A0C4E8"/>
                </a:solidFill>
              </a:rPr>
              <a:t>Présentation au Directoire  —  Solution SIRH Intégrée</a:t>
            </a:r>
            <a:endParaRPr lang="en-US" sz="1500" dirty="0"/>
          </a:p>
        </p:txBody>
      </p:sp>
      <p:sp>
        <p:nvSpPr>
          <p:cNvPr id="8" name="Text 6"/>
          <p:cNvSpPr/>
          <p:nvPr/>
        </p:nvSpPr>
        <p:spPr>
          <a:xfrm>
            <a:off x="457200" y="4572000"/>
            <a:ext cx="7315200" cy="320040"/>
          </a:xfrm>
          <a:prstGeom prst="rect">
            <a:avLst/>
          </a:prstGeom>
          <a:noFill/>
          <a:ln/>
        </p:spPr>
        <p:txBody>
          <a:bodyPr wrap="square" rtlCol="0" anchor="ctr"/>
          <a:lstStyle/>
          <a:p>
            <a:pPr indent="0" marL="0">
              <a:buNone/>
            </a:pPr>
            <a:r>
              <a:rPr lang="en-US" sz="1100" dirty="0">
                <a:solidFill>
                  <a:srgbClr val="64748B"/>
                </a:solidFill>
              </a:rPr>
              <a:t>Direction des Ressources Humaines  |  Juillet 2026</a:t>
            </a:r>
            <a:endParaRPr lang="en-US" sz="1100" dirty="0"/>
          </a:p>
        </p:txBody>
      </p:sp>
      <p:sp>
        <p:nvSpPr>
          <p:cNvPr id="9" name="Shape 7"/>
          <p:cNvSpPr/>
          <p:nvPr/>
        </p:nvSpPr>
        <p:spPr>
          <a:xfrm>
            <a:off x="457200" y="5303520"/>
            <a:ext cx="2286000" cy="347472"/>
          </a:xfrm>
          <a:prstGeom prst="roundRect">
            <a:avLst>
              <a:gd name="adj" fmla="val 15789"/>
            </a:avLst>
          </a:prstGeom>
          <a:solidFill>
            <a:srgbClr val="1B3A5C"/>
          </a:solidFill>
          <a:ln w="12700">
            <a:solidFill>
              <a:srgbClr val="1B6CA8"/>
            </a:solidFill>
            <a:prstDash val="solid"/>
          </a:ln>
        </p:spPr>
      </p:sp>
      <p:sp>
        <p:nvSpPr>
          <p:cNvPr id="10" name="Text 8"/>
          <p:cNvSpPr/>
          <p:nvPr/>
        </p:nvSpPr>
        <p:spPr>
          <a:xfrm>
            <a:off x="457200" y="5303520"/>
            <a:ext cx="2286000" cy="347472"/>
          </a:xfrm>
          <a:prstGeom prst="rect">
            <a:avLst/>
          </a:prstGeom>
          <a:noFill/>
          <a:ln/>
        </p:spPr>
        <p:txBody>
          <a:bodyPr wrap="square" rtlCol="0" anchor="ctr"/>
          <a:lstStyle/>
          <a:p>
            <a:pPr algn="ctr" indent="0" marL="0">
              <a:buNone/>
            </a:pPr>
            <a:r>
              <a:rPr lang="en-US" sz="900" dirty="0">
                <a:solidFill>
                  <a:srgbClr val="A0C4E8"/>
                </a:solidFill>
              </a:rPr>
              <a:t>Digitalisation RH</a:t>
            </a:r>
            <a:endParaRPr lang="en-US" sz="900" dirty="0"/>
          </a:p>
        </p:txBody>
      </p:sp>
      <p:sp>
        <p:nvSpPr>
          <p:cNvPr id="11" name="Shape 9"/>
          <p:cNvSpPr/>
          <p:nvPr/>
        </p:nvSpPr>
        <p:spPr>
          <a:xfrm>
            <a:off x="3017520" y="5303520"/>
            <a:ext cx="2286000" cy="347472"/>
          </a:xfrm>
          <a:prstGeom prst="roundRect">
            <a:avLst>
              <a:gd name="adj" fmla="val 15789"/>
            </a:avLst>
          </a:prstGeom>
          <a:solidFill>
            <a:srgbClr val="1B3A5C"/>
          </a:solidFill>
          <a:ln w="12700">
            <a:solidFill>
              <a:srgbClr val="1B6CA8"/>
            </a:solidFill>
            <a:prstDash val="solid"/>
          </a:ln>
        </p:spPr>
      </p:sp>
      <p:sp>
        <p:nvSpPr>
          <p:cNvPr id="12" name="Text 10"/>
          <p:cNvSpPr/>
          <p:nvPr/>
        </p:nvSpPr>
        <p:spPr>
          <a:xfrm>
            <a:off x="3017520" y="5303520"/>
            <a:ext cx="2286000" cy="347472"/>
          </a:xfrm>
          <a:prstGeom prst="rect">
            <a:avLst/>
          </a:prstGeom>
          <a:noFill/>
          <a:ln/>
        </p:spPr>
        <p:txBody>
          <a:bodyPr wrap="square" rtlCol="0" anchor="ctr"/>
          <a:lstStyle/>
          <a:p>
            <a:pPr algn="ctr" indent="0" marL="0">
              <a:buNone/>
            </a:pPr>
            <a:r>
              <a:rPr lang="en-US" sz="900" dirty="0">
                <a:solidFill>
                  <a:srgbClr val="A0C4E8"/>
                </a:solidFill>
              </a:rPr>
              <a:t>Recrutement Structuré</a:t>
            </a:r>
            <a:endParaRPr lang="en-US" sz="900" dirty="0"/>
          </a:p>
        </p:txBody>
      </p:sp>
      <p:sp>
        <p:nvSpPr>
          <p:cNvPr id="13" name="Shape 11"/>
          <p:cNvSpPr/>
          <p:nvPr/>
        </p:nvSpPr>
        <p:spPr>
          <a:xfrm>
            <a:off x="5577840" y="5303520"/>
            <a:ext cx="2286000" cy="347472"/>
          </a:xfrm>
          <a:prstGeom prst="roundRect">
            <a:avLst>
              <a:gd name="adj" fmla="val 15789"/>
            </a:avLst>
          </a:prstGeom>
          <a:solidFill>
            <a:srgbClr val="1B3A5C"/>
          </a:solidFill>
          <a:ln w="12700">
            <a:solidFill>
              <a:srgbClr val="1B6CA8"/>
            </a:solidFill>
            <a:prstDash val="solid"/>
          </a:ln>
        </p:spPr>
      </p:sp>
      <p:sp>
        <p:nvSpPr>
          <p:cNvPr id="14" name="Text 12"/>
          <p:cNvSpPr/>
          <p:nvPr/>
        </p:nvSpPr>
        <p:spPr>
          <a:xfrm>
            <a:off x="5577840" y="5303520"/>
            <a:ext cx="2286000" cy="347472"/>
          </a:xfrm>
          <a:prstGeom prst="rect">
            <a:avLst/>
          </a:prstGeom>
          <a:noFill/>
          <a:ln/>
        </p:spPr>
        <p:txBody>
          <a:bodyPr wrap="square" rtlCol="0" anchor="ctr"/>
          <a:lstStyle/>
          <a:p>
            <a:pPr algn="ctr" indent="0" marL="0">
              <a:buNone/>
            </a:pPr>
            <a:r>
              <a:rPr lang="en-US" sz="900" dirty="0">
                <a:solidFill>
                  <a:srgbClr val="A0C4E8"/>
                </a:solidFill>
              </a:rPr>
              <a:t>Traçabilité</a:t>
            </a:r>
            <a:endParaRPr lang="en-US" sz="900" dirty="0"/>
          </a:p>
        </p:txBody>
      </p:sp>
      <p:sp>
        <p:nvSpPr>
          <p:cNvPr id="15" name="Shape 13"/>
          <p:cNvSpPr/>
          <p:nvPr/>
        </p:nvSpPr>
        <p:spPr>
          <a:xfrm>
            <a:off x="8138160" y="5303520"/>
            <a:ext cx="2286000" cy="347472"/>
          </a:xfrm>
          <a:prstGeom prst="roundRect">
            <a:avLst>
              <a:gd name="adj" fmla="val 15789"/>
            </a:avLst>
          </a:prstGeom>
          <a:solidFill>
            <a:srgbClr val="1B3A5C"/>
          </a:solidFill>
          <a:ln w="12700">
            <a:solidFill>
              <a:srgbClr val="1B6CA8"/>
            </a:solidFill>
            <a:prstDash val="solid"/>
          </a:ln>
        </p:spPr>
      </p:sp>
      <p:sp>
        <p:nvSpPr>
          <p:cNvPr id="16" name="Text 14"/>
          <p:cNvSpPr/>
          <p:nvPr/>
        </p:nvSpPr>
        <p:spPr>
          <a:xfrm>
            <a:off x="8138160" y="5303520"/>
            <a:ext cx="2286000" cy="347472"/>
          </a:xfrm>
          <a:prstGeom prst="rect">
            <a:avLst/>
          </a:prstGeom>
          <a:noFill/>
          <a:ln/>
        </p:spPr>
        <p:txBody>
          <a:bodyPr wrap="square" rtlCol="0" anchor="ctr"/>
          <a:lstStyle/>
          <a:p>
            <a:pPr algn="ctr" indent="0" marL="0">
              <a:buNone/>
            </a:pPr>
            <a:r>
              <a:rPr lang="en-US" sz="900" dirty="0">
                <a:solidFill>
                  <a:srgbClr val="A0C4E8"/>
                </a:solidFill>
              </a:rPr>
              <a:t>Conformité</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1247120" cy="73152"/>
          </a:xfrm>
          <a:prstGeom prst="rect">
            <a:avLst/>
          </a:prstGeom>
          <a:solidFill>
            <a:srgbClr val="1B6CA8"/>
          </a:solidFill>
          <a:ln w="12700">
            <a:solidFill>
              <a:srgbClr val="1B6CA8"/>
            </a:solidFill>
            <a:prstDash val="solid"/>
          </a:ln>
        </p:spPr>
      </p:sp>
      <p:sp>
        <p:nvSpPr>
          <p:cNvPr id="3" name="Text 1"/>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SOMMAIRE</a:t>
            </a:r>
            <a:endParaRPr lang="en-US" sz="1000" dirty="0"/>
          </a:p>
        </p:txBody>
      </p:sp>
      <p:sp>
        <p:nvSpPr>
          <p:cNvPr id="4" name="Text 2"/>
          <p:cNvSpPr/>
          <p:nvPr/>
        </p:nvSpPr>
        <p:spPr>
          <a:xfrm>
            <a:off x="457200" y="868680"/>
            <a:ext cx="10972800" cy="502920"/>
          </a:xfrm>
          <a:prstGeom prst="rect">
            <a:avLst/>
          </a:prstGeom>
          <a:noFill/>
          <a:ln/>
        </p:spPr>
        <p:txBody>
          <a:bodyPr wrap="square" rtlCol="0" anchor="ctr"/>
          <a:lstStyle/>
          <a:p>
            <a:pPr indent="0" marL="0">
              <a:buNone/>
            </a:pPr>
            <a:r>
              <a:rPr lang="en-US" sz="2200" b="1" dirty="0">
                <a:solidFill>
                  <a:srgbClr val="0A2540"/>
                </a:solidFill>
              </a:rPr>
              <a:t>Plan de la Présentation</a:t>
            </a:r>
            <a:endParaRPr lang="en-US" sz="2200" dirty="0"/>
          </a:p>
        </p:txBody>
      </p:sp>
      <p:sp>
        <p:nvSpPr>
          <p:cNvPr id="5" name="Shape 3"/>
          <p:cNvSpPr/>
          <p:nvPr/>
        </p:nvSpPr>
        <p:spPr>
          <a:xfrm>
            <a:off x="365760" y="1554480"/>
            <a:ext cx="502920" cy="502920"/>
          </a:xfrm>
          <a:prstGeom prst="rect">
            <a:avLst/>
          </a:prstGeom>
          <a:solidFill>
            <a:srgbClr val="1B6CA8"/>
          </a:solidFill>
          <a:ln w="12700">
            <a:solidFill>
              <a:srgbClr val="1B6CA8"/>
            </a:solidFill>
            <a:prstDash val="solid"/>
          </a:ln>
        </p:spPr>
      </p:sp>
      <p:sp>
        <p:nvSpPr>
          <p:cNvPr id="6" name="Text 4"/>
          <p:cNvSpPr/>
          <p:nvPr/>
        </p:nvSpPr>
        <p:spPr>
          <a:xfrm>
            <a:off x="365760" y="1554480"/>
            <a:ext cx="502920" cy="502920"/>
          </a:xfrm>
          <a:prstGeom prst="rect">
            <a:avLst/>
          </a:prstGeom>
          <a:noFill/>
          <a:ln/>
        </p:spPr>
        <p:txBody>
          <a:bodyPr wrap="square" rtlCol="0" anchor="ctr"/>
          <a:lstStyle/>
          <a:p>
            <a:pPr algn="ctr" indent="0" marL="0">
              <a:buNone/>
            </a:pPr>
            <a:r>
              <a:rPr lang="en-US" sz="1200" b="1" dirty="0">
                <a:solidFill>
                  <a:srgbClr val="FFFFFF"/>
                </a:solidFill>
              </a:rPr>
              <a:t>01</a:t>
            </a:r>
            <a:endParaRPr lang="en-US" sz="1200" dirty="0"/>
          </a:p>
        </p:txBody>
      </p:sp>
      <p:sp>
        <p:nvSpPr>
          <p:cNvPr id="7" name="Text 5"/>
          <p:cNvSpPr/>
          <p:nvPr/>
        </p:nvSpPr>
        <p:spPr>
          <a:xfrm>
            <a:off x="960120" y="1572768"/>
            <a:ext cx="4846320" cy="256032"/>
          </a:xfrm>
          <a:prstGeom prst="rect">
            <a:avLst/>
          </a:prstGeom>
          <a:noFill/>
          <a:ln/>
        </p:spPr>
        <p:txBody>
          <a:bodyPr wrap="square" rtlCol="0" anchor="ctr"/>
          <a:lstStyle/>
          <a:p>
            <a:pPr indent="0" marL="0">
              <a:buNone/>
            </a:pPr>
            <a:r>
              <a:rPr lang="en-US" sz="1100" b="1" dirty="0">
                <a:solidFill>
                  <a:srgbClr val="0A2540"/>
                </a:solidFill>
              </a:rPr>
              <a:t>Contexte &amp; Enjeux</a:t>
            </a:r>
            <a:endParaRPr lang="en-US" sz="1100" dirty="0"/>
          </a:p>
        </p:txBody>
      </p:sp>
      <p:sp>
        <p:nvSpPr>
          <p:cNvPr id="8" name="Text 6"/>
          <p:cNvSpPr/>
          <p:nvPr/>
        </p:nvSpPr>
        <p:spPr>
          <a:xfrm>
            <a:off x="960120" y="1810512"/>
            <a:ext cx="4846320" cy="201168"/>
          </a:xfrm>
          <a:prstGeom prst="rect">
            <a:avLst/>
          </a:prstGeom>
          <a:noFill/>
          <a:ln/>
        </p:spPr>
        <p:txBody>
          <a:bodyPr wrap="square" rtlCol="0" anchor="ctr"/>
          <a:lstStyle/>
          <a:p>
            <a:pPr indent="0" marL="0">
              <a:buNone/>
            </a:pPr>
            <a:r>
              <a:rPr lang="en-US" sz="900" i="1" dirty="0">
                <a:solidFill>
                  <a:srgbClr val="64748B"/>
                </a:solidFill>
              </a:rPr>
              <a:t>Pourquoi digitaliser le recrutement ?</a:t>
            </a:r>
            <a:endParaRPr lang="en-US" sz="900" dirty="0"/>
          </a:p>
        </p:txBody>
      </p:sp>
      <p:sp>
        <p:nvSpPr>
          <p:cNvPr id="9" name="Shape 7"/>
          <p:cNvSpPr/>
          <p:nvPr/>
        </p:nvSpPr>
        <p:spPr>
          <a:xfrm>
            <a:off x="365760" y="2468880"/>
            <a:ext cx="502920" cy="502920"/>
          </a:xfrm>
          <a:prstGeom prst="rect">
            <a:avLst/>
          </a:prstGeom>
          <a:solidFill>
            <a:srgbClr val="1B6CA8"/>
          </a:solidFill>
          <a:ln w="12700">
            <a:solidFill>
              <a:srgbClr val="1B6CA8"/>
            </a:solidFill>
            <a:prstDash val="solid"/>
          </a:ln>
        </p:spPr>
      </p:sp>
      <p:sp>
        <p:nvSpPr>
          <p:cNvPr id="10" name="Text 8"/>
          <p:cNvSpPr/>
          <p:nvPr/>
        </p:nvSpPr>
        <p:spPr>
          <a:xfrm>
            <a:off x="365760" y="2468880"/>
            <a:ext cx="502920" cy="502920"/>
          </a:xfrm>
          <a:prstGeom prst="rect">
            <a:avLst/>
          </a:prstGeom>
          <a:noFill/>
          <a:ln/>
        </p:spPr>
        <p:txBody>
          <a:bodyPr wrap="square" rtlCol="0" anchor="ctr"/>
          <a:lstStyle/>
          <a:p>
            <a:pPr algn="ctr" indent="0" marL="0">
              <a:buNone/>
            </a:pPr>
            <a:r>
              <a:rPr lang="en-US" sz="1200" b="1" dirty="0">
                <a:solidFill>
                  <a:srgbClr val="FFFFFF"/>
                </a:solidFill>
              </a:rPr>
              <a:t>02</a:t>
            </a:r>
            <a:endParaRPr lang="en-US" sz="1200" dirty="0"/>
          </a:p>
        </p:txBody>
      </p:sp>
      <p:sp>
        <p:nvSpPr>
          <p:cNvPr id="11" name="Text 9"/>
          <p:cNvSpPr/>
          <p:nvPr/>
        </p:nvSpPr>
        <p:spPr>
          <a:xfrm>
            <a:off x="960120" y="2487168"/>
            <a:ext cx="4846320" cy="256032"/>
          </a:xfrm>
          <a:prstGeom prst="rect">
            <a:avLst/>
          </a:prstGeom>
          <a:noFill/>
          <a:ln/>
        </p:spPr>
        <p:txBody>
          <a:bodyPr wrap="square" rtlCol="0" anchor="ctr"/>
          <a:lstStyle/>
          <a:p>
            <a:pPr indent="0" marL="0">
              <a:buNone/>
            </a:pPr>
            <a:r>
              <a:rPr lang="en-US" sz="1100" b="1" dirty="0">
                <a:solidFill>
                  <a:srgbClr val="0A2540"/>
                </a:solidFill>
              </a:rPr>
              <a:t>Architecture &amp; Périmètre</a:t>
            </a:r>
            <a:endParaRPr lang="en-US" sz="1100" dirty="0"/>
          </a:p>
        </p:txBody>
      </p:sp>
      <p:sp>
        <p:nvSpPr>
          <p:cNvPr id="12" name="Text 10"/>
          <p:cNvSpPr/>
          <p:nvPr/>
        </p:nvSpPr>
        <p:spPr>
          <a:xfrm>
            <a:off x="960120" y="2724912"/>
            <a:ext cx="4846320" cy="201168"/>
          </a:xfrm>
          <a:prstGeom prst="rect">
            <a:avLst/>
          </a:prstGeom>
          <a:noFill/>
          <a:ln/>
        </p:spPr>
        <p:txBody>
          <a:bodyPr wrap="square" rtlCol="0" anchor="ctr"/>
          <a:lstStyle/>
          <a:p>
            <a:pPr indent="0" marL="0">
              <a:buNone/>
            </a:pPr>
            <a:r>
              <a:rPr lang="en-US" sz="900" i="1" dirty="0">
                <a:solidFill>
                  <a:srgbClr val="64748B"/>
                </a:solidFill>
              </a:rPr>
              <a:t>Composantes du système</a:t>
            </a:r>
            <a:endParaRPr lang="en-US" sz="900" dirty="0"/>
          </a:p>
        </p:txBody>
      </p:sp>
      <p:sp>
        <p:nvSpPr>
          <p:cNvPr id="13" name="Shape 11"/>
          <p:cNvSpPr/>
          <p:nvPr/>
        </p:nvSpPr>
        <p:spPr>
          <a:xfrm>
            <a:off x="365760" y="3383280"/>
            <a:ext cx="502920" cy="502920"/>
          </a:xfrm>
          <a:prstGeom prst="rect">
            <a:avLst/>
          </a:prstGeom>
          <a:solidFill>
            <a:srgbClr val="1B6CA8"/>
          </a:solidFill>
          <a:ln w="12700">
            <a:solidFill>
              <a:srgbClr val="1B6CA8"/>
            </a:solidFill>
            <a:prstDash val="solid"/>
          </a:ln>
        </p:spPr>
      </p:sp>
      <p:sp>
        <p:nvSpPr>
          <p:cNvPr id="14" name="Text 12"/>
          <p:cNvSpPr/>
          <p:nvPr/>
        </p:nvSpPr>
        <p:spPr>
          <a:xfrm>
            <a:off x="365760" y="3383280"/>
            <a:ext cx="502920" cy="502920"/>
          </a:xfrm>
          <a:prstGeom prst="rect">
            <a:avLst/>
          </a:prstGeom>
          <a:noFill/>
          <a:ln/>
        </p:spPr>
        <p:txBody>
          <a:bodyPr wrap="square" rtlCol="0" anchor="ctr"/>
          <a:lstStyle/>
          <a:p>
            <a:pPr algn="ctr" indent="0" marL="0">
              <a:buNone/>
            </a:pPr>
            <a:r>
              <a:rPr lang="en-US" sz="1200" b="1" dirty="0">
                <a:solidFill>
                  <a:srgbClr val="FFFFFF"/>
                </a:solidFill>
              </a:rPr>
              <a:t>03</a:t>
            </a:r>
            <a:endParaRPr lang="en-US" sz="1200" dirty="0"/>
          </a:p>
        </p:txBody>
      </p:sp>
      <p:sp>
        <p:nvSpPr>
          <p:cNvPr id="15" name="Text 13"/>
          <p:cNvSpPr/>
          <p:nvPr/>
        </p:nvSpPr>
        <p:spPr>
          <a:xfrm>
            <a:off x="960120" y="3401568"/>
            <a:ext cx="4846320" cy="256032"/>
          </a:xfrm>
          <a:prstGeom prst="rect">
            <a:avLst/>
          </a:prstGeom>
          <a:noFill/>
          <a:ln/>
        </p:spPr>
        <p:txBody>
          <a:bodyPr wrap="square" rtlCol="0" anchor="ctr"/>
          <a:lstStyle/>
          <a:p>
            <a:pPr indent="0" marL="0">
              <a:buNone/>
            </a:pPr>
            <a:r>
              <a:rPr lang="en-US" sz="1100" b="1" dirty="0">
                <a:solidFill>
                  <a:srgbClr val="0A2540"/>
                </a:solidFill>
              </a:rPr>
              <a:t>Portail Candidat</a:t>
            </a:r>
            <a:endParaRPr lang="en-US" sz="1100" dirty="0"/>
          </a:p>
        </p:txBody>
      </p:sp>
      <p:sp>
        <p:nvSpPr>
          <p:cNvPr id="16" name="Text 14"/>
          <p:cNvSpPr/>
          <p:nvPr/>
        </p:nvSpPr>
        <p:spPr>
          <a:xfrm>
            <a:off x="960120" y="3639312"/>
            <a:ext cx="4846320" cy="201168"/>
          </a:xfrm>
          <a:prstGeom prst="rect">
            <a:avLst/>
          </a:prstGeom>
          <a:noFill/>
          <a:ln/>
        </p:spPr>
        <p:txBody>
          <a:bodyPr wrap="square" rtlCol="0" anchor="ctr"/>
          <a:lstStyle/>
          <a:p>
            <a:pPr indent="0" marL="0">
              <a:buNone/>
            </a:pPr>
            <a:r>
              <a:rPr lang="en-US" sz="900" i="1" dirty="0">
                <a:solidFill>
                  <a:srgbClr val="64748B"/>
                </a:solidFill>
              </a:rPr>
              <a:t>Espace libre-service externe</a:t>
            </a:r>
            <a:endParaRPr lang="en-US" sz="900" dirty="0"/>
          </a:p>
        </p:txBody>
      </p:sp>
      <p:sp>
        <p:nvSpPr>
          <p:cNvPr id="17" name="Shape 15"/>
          <p:cNvSpPr/>
          <p:nvPr/>
        </p:nvSpPr>
        <p:spPr>
          <a:xfrm>
            <a:off x="365760" y="4297680"/>
            <a:ext cx="502920" cy="502920"/>
          </a:xfrm>
          <a:prstGeom prst="rect">
            <a:avLst/>
          </a:prstGeom>
          <a:solidFill>
            <a:srgbClr val="1B6CA8"/>
          </a:solidFill>
          <a:ln w="12700">
            <a:solidFill>
              <a:srgbClr val="1B6CA8"/>
            </a:solidFill>
            <a:prstDash val="solid"/>
          </a:ln>
        </p:spPr>
      </p:sp>
      <p:sp>
        <p:nvSpPr>
          <p:cNvPr id="18" name="Text 16"/>
          <p:cNvSpPr/>
          <p:nvPr/>
        </p:nvSpPr>
        <p:spPr>
          <a:xfrm>
            <a:off x="365760" y="4297680"/>
            <a:ext cx="502920" cy="502920"/>
          </a:xfrm>
          <a:prstGeom prst="rect">
            <a:avLst/>
          </a:prstGeom>
          <a:noFill/>
          <a:ln/>
        </p:spPr>
        <p:txBody>
          <a:bodyPr wrap="square" rtlCol="0" anchor="ctr"/>
          <a:lstStyle/>
          <a:p>
            <a:pPr algn="ctr" indent="0" marL="0">
              <a:buNone/>
            </a:pPr>
            <a:r>
              <a:rPr lang="en-US" sz="1200" b="1" dirty="0">
                <a:solidFill>
                  <a:srgbClr val="FFFFFF"/>
                </a:solidFill>
              </a:rPr>
              <a:t>04</a:t>
            </a:r>
            <a:endParaRPr lang="en-US" sz="1200" dirty="0"/>
          </a:p>
        </p:txBody>
      </p:sp>
      <p:sp>
        <p:nvSpPr>
          <p:cNvPr id="19" name="Text 17"/>
          <p:cNvSpPr/>
          <p:nvPr/>
        </p:nvSpPr>
        <p:spPr>
          <a:xfrm>
            <a:off x="960120" y="4315968"/>
            <a:ext cx="4846320" cy="256032"/>
          </a:xfrm>
          <a:prstGeom prst="rect">
            <a:avLst/>
          </a:prstGeom>
          <a:noFill/>
          <a:ln/>
        </p:spPr>
        <p:txBody>
          <a:bodyPr wrap="square" rtlCol="0" anchor="ctr"/>
          <a:lstStyle/>
          <a:p>
            <a:pPr indent="0" marL="0">
              <a:buNone/>
            </a:pPr>
            <a:r>
              <a:rPr lang="en-US" sz="1100" b="1" dirty="0">
                <a:solidFill>
                  <a:srgbClr val="0A2540"/>
                </a:solidFill>
              </a:rPr>
              <a:t>Espace Recrutement RH</a:t>
            </a:r>
            <a:endParaRPr lang="en-US" sz="1100" dirty="0"/>
          </a:p>
        </p:txBody>
      </p:sp>
      <p:sp>
        <p:nvSpPr>
          <p:cNvPr id="20" name="Text 18"/>
          <p:cNvSpPr/>
          <p:nvPr/>
        </p:nvSpPr>
        <p:spPr>
          <a:xfrm>
            <a:off x="960120" y="4553712"/>
            <a:ext cx="4846320" cy="201168"/>
          </a:xfrm>
          <a:prstGeom prst="rect">
            <a:avLst/>
          </a:prstGeom>
          <a:noFill/>
          <a:ln/>
        </p:spPr>
        <p:txBody>
          <a:bodyPr wrap="square" rtlCol="0" anchor="ctr"/>
          <a:lstStyle/>
          <a:p>
            <a:pPr indent="0" marL="0">
              <a:buNone/>
            </a:pPr>
            <a:r>
              <a:rPr lang="en-US" sz="900" i="1" dirty="0">
                <a:solidFill>
                  <a:srgbClr val="64748B"/>
                </a:solidFill>
              </a:rPr>
              <a:t>Gestion interne des offres et dossiers</a:t>
            </a:r>
            <a:endParaRPr lang="en-US" sz="900" dirty="0"/>
          </a:p>
        </p:txBody>
      </p:sp>
      <p:sp>
        <p:nvSpPr>
          <p:cNvPr id="21" name="Shape 19"/>
          <p:cNvSpPr/>
          <p:nvPr/>
        </p:nvSpPr>
        <p:spPr>
          <a:xfrm>
            <a:off x="365760" y="5212080"/>
            <a:ext cx="502920" cy="502920"/>
          </a:xfrm>
          <a:prstGeom prst="rect">
            <a:avLst/>
          </a:prstGeom>
          <a:solidFill>
            <a:srgbClr val="1B6CA8"/>
          </a:solidFill>
          <a:ln w="12700">
            <a:solidFill>
              <a:srgbClr val="1B6CA8"/>
            </a:solidFill>
            <a:prstDash val="solid"/>
          </a:ln>
        </p:spPr>
      </p:sp>
      <p:sp>
        <p:nvSpPr>
          <p:cNvPr id="22" name="Text 20"/>
          <p:cNvSpPr/>
          <p:nvPr/>
        </p:nvSpPr>
        <p:spPr>
          <a:xfrm>
            <a:off x="365760" y="5212080"/>
            <a:ext cx="502920" cy="502920"/>
          </a:xfrm>
          <a:prstGeom prst="rect">
            <a:avLst/>
          </a:prstGeom>
          <a:noFill/>
          <a:ln/>
        </p:spPr>
        <p:txBody>
          <a:bodyPr wrap="square" rtlCol="0" anchor="ctr"/>
          <a:lstStyle/>
          <a:p>
            <a:pPr algn="ctr" indent="0" marL="0">
              <a:buNone/>
            </a:pPr>
            <a:r>
              <a:rPr lang="en-US" sz="1200" b="1" dirty="0">
                <a:solidFill>
                  <a:srgbClr val="FFFFFF"/>
                </a:solidFill>
              </a:rPr>
              <a:t>05</a:t>
            </a:r>
            <a:endParaRPr lang="en-US" sz="1200" dirty="0"/>
          </a:p>
        </p:txBody>
      </p:sp>
      <p:sp>
        <p:nvSpPr>
          <p:cNvPr id="23" name="Text 21"/>
          <p:cNvSpPr/>
          <p:nvPr/>
        </p:nvSpPr>
        <p:spPr>
          <a:xfrm>
            <a:off x="960120" y="5230368"/>
            <a:ext cx="4846320" cy="256032"/>
          </a:xfrm>
          <a:prstGeom prst="rect">
            <a:avLst/>
          </a:prstGeom>
          <a:noFill/>
          <a:ln/>
        </p:spPr>
        <p:txBody>
          <a:bodyPr wrap="square" rtlCol="0" anchor="ctr"/>
          <a:lstStyle/>
          <a:p>
            <a:pPr indent="0" marL="0">
              <a:buNone/>
            </a:pPr>
            <a:r>
              <a:rPr lang="en-US" sz="1100" b="1" dirty="0">
                <a:solidFill>
                  <a:srgbClr val="0A2540"/>
                </a:solidFill>
              </a:rPr>
              <a:t>CVthèque &amp; Matching</a:t>
            </a:r>
            <a:endParaRPr lang="en-US" sz="1100" dirty="0"/>
          </a:p>
        </p:txBody>
      </p:sp>
      <p:sp>
        <p:nvSpPr>
          <p:cNvPr id="24" name="Text 22"/>
          <p:cNvSpPr/>
          <p:nvPr/>
        </p:nvSpPr>
        <p:spPr>
          <a:xfrm>
            <a:off x="960120" y="5468112"/>
            <a:ext cx="4846320" cy="201168"/>
          </a:xfrm>
          <a:prstGeom prst="rect">
            <a:avLst/>
          </a:prstGeom>
          <a:noFill/>
          <a:ln/>
        </p:spPr>
        <p:txBody>
          <a:bodyPr wrap="square" rtlCol="0" anchor="ctr"/>
          <a:lstStyle/>
          <a:p>
            <a:pPr indent="0" marL="0">
              <a:buNone/>
            </a:pPr>
            <a:r>
              <a:rPr lang="en-US" sz="900" i="1" dirty="0">
                <a:solidFill>
                  <a:srgbClr val="64748B"/>
                </a:solidFill>
              </a:rPr>
              <a:t>Base de compétences et scoring IA</a:t>
            </a:r>
            <a:endParaRPr lang="en-US" sz="900" dirty="0"/>
          </a:p>
        </p:txBody>
      </p:sp>
      <p:sp>
        <p:nvSpPr>
          <p:cNvPr id="25" name="Shape 23"/>
          <p:cNvSpPr/>
          <p:nvPr/>
        </p:nvSpPr>
        <p:spPr>
          <a:xfrm>
            <a:off x="6126480" y="1554480"/>
            <a:ext cx="502920" cy="502920"/>
          </a:xfrm>
          <a:prstGeom prst="rect">
            <a:avLst/>
          </a:prstGeom>
          <a:solidFill>
            <a:srgbClr val="1B6CA8"/>
          </a:solidFill>
          <a:ln w="12700">
            <a:solidFill>
              <a:srgbClr val="1B6CA8"/>
            </a:solidFill>
            <a:prstDash val="solid"/>
          </a:ln>
        </p:spPr>
      </p:sp>
      <p:sp>
        <p:nvSpPr>
          <p:cNvPr id="26" name="Text 24"/>
          <p:cNvSpPr/>
          <p:nvPr/>
        </p:nvSpPr>
        <p:spPr>
          <a:xfrm>
            <a:off x="6126480" y="1554480"/>
            <a:ext cx="502920" cy="502920"/>
          </a:xfrm>
          <a:prstGeom prst="rect">
            <a:avLst/>
          </a:prstGeom>
          <a:noFill/>
          <a:ln/>
        </p:spPr>
        <p:txBody>
          <a:bodyPr wrap="square" rtlCol="0" anchor="ctr"/>
          <a:lstStyle/>
          <a:p>
            <a:pPr algn="ctr" indent="0" marL="0">
              <a:buNone/>
            </a:pPr>
            <a:r>
              <a:rPr lang="en-US" sz="1200" b="1" dirty="0">
                <a:solidFill>
                  <a:srgbClr val="FFFFFF"/>
                </a:solidFill>
              </a:rPr>
              <a:t>06</a:t>
            </a:r>
            <a:endParaRPr lang="en-US" sz="1200" dirty="0"/>
          </a:p>
        </p:txBody>
      </p:sp>
      <p:sp>
        <p:nvSpPr>
          <p:cNvPr id="27" name="Text 25"/>
          <p:cNvSpPr/>
          <p:nvPr/>
        </p:nvSpPr>
        <p:spPr>
          <a:xfrm>
            <a:off x="6720840" y="1572768"/>
            <a:ext cx="4846320" cy="256032"/>
          </a:xfrm>
          <a:prstGeom prst="rect">
            <a:avLst/>
          </a:prstGeom>
          <a:noFill/>
          <a:ln/>
        </p:spPr>
        <p:txBody>
          <a:bodyPr wrap="square" rtlCol="0" anchor="ctr"/>
          <a:lstStyle/>
          <a:p>
            <a:pPr indent="0" marL="0">
              <a:buNone/>
            </a:pPr>
            <a:r>
              <a:rPr lang="en-US" sz="1100" b="1" dirty="0">
                <a:solidFill>
                  <a:srgbClr val="0A2540"/>
                </a:solidFill>
              </a:rPr>
              <a:t>Pipeline en 10 Étapes</a:t>
            </a:r>
            <a:endParaRPr lang="en-US" sz="1100" dirty="0"/>
          </a:p>
        </p:txBody>
      </p:sp>
      <p:sp>
        <p:nvSpPr>
          <p:cNvPr id="28" name="Text 26"/>
          <p:cNvSpPr/>
          <p:nvPr/>
        </p:nvSpPr>
        <p:spPr>
          <a:xfrm>
            <a:off x="6720840" y="1810512"/>
            <a:ext cx="4846320" cy="201168"/>
          </a:xfrm>
          <a:prstGeom prst="rect">
            <a:avLst/>
          </a:prstGeom>
          <a:noFill/>
          <a:ln/>
        </p:spPr>
        <p:txBody>
          <a:bodyPr wrap="square" rtlCol="0" anchor="ctr"/>
          <a:lstStyle/>
          <a:p>
            <a:pPr indent="0" marL="0">
              <a:buNone/>
            </a:pPr>
            <a:r>
              <a:rPr lang="en-US" sz="900" i="1" dirty="0">
                <a:solidFill>
                  <a:srgbClr val="64748B"/>
                </a:solidFill>
              </a:rPr>
              <a:t>Workflow de sélection structuré</a:t>
            </a:r>
            <a:endParaRPr lang="en-US" sz="900" dirty="0"/>
          </a:p>
        </p:txBody>
      </p:sp>
      <p:sp>
        <p:nvSpPr>
          <p:cNvPr id="29" name="Shape 27"/>
          <p:cNvSpPr/>
          <p:nvPr/>
        </p:nvSpPr>
        <p:spPr>
          <a:xfrm>
            <a:off x="6126480" y="2468880"/>
            <a:ext cx="502920" cy="502920"/>
          </a:xfrm>
          <a:prstGeom prst="rect">
            <a:avLst/>
          </a:prstGeom>
          <a:solidFill>
            <a:srgbClr val="1B6CA8"/>
          </a:solidFill>
          <a:ln w="12700">
            <a:solidFill>
              <a:srgbClr val="1B6CA8"/>
            </a:solidFill>
            <a:prstDash val="solid"/>
          </a:ln>
        </p:spPr>
      </p:sp>
      <p:sp>
        <p:nvSpPr>
          <p:cNvPr id="30" name="Text 28"/>
          <p:cNvSpPr/>
          <p:nvPr/>
        </p:nvSpPr>
        <p:spPr>
          <a:xfrm>
            <a:off x="6126480" y="2468880"/>
            <a:ext cx="502920" cy="502920"/>
          </a:xfrm>
          <a:prstGeom prst="rect">
            <a:avLst/>
          </a:prstGeom>
          <a:noFill/>
          <a:ln/>
        </p:spPr>
        <p:txBody>
          <a:bodyPr wrap="square" rtlCol="0" anchor="ctr"/>
          <a:lstStyle/>
          <a:p>
            <a:pPr algn="ctr" indent="0" marL="0">
              <a:buNone/>
            </a:pPr>
            <a:r>
              <a:rPr lang="en-US" sz="1200" b="1" dirty="0">
                <a:solidFill>
                  <a:srgbClr val="FFFFFF"/>
                </a:solidFill>
              </a:rPr>
              <a:t>07</a:t>
            </a:r>
            <a:endParaRPr lang="en-US" sz="1200" dirty="0"/>
          </a:p>
        </p:txBody>
      </p:sp>
      <p:sp>
        <p:nvSpPr>
          <p:cNvPr id="31" name="Text 29"/>
          <p:cNvSpPr/>
          <p:nvPr/>
        </p:nvSpPr>
        <p:spPr>
          <a:xfrm>
            <a:off x="6720840" y="2487168"/>
            <a:ext cx="4846320" cy="256032"/>
          </a:xfrm>
          <a:prstGeom prst="rect">
            <a:avLst/>
          </a:prstGeom>
          <a:noFill/>
          <a:ln/>
        </p:spPr>
        <p:txBody>
          <a:bodyPr wrap="square" rtlCol="0" anchor="ctr"/>
          <a:lstStyle/>
          <a:p>
            <a:pPr indent="0" marL="0">
              <a:buNone/>
            </a:pPr>
            <a:r>
              <a:rPr lang="en-US" sz="1100" b="1" dirty="0">
                <a:solidFill>
                  <a:srgbClr val="0A2540"/>
                </a:solidFill>
              </a:rPr>
              <a:t>Tableaux de Bord &amp; Rapports</a:t>
            </a:r>
            <a:endParaRPr lang="en-US" sz="1100" dirty="0"/>
          </a:p>
        </p:txBody>
      </p:sp>
      <p:sp>
        <p:nvSpPr>
          <p:cNvPr id="32" name="Text 30"/>
          <p:cNvSpPr/>
          <p:nvPr/>
        </p:nvSpPr>
        <p:spPr>
          <a:xfrm>
            <a:off x="6720840" y="2724912"/>
            <a:ext cx="4846320" cy="201168"/>
          </a:xfrm>
          <a:prstGeom prst="rect">
            <a:avLst/>
          </a:prstGeom>
          <a:noFill/>
          <a:ln/>
        </p:spPr>
        <p:txBody>
          <a:bodyPr wrap="square" rtlCol="0" anchor="ctr"/>
          <a:lstStyle/>
          <a:p>
            <a:pPr indent="0" marL="0">
              <a:buNone/>
            </a:pPr>
            <a:r>
              <a:rPr lang="en-US" sz="900" i="1" dirty="0">
                <a:solidFill>
                  <a:srgbClr val="64748B"/>
                </a:solidFill>
              </a:rPr>
              <a:t>Pilotage et indicateurs RH</a:t>
            </a:r>
            <a:endParaRPr lang="en-US" sz="900" dirty="0"/>
          </a:p>
        </p:txBody>
      </p:sp>
      <p:sp>
        <p:nvSpPr>
          <p:cNvPr id="33" name="Shape 31"/>
          <p:cNvSpPr/>
          <p:nvPr/>
        </p:nvSpPr>
        <p:spPr>
          <a:xfrm>
            <a:off x="6126480" y="3383280"/>
            <a:ext cx="502920" cy="502920"/>
          </a:xfrm>
          <a:prstGeom prst="rect">
            <a:avLst/>
          </a:prstGeom>
          <a:solidFill>
            <a:srgbClr val="1B6CA8"/>
          </a:solidFill>
          <a:ln w="12700">
            <a:solidFill>
              <a:srgbClr val="1B6CA8"/>
            </a:solidFill>
            <a:prstDash val="solid"/>
          </a:ln>
        </p:spPr>
      </p:sp>
      <p:sp>
        <p:nvSpPr>
          <p:cNvPr id="34" name="Text 32"/>
          <p:cNvSpPr/>
          <p:nvPr/>
        </p:nvSpPr>
        <p:spPr>
          <a:xfrm>
            <a:off x="6126480" y="3383280"/>
            <a:ext cx="502920" cy="502920"/>
          </a:xfrm>
          <a:prstGeom prst="rect">
            <a:avLst/>
          </a:prstGeom>
          <a:noFill/>
          <a:ln/>
        </p:spPr>
        <p:txBody>
          <a:bodyPr wrap="square" rtlCol="0" anchor="ctr"/>
          <a:lstStyle/>
          <a:p>
            <a:pPr algn="ctr" indent="0" marL="0">
              <a:buNone/>
            </a:pPr>
            <a:r>
              <a:rPr lang="en-US" sz="1200" b="1" dirty="0">
                <a:solidFill>
                  <a:srgbClr val="FFFFFF"/>
                </a:solidFill>
              </a:rPr>
              <a:t>08</a:t>
            </a:r>
            <a:endParaRPr lang="en-US" sz="1200" dirty="0"/>
          </a:p>
        </p:txBody>
      </p:sp>
      <p:sp>
        <p:nvSpPr>
          <p:cNvPr id="35" name="Text 33"/>
          <p:cNvSpPr/>
          <p:nvPr/>
        </p:nvSpPr>
        <p:spPr>
          <a:xfrm>
            <a:off x="6720840" y="3401568"/>
            <a:ext cx="4846320" cy="256032"/>
          </a:xfrm>
          <a:prstGeom prst="rect">
            <a:avLst/>
          </a:prstGeom>
          <a:noFill/>
          <a:ln/>
        </p:spPr>
        <p:txBody>
          <a:bodyPr wrap="square" rtlCol="0" anchor="ctr"/>
          <a:lstStyle/>
          <a:p>
            <a:pPr indent="0" marL="0">
              <a:buNone/>
            </a:pPr>
            <a:r>
              <a:rPr lang="en-US" sz="1100" b="1" dirty="0">
                <a:solidFill>
                  <a:srgbClr val="0A2540"/>
                </a:solidFill>
              </a:rPr>
              <a:t>Sécurité &amp; Conformité</a:t>
            </a:r>
            <a:endParaRPr lang="en-US" sz="1100" dirty="0"/>
          </a:p>
        </p:txBody>
      </p:sp>
      <p:sp>
        <p:nvSpPr>
          <p:cNvPr id="36" name="Text 34"/>
          <p:cNvSpPr/>
          <p:nvPr/>
        </p:nvSpPr>
        <p:spPr>
          <a:xfrm>
            <a:off x="6720840" y="3639312"/>
            <a:ext cx="4846320" cy="201168"/>
          </a:xfrm>
          <a:prstGeom prst="rect">
            <a:avLst/>
          </a:prstGeom>
          <a:noFill/>
          <a:ln/>
        </p:spPr>
        <p:txBody>
          <a:bodyPr wrap="square" rtlCol="0" anchor="ctr"/>
          <a:lstStyle/>
          <a:p>
            <a:pPr indent="0" marL="0">
              <a:buNone/>
            </a:pPr>
            <a:r>
              <a:rPr lang="en-US" sz="900" i="1" dirty="0">
                <a:solidFill>
                  <a:srgbClr val="64748B"/>
                </a:solidFill>
              </a:rPr>
              <a:t>Traçabilité et contrôle d'accès</a:t>
            </a:r>
            <a:endParaRPr lang="en-US" sz="900" dirty="0"/>
          </a:p>
        </p:txBody>
      </p:sp>
      <p:sp>
        <p:nvSpPr>
          <p:cNvPr id="37" name="Shape 35"/>
          <p:cNvSpPr/>
          <p:nvPr/>
        </p:nvSpPr>
        <p:spPr>
          <a:xfrm>
            <a:off x="6126480" y="4297680"/>
            <a:ext cx="502920" cy="502920"/>
          </a:xfrm>
          <a:prstGeom prst="rect">
            <a:avLst/>
          </a:prstGeom>
          <a:solidFill>
            <a:srgbClr val="1B6CA8"/>
          </a:solidFill>
          <a:ln w="12700">
            <a:solidFill>
              <a:srgbClr val="1B6CA8"/>
            </a:solidFill>
            <a:prstDash val="solid"/>
          </a:ln>
        </p:spPr>
      </p:sp>
      <p:sp>
        <p:nvSpPr>
          <p:cNvPr id="38" name="Text 36"/>
          <p:cNvSpPr/>
          <p:nvPr/>
        </p:nvSpPr>
        <p:spPr>
          <a:xfrm>
            <a:off x="6126480" y="4297680"/>
            <a:ext cx="502920" cy="502920"/>
          </a:xfrm>
          <a:prstGeom prst="rect">
            <a:avLst/>
          </a:prstGeom>
          <a:noFill/>
          <a:ln/>
        </p:spPr>
        <p:txBody>
          <a:bodyPr wrap="square" rtlCol="0" anchor="ctr"/>
          <a:lstStyle/>
          <a:p>
            <a:pPr algn="ctr" indent="0" marL="0">
              <a:buNone/>
            </a:pPr>
            <a:r>
              <a:rPr lang="en-US" sz="1200" b="1" dirty="0">
                <a:solidFill>
                  <a:srgbClr val="FFFFFF"/>
                </a:solidFill>
              </a:rPr>
              <a:t>09</a:t>
            </a:r>
            <a:endParaRPr lang="en-US" sz="1200" dirty="0"/>
          </a:p>
        </p:txBody>
      </p:sp>
      <p:sp>
        <p:nvSpPr>
          <p:cNvPr id="39" name="Text 37"/>
          <p:cNvSpPr/>
          <p:nvPr/>
        </p:nvSpPr>
        <p:spPr>
          <a:xfrm>
            <a:off x="6720840" y="4315968"/>
            <a:ext cx="4846320" cy="256032"/>
          </a:xfrm>
          <a:prstGeom prst="rect">
            <a:avLst/>
          </a:prstGeom>
          <a:noFill/>
          <a:ln/>
        </p:spPr>
        <p:txBody>
          <a:bodyPr wrap="square" rtlCol="0" anchor="ctr"/>
          <a:lstStyle/>
          <a:p>
            <a:pPr indent="0" marL="0">
              <a:buNone/>
            </a:pPr>
            <a:r>
              <a:rPr lang="en-US" sz="1100" b="1" dirty="0">
                <a:solidFill>
                  <a:srgbClr val="0A2540"/>
                </a:solidFill>
              </a:rPr>
              <a:t>Bénéfices &amp; ROI</a:t>
            </a:r>
            <a:endParaRPr lang="en-US" sz="1100" dirty="0"/>
          </a:p>
        </p:txBody>
      </p:sp>
      <p:sp>
        <p:nvSpPr>
          <p:cNvPr id="40" name="Text 38"/>
          <p:cNvSpPr/>
          <p:nvPr/>
        </p:nvSpPr>
        <p:spPr>
          <a:xfrm>
            <a:off x="6720840" y="4553712"/>
            <a:ext cx="4846320" cy="201168"/>
          </a:xfrm>
          <a:prstGeom prst="rect">
            <a:avLst/>
          </a:prstGeom>
          <a:noFill/>
          <a:ln/>
        </p:spPr>
        <p:txBody>
          <a:bodyPr wrap="square" rtlCol="0" anchor="ctr"/>
          <a:lstStyle/>
          <a:p>
            <a:pPr indent="0" marL="0">
              <a:buNone/>
            </a:pPr>
            <a:r>
              <a:rPr lang="en-US" sz="900" i="1" dirty="0">
                <a:solidFill>
                  <a:srgbClr val="64748B"/>
                </a:solidFill>
              </a:rPr>
              <a:t>Gains opérationnels attendus</a:t>
            </a:r>
            <a:endParaRPr lang="en-US" sz="900" dirty="0"/>
          </a:p>
        </p:txBody>
      </p:sp>
      <p:sp>
        <p:nvSpPr>
          <p:cNvPr id="41" name="Shape 39"/>
          <p:cNvSpPr/>
          <p:nvPr/>
        </p:nvSpPr>
        <p:spPr>
          <a:xfrm>
            <a:off x="6126480" y="5212080"/>
            <a:ext cx="502920" cy="502920"/>
          </a:xfrm>
          <a:prstGeom prst="rect">
            <a:avLst/>
          </a:prstGeom>
          <a:solidFill>
            <a:srgbClr val="1B6CA8"/>
          </a:solidFill>
          <a:ln w="12700">
            <a:solidFill>
              <a:srgbClr val="1B6CA8"/>
            </a:solidFill>
            <a:prstDash val="solid"/>
          </a:ln>
        </p:spPr>
      </p:sp>
      <p:sp>
        <p:nvSpPr>
          <p:cNvPr id="42" name="Text 40"/>
          <p:cNvSpPr/>
          <p:nvPr/>
        </p:nvSpPr>
        <p:spPr>
          <a:xfrm>
            <a:off x="6126480" y="5212080"/>
            <a:ext cx="502920" cy="502920"/>
          </a:xfrm>
          <a:prstGeom prst="rect">
            <a:avLst/>
          </a:prstGeom>
          <a:noFill/>
          <a:ln/>
        </p:spPr>
        <p:txBody>
          <a:bodyPr wrap="square" rtlCol="0" anchor="ctr"/>
          <a:lstStyle/>
          <a:p>
            <a:pPr algn="ctr" indent="0" marL="0">
              <a:buNone/>
            </a:pPr>
            <a:r>
              <a:rPr lang="en-US" sz="1200" b="1" dirty="0">
                <a:solidFill>
                  <a:srgbClr val="FFFFFF"/>
                </a:solidFill>
              </a:rPr>
              <a:t>10</a:t>
            </a:r>
            <a:endParaRPr lang="en-US" sz="1200" dirty="0"/>
          </a:p>
        </p:txBody>
      </p:sp>
      <p:sp>
        <p:nvSpPr>
          <p:cNvPr id="43" name="Text 41"/>
          <p:cNvSpPr/>
          <p:nvPr/>
        </p:nvSpPr>
        <p:spPr>
          <a:xfrm>
            <a:off x="6720840" y="5230368"/>
            <a:ext cx="4846320" cy="256032"/>
          </a:xfrm>
          <a:prstGeom prst="rect">
            <a:avLst/>
          </a:prstGeom>
          <a:noFill/>
          <a:ln/>
        </p:spPr>
        <p:txBody>
          <a:bodyPr wrap="square" rtlCol="0" anchor="ctr"/>
          <a:lstStyle/>
          <a:p>
            <a:pPr indent="0" marL="0">
              <a:buNone/>
            </a:pPr>
            <a:r>
              <a:rPr lang="en-US" sz="1100" b="1" dirty="0">
                <a:solidFill>
                  <a:srgbClr val="0A2540"/>
                </a:solidFill>
              </a:rPr>
              <a:t>Feuille de Route</a:t>
            </a:r>
            <a:endParaRPr lang="en-US" sz="1100" dirty="0"/>
          </a:p>
        </p:txBody>
      </p:sp>
      <p:sp>
        <p:nvSpPr>
          <p:cNvPr id="44" name="Text 42"/>
          <p:cNvSpPr/>
          <p:nvPr/>
        </p:nvSpPr>
        <p:spPr>
          <a:xfrm>
            <a:off x="6720840" y="5468112"/>
            <a:ext cx="4846320" cy="201168"/>
          </a:xfrm>
          <a:prstGeom prst="rect">
            <a:avLst/>
          </a:prstGeom>
          <a:noFill/>
          <a:ln/>
        </p:spPr>
        <p:txBody>
          <a:bodyPr wrap="square" rtlCol="0" anchor="ctr"/>
          <a:lstStyle/>
          <a:p>
            <a:pPr indent="0" marL="0">
              <a:buNone/>
            </a:pPr>
            <a:r>
              <a:rPr lang="en-US" sz="900" i="1" dirty="0">
                <a:solidFill>
                  <a:srgbClr val="64748B"/>
                </a:solidFill>
              </a:rPr>
              <a:t>Prochaines étapes</a:t>
            </a:r>
            <a:endParaRPr lang="en-US" sz="900" dirty="0"/>
          </a:p>
        </p:txBody>
      </p:sp>
      <p:sp>
        <p:nvSpPr>
          <p:cNvPr id="45" name="Text 43"/>
          <p:cNvSpPr/>
          <p:nvPr/>
        </p:nvSpPr>
        <p:spPr>
          <a:xfrm>
            <a:off x="365760" y="6583680"/>
            <a:ext cx="11430000" cy="274320"/>
          </a:xfrm>
          <a:prstGeom prst="rect">
            <a:avLst/>
          </a:prstGeom>
          <a:noFill/>
          <a:ln/>
        </p:spPr>
        <p:txBody>
          <a:bodyPr wrap="square" rtlCol="0" anchor="ctr"/>
          <a:lstStyle/>
          <a:p>
            <a:pPr algn="ctr" indent="0" marL="0">
              <a:buNone/>
            </a:pPr>
            <a:r>
              <a:rPr lang="en-US" sz="800" dirty="0">
                <a:solidFill>
                  <a:srgbClr val="64748B"/>
                </a:solidFill>
              </a:rPr>
              <a:t>SNH – Présentation Directoire  |  Confidentiel  |  2 / 12</a:t>
            </a:r>
            <a:endParaRPr lang="en-US" sz="800" dirty="0"/>
          </a:p>
        </p:txBody>
      </p:sp>
      <p:sp>
        <p:nvSpPr>
          <p:cNvPr id="46" name="Shape 44"/>
          <p:cNvSpPr/>
          <p:nvPr/>
        </p:nvSpPr>
        <p:spPr>
          <a:xfrm>
            <a:off x="0" y="6492240"/>
            <a:ext cx="12188952" cy="27432"/>
          </a:xfrm>
          <a:prstGeom prst="rect">
            <a:avLst/>
          </a:prstGeom>
          <a:solidFill>
            <a:srgbClr val="1B6CA8"/>
          </a:solidFill>
          <a:ln w="12700">
            <a:solidFill>
              <a:srgbClr val="1B6CA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1247120" cy="73152"/>
          </a:xfrm>
          <a:prstGeom prst="rect">
            <a:avLst/>
          </a:prstGeom>
          <a:solidFill>
            <a:srgbClr val="1B6CA8"/>
          </a:solidFill>
          <a:ln w="12700">
            <a:solidFill>
              <a:srgbClr val="1B6CA8"/>
            </a:solidFill>
            <a:prstDash val="solid"/>
          </a:ln>
        </p:spPr>
      </p:sp>
      <p:sp>
        <p:nvSpPr>
          <p:cNvPr id="3" name="Text 1"/>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01 – CONTEXTE &amp; ENJEUX</a:t>
            </a:r>
            <a:endParaRPr lang="en-US" sz="1000" dirty="0"/>
          </a:p>
        </p:txBody>
      </p:sp>
      <p:sp>
        <p:nvSpPr>
          <p:cNvPr id="4" name="Text 2"/>
          <p:cNvSpPr/>
          <p:nvPr/>
        </p:nvSpPr>
        <p:spPr>
          <a:xfrm>
            <a:off x="457200" y="685800"/>
            <a:ext cx="10972800" cy="502920"/>
          </a:xfrm>
          <a:prstGeom prst="rect">
            <a:avLst/>
          </a:prstGeom>
          <a:noFill/>
          <a:ln/>
        </p:spPr>
        <p:txBody>
          <a:bodyPr wrap="square" rtlCol="0" anchor="ctr"/>
          <a:lstStyle/>
          <a:p>
            <a:pPr indent="0" marL="0">
              <a:buNone/>
            </a:pPr>
            <a:r>
              <a:rPr lang="en-US" sz="2200" b="1" dirty="0">
                <a:solidFill>
                  <a:srgbClr val="0A2540"/>
                </a:solidFill>
              </a:rPr>
              <a:t>Pourquoi Digitaliser le Recrutement à la SNH ?</a:t>
            </a:r>
            <a:endParaRPr lang="en-US" sz="2200" dirty="0"/>
          </a:p>
        </p:txBody>
      </p:sp>
      <p:sp>
        <p:nvSpPr>
          <p:cNvPr id="5" name="Text 3"/>
          <p:cNvSpPr/>
          <p:nvPr/>
        </p:nvSpPr>
        <p:spPr>
          <a:xfrm>
            <a:off x="457200" y="1371600"/>
            <a:ext cx="5303520" cy="320040"/>
          </a:xfrm>
          <a:prstGeom prst="rect">
            <a:avLst/>
          </a:prstGeom>
          <a:noFill/>
          <a:ln/>
        </p:spPr>
        <p:txBody>
          <a:bodyPr wrap="square" rtlCol="0" anchor="ctr"/>
          <a:lstStyle/>
          <a:p>
            <a:pPr indent="0" marL="0">
              <a:buNone/>
            </a:pPr>
            <a:r>
              <a:rPr lang="en-US" sz="1000" b="1" spc="150" kern="0" dirty="0">
                <a:solidFill>
                  <a:srgbClr val="DC2626"/>
                </a:solidFill>
              </a:rPr>
              <a:t>DÉFIS AVANT DIGITALISATION</a:t>
            </a:r>
            <a:endParaRPr lang="en-US" sz="1000" dirty="0"/>
          </a:p>
        </p:txBody>
      </p:sp>
      <p:sp>
        <p:nvSpPr>
          <p:cNvPr id="6" name="Shape 4"/>
          <p:cNvSpPr/>
          <p:nvPr/>
        </p:nvSpPr>
        <p:spPr>
          <a:xfrm>
            <a:off x="457200" y="1783080"/>
            <a:ext cx="256032" cy="256032"/>
          </a:xfrm>
          <a:prstGeom prst="rect">
            <a:avLst/>
          </a:prstGeom>
          <a:solidFill>
            <a:srgbClr val="FEE2E2"/>
          </a:solidFill>
          <a:ln w="12700">
            <a:solidFill>
              <a:srgbClr val="DC2626"/>
            </a:solidFill>
            <a:prstDash val="solid"/>
          </a:ln>
        </p:spPr>
      </p:sp>
      <p:sp>
        <p:nvSpPr>
          <p:cNvPr id="7" name="Text 5"/>
          <p:cNvSpPr/>
          <p:nvPr/>
        </p:nvSpPr>
        <p:spPr>
          <a:xfrm>
            <a:off x="457200" y="1783080"/>
            <a:ext cx="256032" cy="256032"/>
          </a:xfrm>
          <a:prstGeom prst="rect">
            <a:avLst/>
          </a:prstGeom>
          <a:noFill/>
          <a:ln/>
        </p:spPr>
        <p:txBody>
          <a:bodyPr wrap="square" rtlCol="0" anchor="ctr"/>
          <a:lstStyle/>
          <a:p>
            <a:pPr algn="ctr" indent="0" marL="0">
              <a:buNone/>
            </a:pPr>
            <a:r>
              <a:rPr lang="en-US" sz="900" b="1" dirty="0">
                <a:solidFill>
                  <a:srgbClr val="DC2626"/>
                </a:solidFill>
              </a:rPr>
              <a:t>✕</a:t>
            </a:r>
            <a:endParaRPr lang="en-US" sz="900" dirty="0"/>
          </a:p>
        </p:txBody>
      </p:sp>
      <p:sp>
        <p:nvSpPr>
          <p:cNvPr id="8" name="Text 6"/>
          <p:cNvSpPr/>
          <p:nvPr/>
        </p:nvSpPr>
        <p:spPr>
          <a:xfrm>
            <a:off x="804672" y="1801368"/>
            <a:ext cx="5029200" cy="256032"/>
          </a:xfrm>
          <a:prstGeom prst="rect">
            <a:avLst/>
          </a:prstGeom>
          <a:noFill/>
          <a:ln/>
        </p:spPr>
        <p:txBody>
          <a:bodyPr wrap="square" rtlCol="0" anchor="ctr"/>
          <a:lstStyle/>
          <a:p>
            <a:pPr indent="0" marL="0">
              <a:buNone/>
            </a:pPr>
            <a:r>
              <a:rPr lang="en-US" sz="1000" dirty="0">
                <a:solidFill>
                  <a:srgbClr val="0A2540"/>
                </a:solidFill>
              </a:rPr>
              <a:t>Processus papier chronophage et non traçable</a:t>
            </a:r>
            <a:endParaRPr lang="en-US" sz="1000" dirty="0"/>
          </a:p>
        </p:txBody>
      </p:sp>
      <p:sp>
        <p:nvSpPr>
          <p:cNvPr id="9" name="Shape 7"/>
          <p:cNvSpPr/>
          <p:nvPr/>
        </p:nvSpPr>
        <p:spPr>
          <a:xfrm>
            <a:off x="457200" y="2350008"/>
            <a:ext cx="256032" cy="256032"/>
          </a:xfrm>
          <a:prstGeom prst="rect">
            <a:avLst/>
          </a:prstGeom>
          <a:solidFill>
            <a:srgbClr val="FEE2E2"/>
          </a:solidFill>
          <a:ln w="12700">
            <a:solidFill>
              <a:srgbClr val="DC2626"/>
            </a:solidFill>
            <a:prstDash val="solid"/>
          </a:ln>
        </p:spPr>
      </p:sp>
      <p:sp>
        <p:nvSpPr>
          <p:cNvPr id="10" name="Text 8"/>
          <p:cNvSpPr/>
          <p:nvPr/>
        </p:nvSpPr>
        <p:spPr>
          <a:xfrm>
            <a:off x="457200" y="2350008"/>
            <a:ext cx="256032" cy="256032"/>
          </a:xfrm>
          <a:prstGeom prst="rect">
            <a:avLst/>
          </a:prstGeom>
          <a:noFill/>
          <a:ln/>
        </p:spPr>
        <p:txBody>
          <a:bodyPr wrap="square" rtlCol="0" anchor="ctr"/>
          <a:lstStyle/>
          <a:p>
            <a:pPr algn="ctr" indent="0" marL="0">
              <a:buNone/>
            </a:pPr>
            <a:r>
              <a:rPr lang="en-US" sz="900" b="1" dirty="0">
                <a:solidFill>
                  <a:srgbClr val="DC2626"/>
                </a:solidFill>
              </a:rPr>
              <a:t>✕</a:t>
            </a:r>
            <a:endParaRPr lang="en-US" sz="900" dirty="0"/>
          </a:p>
        </p:txBody>
      </p:sp>
      <p:sp>
        <p:nvSpPr>
          <p:cNvPr id="11" name="Text 9"/>
          <p:cNvSpPr/>
          <p:nvPr/>
        </p:nvSpPr>
        <p:spPr>
          <a:xfrm>
            <a:off x="804672" y="2368296"/>
            <a:ext cx="5029200" cy="256032"/>
          </a:xfrm>
          <a:prstGeom prst="rect">
            <a:avLst/>
          </a:prstGeom>
          <a:noFill/>
          <a:ln/>
        </p:spPr>
        <p:txBody>
          <a:bodyPr wrap="square" rtlCol="0" anchor="ctr"/>
          <a:lstStyle/>
          <a:p>
            <a:pPr indent="0" marL="0">
              <a:buNone/>
            </a:pPr>
            <a:r>
              <a:rPr lang="en-US" sz="1000" dirty="0">
                <a:solidFill>
                  <a:srgbClr val="0A2540"/>
                </a:solidFill>
              </a:rPr>
              <a:t>Dossiers candidats dispersés dans plusieurs services</a:t>
            </a:r>
            <a:endParaRPr lang="en-US" sz="1000" dirty="0"/>
          </a:p>
        </p:txBody>
      </p:sp>
      <p:sp>
        <p:nvSpPr>
          <p:cNvPr id="12" name="Shape 10"/>
          <p:cNvSpPr/>
          <p:nvPr/>
        </p:nvSpPr>
        <p:spPr>
          <a:xfrm>
            <a:off x="457200" y="2916936"/>
            <a:ext cx="256032" cy="256032"/>
          </a:xfrm>
          <a:prstGeom prst="rect">
            <a:avLst/>
          </a:prstGeom>
          <a:solidFill>
            <a:srgbClr val="FEE2E2"/>
          </a:solidFill>
          <a:ln w="12700">
            <a:solidFill>
              <a:srgbClr val="DC2626"/>
            </a:solidFill>
            <a:prstDash val="solid"/>
          </a:ln>
        </p:spPr>
      </p:sp>
      <p:sp>
        <p:nvSpPr>
          <p:cNvPr id="13" name="Text 11"/>
          <p:cNvSpPr/>
          <p:nvPr/>
        </p:nvSpPr>
        <p:spPr>
          <a:xfrm>
            <a:off x="457200" y="2916936"/>
            <a:ext cx="256032" cy="256032"/>
          </a:xfrm>
          <a:prstGeom prst="rect">
            <a:avLst/>
          </a:prstGeom>
          <a:noFill/>
          <a:ln/>
        </p:spPr>
        <p:txBody>
          <a:bodyPr wrap="square" rtlCol="0" anchor="ctr"/>
          <a:lstStyle/>
          <a:p>
            <a:pPr algn="ctr" indent="0" marL="0">
              <a:buNone/>
            </a:pPr>
            <a:r>
              <a:rPr lang="en-US" sz="900" b="1" dirty="0">
                <a:solidFill>
                  <a:srgbClr val="DC2626"/>
                </a:solidFill>
              </a:rPr>
              <a:t>✕</a:t>
            </a:r>
            <a:endParaRPr lang="en-US" sz="900" dirty="0"/>
          </a:p>
        </p:txBody>
      </p:sp>
      <p:sp>
        <p:nvSpPr>
          <p:cNvPr id="14" name="Text 12"/>
          <p:cNvSpPr/>
          <p:nvPr/>
        </p:nvSpPr>
        <p:spPr>
          <a:xfrm>
            <a:off x="804672" y="2935224"/>
            <a:ext cx="5029200" cy="256032"/>
          </a:xfrm>
          <a:prstGeom prst="rect">
            <a:avLst/>
          </a:prstGeom>
          <a:noFill/>
          <a:ln/>
        </p:spPr>
        <p:txBody>
          <a:bodyPr wrap="square" rtlCol="0" anchor="ctr"/>
          <a:lstStyle/>
          <a:p>
            <a:pPr indent="0" marL="0">
              <a:buNone/>
            </a:pPr>
            <a:r>
              <a:rPr lang="en-US" sz="1000" dirty="0">
                <a:solidFill>
                  <a:srgbClr val="0A2540"/>
                </a:solidFill>
              </a:rPr>
              <a:t>Absence de scoring et de critères objectifs</a:t>
            </a:r>
            <a:endParaRPr lang="en-US" sz="1000" dirty="0"/>
          </a:p>
        </p:txBody>
      </p:sp>
      <p:sp>
        <p:nvSpPr>
          <p:cNvPr id="15" name="Shape 13"/>
          <p:cNvSpPr/>
          <p:nvPr/>
        </p:nvSpPr>
        <p:spPr>
          <a:xfrm>
            <a:off x="457200" y="3483864"/>
            <a:ext cx="256032" cy="256032"/>
          </a:xfrm>
          <a:prstGeom prst="rect">
            <a:avLst/>
          </a:prstGeom>
          <a:solidFill>
            <a:srgbClr val="FEE2E2"/>
          </a:solidFill>
          <a:ln w="12700">
            <a:solidFill>
              <a:srgbClr val="DC2626"/>
            </a:solidFill>
            <a:prstDash val="solid"/>
          </a:ln>
        </p:spPr>
      </p:sp>
      <p:sp>
        <p:nvSpPr>
          <p:cNvPr id="16" name="Text 14"/>
          <p:cNvSpPr/>
          <p:nvPr/>
        </p:nvSpPr>
        <p:spPr>
          <a:xfrm>
            <a:off x="457200" y="3483864"/>
            <a:ext cx="256032" cy="256032"/>
          </a:xfrm>
          <a:prstGeom prst="rect">
            <a:avLst/>
          </a:prstGeom>
          <a:noFill/>
          <a:ln/>
        </p:spPr>
        <p:txBody>
          <a:bodyPr wrap="square" rtlCol="0" anchor="ctr"/>
          <a:lstStyle/>
          <a:p>
            <a:pPr algn="ctr" indent="0" marL="0">
              <a:buNone/>
            </a:pPr>
            <a:r>
              <a:rPr lang="en-US" sz="900" b="1" dirty="0">
                <a:solidFill>
                  <a:srgbClr val="DC2626"/>
                </a:solidFill>
              </a:rPr>
              <a:t>✕</a:t>
            </a:r>
            <a:endParaRPr lang="en-US" sz="900" dirty="0"/>
          </a:p>
        </p:txBody>
      </p:sp>
      <p:sp>
        <p:nvSpPr>
          <p:cNvPr id="17" name="Text 15"/>
          <p:cNvSpPr/>
          <p:nvPr/>
        </p:nvSpPr>
        <p:spPr>
          <a:xfrm>
            <a:off x="804672" y="3502152"/>
            <a:ext cx="5029200" cy="256032"/>
          </a:xfrm>
          <a:prstGeom prst="rect">
            <a:avLst/>
          </a:prstGeom>
          <a:noFill/>
          <a:ln/>
        </p:spPr>
        <p:txBody>
          <a:bodyPr wrap="square" rtlCol="0" anchor="ctr"/>
          <a:lstStyle/>
          <a:p>
            <a:pPr indent="0" marL="0">
              <a:buNone/>
            </a:pPr>
            <a:r>
              <a:rPr lang="en-US" sz="1000" dirty="0">
                <a:solidFill>
                  <a:srgbClr val="0A2540"/>
                </a:solidFill>
              </a:rPr>
              <a:t>Aucune visibilité sur le pipeline de sélection</a:t>
            </a:r>
            <a:endParaRPr lang="en-US" sz="1000" dirty="0"/>
          </a:p>
        </p:txBody>
      </p:sp>
      <p:sp>
        <p:nvSpPr>
          <p:cNvPr id="18" name="Shape 16"/>
          <p:cNvSpPr/>
          <p:nvPr/>
        </p:nvSpPr>
        <p:spPr>
          <a:xfrm>
            <a:off x="457200" y="4050792"/>
            <a:ext cx="256032" cy="256032"/>
          </a:xfrm>
          <a:prstGeom prst="rect">
            <a:avLst/>
          </a:prstGeom>
          <a:solidFill>
            <a:srgbClr val="FEE2E2"/>
          </a:solidFill>
          <a:ln w="12700">
            <a:solidFill>
              <a:srgbClr val="DC2626"/>
            </a:solidFill>
            <a:prstDash val="solid"/>
          </a:ln>
        </p:spPr>
      </p:sp>
      <p:sp>
        <p:nvSpPr>
          <p:cNvPr id="19" name="Text 17"/>
          <p:cNvSpPr/>
          <p:nvPr/>
        </p:nvSpPr>
        <p:spPr>
          <a:xfrm>
            <a:off x="457200" y="4050792"/>
            <a:ext cx="256032" cy="256032"/>
          </a:xfrm>
          <a:prstGeom prst="rect">
            <a:avLst/>
          </a:prstGeom>
          <a:noFill/>
          <a:ln/>
        </p:spPr>
        <p:txBody>
          <a:bodyPr wrap="square" rtlCol="0" anchor="ctr"/>
          <a:lstStyle/>
          <a:p>
            <a:pPr algn="ctr" indent="0" marL="0">
              <a:buNone/>
            </a:pPr>
            <a:r>
              <a:rPr lang="en-US" sz="900" b="1" dirty="0">
                <a:solidFill>
                  <a:srgbClr val="DC2626"/>
                </a:solidFill>
              </a:rPr>
              <a:t>✕</a:t>
            </a:r>
            <a:endParaRPr lang="en-US" sz="900" dirty="0"/>
          </a:p>
        </p:txBody>
      </p:sp>
      <p:sp>
        <p:nvSpPr>
          <p:cNvPr id="20" name="Text 18"/>
          <p:cNvSpPr/>
          <p:nvPr/>
        </p:nvSpPr>
        <p:spPr>
          <a:xfrm>
            <a:off x="804672" y="4069080"/>
            <a:ext cx="5029200" cy="256032"/>
          </a:xfrm>
          <a:prstGeom prst="rect">
            <a:avLst/>
          </a:prstGeom>
          <a:noFill/>
          <a:ln/>
        </p:spPr>
        <p:txBody>
          <a:bodyPr wrap="square" rtlCol="0" anchor="ctr"/>
          <a:lstStyle/>
          <a:p>
            <a:pPr indent="0" marL="0">
              <a:buNone/>
            </a:pPr>
            <a:r>
              <a:rPr lang="en-US" sz="1000" dirty="0">
                <a:solidFill>
                  <a:srgbClr val="0A2540"/>
                </a:solidFill>
              </a:rPr>
              <a:t>Coordination difficile entre jury, DRH et directions</a:t>
            </a:r>
            <a:endParaRPr lang="en-US" sz="1000" dirty="0"/>
          </a:p>
        </p:txBody>
      </p:sp>
      <p:sp>
        <p:nvSpPr>
          <p:cNvPr id="21" name="Shape 19"/>
          <p:cNvSpPr/>
          <p:nvPr/>
        </p:nvSpPr>
        <p:spPr>
          <a:xfrm>
            <a:off x="457200" y="4617720"/>
            <a:ext cx="256032" cy="256032"/>
          </a:xfrm>
          <a:prstGeom prst="rect">
            <a:avLst/>
          </a:prstGeom>
          <a:solidFill>
            <a:srgbClr val="FEE2E2"/>
          </a:solidFill>
          <a:ln w="12700">
            <a:solidFill>
              <a:srgbClr val="DC2626"/>
            </a:solidFill>
            <a:prstDash val="solid"/>
          </a:ln>
        </p:spPr>
      </p:sp>
      <p:sp>
        <p:nvSpPr>
          <p:cNvPr id="22" name="Text 20"/>
          <p:cNvSpPr/>
          <p:nvPr/>
        </p:nvSpPr>
        <p:spPr>
          <a:xfrm>
            <a:off x="457200" y="4617720"/>
            <a:ext cx="256032" cy="256032"/>
          </a:xfrm>
          <a:prstGeom prst="rect">
            <a:avLst/>
          </a:prstGeom>
          <a:noFill/>
          <a:ln/>
        </p:spPr>
        <p:txBody>
          <a:bodyPr wrap="square" rtlCol="0" anchor="ctr"/>
          <a:lstStyle/>
          <a:p>
            <a:pPr algn="ctr" indent="0" marL="0">
              <a:buNone/>
            </a:pPr>
            <a:r>
              <a:rPr lang="en-US" sz="900" b="1" dirty="0">
                <a:solidFill>
                  <a:srgbClr val="DC2626"/>
                </a:solidFill>
              </a:rPr>
              <a:t>✕</a:t>
            </a:r>
            <a:endParaRPr lang="en-US" sz="900" dirty="0"/>
          </a:p>
        </p:txBody>
      </p:sp>
      <p:sp>
        <p:nvSpPr>
          <p:cNvPr id="23" name="Text 21"/>
          <p:cNvSpPr/>
          <p:nvPr/>
        </p:nvSpPr>
        <p:spPr>
          <a:xfrm>
            <a:off x="804672" y="4636008"/>
            <a:ext cx="5029200" cy="256032"/>
          </a:xfrm>
          <a:prstGeom prst="rect">
            <a:avLst/>
          </a:prstGeom>
          <a:noFill/>
          <a:ln/>
        </p:spPr>
        <p:txBody>
          <a:bodyPr wrap="square" rtlCol="0" anchor="ctr"/>
          <a:lstStyle/>
          <a:p>
            <a:pPr indent="0" marL="0">
              <a:buNone/>
            </a:pPr>
            <a:r>
              <a:rPr lang="en-US" sz="1000" dirty="0">
                <a:solidFill>
                  <a:srgbClr val="0A2540"/>
                </a:solidFill>
              </a:rPr>
              <a:t>Risque de perte ou falsification de documents</a:t>
            </a:r>
            <a:endParaRPr lang="en-US" sz="1000" dirty="0"/>
          </a:p>
        </p:txBody>
      </p:sp>
      <p:sp>
        <p:nvSpPr>
          <p:cNvPr id="24" name="Text 22"/>
          <p:cNvSpPr/>
          <p:nvPr/>
        </p:nvSpPr>
        <p:spPr>
          <a:xfrm>
            <a:off x="6400800" y="1371600"/>
            <a:ext cx="5303520" cy="320040"/>
          </a:xfrm>
          <a:prstGeom prst="rect">
            <a:avLst/>
          </a:prstGeom>
          <a:noFill/>
          <a:ln/>
        </p:spPr>
        <p:txBody>
          <a:bodyPr wrap="square" rtlCol="0" anchor="ctr"/>
          <a:lstStyle/>
          <a:p>
            <a:pPr indent="0" marL="0">
              <a:buNone/>
            </a:pPr>
            <a:r>
              <a:rPr lang="en-US" sz="1000" b="1" spc="150" kern="0" dirty="0">
                <a:solidFill>
                  <a:srgbClr val="16A34A"/>
                </a:solidFill>
              </a:rPr>
              <a:t>APPORTS DE LA SOLUTION</a:t>
            </a:r>
            <a:endParaRPr lang="en-US" sz="1000" dirty="0"/>
          </a:p>
        </p:txBody>
      </p:sp>
      <p:sp>
        <p:nvSpPr>
          <p:cNvPr id="25" name="Shape 23"/>
          <p:cNvSpPr/>
          <p:nvPr/>
        </p:nvSpPr>
        <p:spPr>
          <a:xfrm>
            <a:off x="6400800" y="1783080"/>
            <a:ext cx="256032" cy="256032"/>
          </a:xfrm>
          <a:prstGeom prst="rect">
            <a:avLst/>
          </a:prstGeom>
          <a:solidFill>
            <a:srgbClr val="DCFCE7"/>
          </a:solidFill>
          <a:ln w="12700">
            <a:solidFill>
              <a:srgbClr val="16A34A"/>
            </a:solidFill>
            <a:prstDash val="solid"/>
          </a:ln>
        </p:spPr>
      </p:sp>
      <p:sp>
        <p:nvSpPr>
          <p:cNvPr id="26" name="Text 24"/>
          <p:cNvSpPr/>
          <p:nvPr/>
        </p:nvSpPr>
        <p:spPr>
          <a:xfrm>
            <a:off x="6400800" y="1783080"/>
            <a:ext cx="256032" cy="256032"/>
          </a:xfrm>
          <a:prstGeom prst="rect">
            <a:avLst/>
          </a:prstGeom>
          <a:noFill/>
          <a:ln/>
        </p:spPr>
        <p:txBody>
          <a:bodyPr wrap="square" rtlCol="0" anchor="ctr"/>
          <a:lstStyle/>
          <a:p>
            <a:pPr algn="ctr" indent="0" marL="0">
              <a:buNone/>
            </a:pPr>
            <a:r>
              <a:rPr lang="en-US" sz="900" b="1" dirty="0">
                <a:solidFill>
                  <a:srgbClr val="16A34A"/>
                </a:solidFill>
              </a:rPr>
              <a:t>✓</a:t>
            </a:r>
            <a:endParaRPr lang="en-US" sz="900" dirty="0"/>
          </a:p>
        </p:txBody>
      </p:sp>
      <p:sp>
        <p:nvSpPr>
          <p:cNvPr id="27" name="Text 25"/>
          <p:cNvSpPr/>
          <p:nvPr/>
        </p:nvSpPr>
        <p:spPr>
          <a:xfrm>
            <a:off x="6748272" y="1801368"/>
            <a:ext cx="5029200" cy="256032"/>
          </a:xfrm>
          <a:prstGeom prst="rect">
            <a:avLst/>
          </a:prstGeom>
          <a:noFill/>
          <a:ln/>
        </p:spPr>
        <p:txBody>
          <a:bodyPr wrap="square" rtlCol="0" anchor="ctr"/>
          <a:lstStyle/>
          <a:p>
            <a:pPr indent="0" marL="0">
              <a:buNone/>
            </a:pPr>
            <a:r>
              <a:rPr lang="en-US" sz="1000" dirty="0">
                <a:solidFill>
                  <a:srgbClr val="0A2540"/>
                </a:solidFill>
              </a:rPr>
              <a:t>Portail en ligne accessible 24h/24 aux candidats</a:t>
            </a:r>
            <a:endParaRPr lang="en-US" sz="1000" dirty="0"/>
          </a:p>
        </p:txBody>
      </p:sp>
      <p:sp>
        <p:nvSpPr>
          <p:cNvPr id="28" name="Shape 26"/>
          <p:cNvSpPr/>
          <p:nvPr/>
        </p:nvSpPr>
        <p:spPr>
          <a:xfrm>
            <a:off x="6400800" y="2350008"/>
            <a:ext cx="256032" cy="256032"/>
          </a:xfrm>
          <a:prstGeom prst="rect">
            <a:avLst/>
          </a:prstGeom>
          <a:solidFill>
            <a:srgbClr val="DCFCE7"/>
          </a:solidFill>
          <a:ln w="12700">
            <a:solidFill>
              <a:srgbClr val="16A34A"/>
            </a:solidFill>
            <a:prstDash val="solid"/>
          </a:ln>
        </p:spPr>
      </p:sp>
      <p:sp>
        <p:nvSpPr>
          <p:cNvPr id="29" name="Text 27"/>
          <p:cNvSpPr/>
          <p:nvPr/>
        </p:nvSpPr>
        <p:spPr>
          <a:xfrm>
            <a:off x="6400800" y="2350008"/>
            <a:ext cx="256032" cy="256032"/>
          </a:xfrm>
          <a:prstGeom prst="rect">
            <a:avLst/>
          </a:prstGeom>
          <a:noFill/>
          <a:ln/>
        </p:spPr>
        <p:txBody>
          <a:bodyPr wrap="square" rtlCol="0" anchor="ctr"/>
          <a:lstStyle/>
          <a:p>
            <a:pPr algn="ctr" indent="0" marL="0">
              <a:buNone/>
            </a:pPr>
            <a:r>
              <a:rPr lang="en-US" sz="900" b="1" dirty="0">
                <a:solidFill>
                  <a:srgbClr val="16A34A"/>
                </a:solidFill>
              </a:rPr>
              <a:t>✓</a:t>
            </a:r>
            <a:endParaRPr lang="en-US" sz="900" dirty="0"/>
          </a:p>
        </p:txBody>
      </p:sp>
      <p:sp>
        <p:nvSpPr>
          <p:cNvPr id="30" name="Text 28"/>
          <p:cNvSpPr/>
          <p:nvPr/>
        </p:nvSpPr>
        <p:spPr>
          <a:xfrm>
            <a:off x="6748272" y="2368296"/>
            <a:ext cx="5029200" cy="256032"/>
          </a:xfrm>
          <a:prstGeom prst="rect">
            <a:avLst/>
          </a:prstGeom>
          <a:noFill/>
          <a:ln/>
        </p:spPr>
        <p:txBody>
          <a:bodyPr wrap="square" rtlCol="0" anchor="ctr"/>
          <a:lstStyle/>
          <a:p>
            <a:pPr indent="0" marL="0">
              <a:buNone/>
            </a:pPr>
            <a:r>
              <a:rPr lang="en-US" sz="1000" dirty="0">
                <a:solidFill>
                  <a:srgbClr val="0A2540"/>
                </a:solidFill>
              </a:rPr>
              <a:t>Dossier unique centralisé dans la CVthèque</a:t>
            </a:r>
            <a:endParaRPr lang="en-US" sz="1000" dirty="0"/>
          </a:p>
        </p:txBody>
      </p:sp>
      <p:sp>
        <p:nvSpPr>
          <p:cNvPr id="31" name="Shape 29"/>
          <p:cNvSpPr/>
          <p:nvPr/>
        </p:nvSpPr>
        <p:spPr>
          <a:xfrm>
            <a:off x="6400800" y="2916936"/>
            <a:ext cx="256032" cy="256032"/>
          </a:xfrm>
          <a:prstGeom prst="rect">
            <a:avLst/>
          </a:prstGeom>
          <a:solidFill>
            <a:srgbClr val="DCFCE7"/>
          </a:solidFill>
          <a:ln w="12700">
            <a:solidFill>
              <a:srgbClr val="16A34A"/>
            </a:solidFill>
            <a:prstDash val="solid"/>
          </a:ln>
        </p:spPr>
      </p:sp>
      <p:sp>
        <p:nvSpPr>
          <p:cNvPr id="32" name="Text 30"/>
          <p:cNvSpPr/>
          <p:nvPr/>
        </p:nvSpPr>
        <p:spPr>
          <a:xfrm>
            <a:off x="6400800" y="2916936"/>
            <a:ext cx="256032" cy="256032"/>
          </a:xfrm>
          <a:prstGeom prst="rect">
            <a:avLst/>
          </a:prstGeom>
          <a:noFill/>
          <a:ln/>
        </p:spPr>
        <p:txBody>
          <a:bodyPr wrap="square" rtlCol="0" anchor="ctr"/>
          <a:lstStyle/>
          <a:p>
            <a:pPr algn="ctr" indent="0" marL="0">
              <a:buNone/>
            </a:pPr>
            <a:r>
              <a:rPr lang="en-US" sz="900" b="1" dirty="0">
                <a:solidFill>
                  <a:srgbClr val="16A34A"/>
                </a:solidFill>
              </a:rPr>
              <a:t>✓</a:t>
            </a:r>
            <a:endParaRPr lang="en-US" sz="900" dirty="0"/>
          </a:p>
        </p:txBody>
      </p:sp>
      <p:sp>
        <p:nvSpPr>
          <p:cNvPr id="33" name="Text 31"/>
          <p:cNvSpPr/>
          <p:nvPr/>
        </p:nvSpPr>
        <p:spPr>
          <a:xfrm>
            <a:off x="6748272" y="2935224"/>
            <a:ext cx="5029200" cy="256032"/>
          </a:xfrm>
          <a:prstGeom prst="rect">
            <a:avLst/>
          </a:prstGeom>
          <a:noFill/>
          <a:ln/>
        </p:spPr>
        <p:txBody>
          <a:bodyPr wrap="square" rtlCol="0" anchor="ctr"/>
          <a:lstStyle/>
          <a:p>
            <a:pPr indent="0" marL="0">
              <a:buNone/>
            </a:pPr>
            <a:r>
              <a:rPr lang="en-US" sz="1000" dirty="0">
                <a:solidFill>
                  <a:srgbClr val="0A2540"/>
                </a:solidFill>
              </a:rPr>
              <a:t>Scoring IA automatique (compétences + expérience)</a:t>
            </a:r>
            <a:endParaRPr lang="en-US" sz="1000" dirty="0"/>
          </a:p>
        </p:txBody>
      </p:sp>
      <p:sp>
        <p:nvSpPr>
          <p:cNvPr id="34" name="Shape 32"/>
          <p:cNvSpPr/>
          <p:nvPr/>
        </p:nvSpPr>
        <p:spPr>
          <a:xfrm>
            <a:off x="6400800" y="3483864"/>
            <a:ext cx="256032" cy="256032"/>
          </a:xfrm>
          <a:prstGeom prst="rect">
            <a:avLst/>
          </a:prstGeom>
          <a:solidFill>
            <a:srgbClr val="DCFCE7"/>
          </a:solidFill>
          <a:ln w="12700">
            <a:solidFill>
              <a:srgbClr val="16A34A"/>
            </a:solidFill>
            <a:prstDash val="solid"/>
          </a:ln>
        </p:spPr>
      </p:sp>
      <p:sp>
        <p:nvSpPr>
          <p:cNvPr id="35" name="Text 33"/>
          <p:cNvSpPr/>
          <p:nvPr/>
        </p:nvSpPr>
        <p:spPr>
          <a:xfrm>
            <a:off x="6400800" y="3483864"/>
            <a:ext cx="256032" cy="256032"/>
          </a:xfrm>
          <a:prstGeom prst="rect">
            <a:avLst/>
          </a:prstGeom>
          <a:noFill/>
          <a:ln/>
        </p:spPr>
        <p:txBody>
          <a:bodyPr wrap="square" rtlCol="0" anchor="ctr"/>
          <a:lstStyle/>
          <a:p>
            <a:pPr algn="ctr" indent="0" marL="0">
              <a:buNone/>
            </a:pPr>
            <a:r>
              <a:rPr lang="en-US" sz="900" b="1" dirty="0">
                <a:solidFill>
                  <a:srgbClr val="16A34A"/>
                </a:solidFill>
              </a:rPr>
              <a:t>✓</a:t>
            </a:r>
            <a:endParaRPr lang="en-US" sz="900" dirty="0"/>
          </a:p>
        </p:txBody>
      </p:sp>
      <p:sp>
        <p:nvSpPr>
          <p:cNvPr id="36" name="Text 34"/>
          <p:cNvSpPr/>
          <p:nvPr/>
        </p:nvSpPr>
        <p:spPr>
          <a:xfrm>
            <a:off x="6748272" y="3502152"/>
            <a:ext cx="5029200" cy="256032"/>
          </a:xfrm>
          <a:prstGeom prst="rect">
            <a:avLst/>
          </a:prstGeom>
          <a:noFill/>
          <a:ln/>
        </p:spPr>
        <p:txBody>
          <a:bodyPr wrap="square" rtlCol="0" anchor="ctr"/>
          <a:lstStyle/>
          <a:p>
            <a:pPr indent="0" marL="0">
              <a:buNone/>
            </a:pPr>
            <a:r>
              <a:rPr lang="en-US" sz="1000" dirty="0">
                <a:solidFill>
                  <a:srgbClr val="0A2540"/>
                </a:solidFill>
              </a:rPr>
              <a:t>Pipeline visuel en temps réel avec statuts</a:t>
            </a:r>
            <a:endParaRPr lang="en-US" sz="1000" dirty="0"/>
          </a:p>
        </p:txBody>
      </p:sp>
      <p:sp>
        <p:nvSpPr>
          <p:cNvPr id="37" name="Shape 35"/>
          <p:cNvSpPr/>
          <p:nvPr/>
        </p:nvSpPr>
        <p:spPr>
          <a:xfrm>
            <a:off x="6400800" y="4050792"/>
            <a:ext cx="256032" cy="256032"/>
          </a:xfrm>
          <a:prstGeom prst="rect">
            <a:avLst/>
          </a:prstGeom>
          <a:solidFill>
            <a:srgbClr val="DCFCE7"/>
          </a:solidFill>
          <a:ln w="12700">
            <a:solidFill>
              <a:srgbClr val="16A34A"/>
            </a:solidFill>
            <a:prstDash val="solid"/>
          </a:ln>
        </p:spPr>
      </p:sp>
      <p:sp>
        <p:nvSpPr>
          <p:cNvPr id="38" name="Text 36"/>
          <p:cNvSpPr/>
          <p:nvPr/>
        </p:nvSpPr>
        <p:spPr>
          <a:xfrm>
            <a:off x="6400800" y="4050792"/>
            <a:ext cx="256032" cy="256032"/>
          </a:xfrm>
          <a:prstGeom prst="rect">
            <a:avLst/>
          </a:prstGeom>
          <a:noFill/>
          <a:ln/>
        </p:spPr>
        <p:txBody>
          <a:bodyPr wrap="square" rtlCol="0" anchor="ctr"/>
          <a:lstStyle/>
          <a:p>
            <a:pPr algn="ctr" indent="0" marL="0">
              <a:buNone/>
            </a:pPr>
            <a:r>
              <a:rPr lang="en-US" sz="900" b="1" dirty="0">
                <a:solidFill>
                  <a:srgbClr val="16A34A"/>
                </a:solidFill>
              </a:rPr>
              <a:t>✓</a:t>
            </a:r>
            <a:endParaRPr lang="en-US" sz="900" dirty="0"/>
          </a:p>
        </p:txBody>
      </p:sp>
      <p:sp>
        <p:nvSpPr>
          <p:cNvPr id="39" name="Text 37"/>
          <p:cNvSpPr/>
          <p:nvPr/>
        </p:nvSpPr>
        <p:spPr>
          <a:xfrm>
            <a:off x="6748272" y="4069080"/>
            <a:ext cx="5029200" cy="256032"/>
          </a:xfrm>
          <a:prstGeom prst="rect">
            <a:avLst/>
          </a:prstGeom>
          <a:noFill/>
          <a:ln/>
        </p:spPr>
        <p:txBody>
          <a:bodyPr wrap="square" rtlCol="0" anchor="ctr"/>
          <a:lstStyle/>
          <a:p>
            <a:pPr indent="0" marL="0">
              <a:buNone/>
            </a:pPr>
            <a:r>
              <a:rPr lang="en-US" sz="1000" dirty="0">
                <a:solidFill>
                  <a:srgbClr val="0A2540"/>
                </a:solidFill>
              </a:rPr>
              <a:t>Rôles et permissions granulaires par profil</a:t>
            </a:r>
            <a:endParaRPr lang="en-US" sz="1000" dirty="0"/>
          </a:p>
        </p:txBody>
      </p:sp>
      <p:sp>
        <p:nvSpPr>
          <p:cNvPr id="40" name="Shape 38"/>
          <p:cNvSpPr/>
          <p:nvPr/>
        </p:nvSpPr>
        <p:spPr>
          <a:xfrm>
            <a:off x="6400800" y="4617720"/>
            <a:ext cx="256032" cy="256032"/>
          </a:xfrm>
          <a:prstGeom prst="rect">
            <a:avLst/>
          </a:prstGeom>
          <a:solidFill>
            <a:srgbClr val="DCFCE7"/>
          </a:solidFill>
          <a:ln w="12700">
            <a:solidFill>
              <a:srgbClr val="16A34A"/>
            </a:solidFill>
            <a:prstDash val="solid"/>
          </a:ln>
        </p:spPr>
      </p:sp>
      <p:sp>
        <p:nvSpPr>
          <p:cNvPr id="41" name="Text 39"/>
          <p:cNvSpPr/>
          <p:nvPr/>
        </p:nvSpPr>
        <p:spPr>
          <a:xfrm>
            <a:off x="6400800" y="4617720"/>
            <a:ext cx="256032" cy="256032"/>
          </a:xfrm>
          <a:prstGeom prst="rect">
            <a:avLst/>
          </a:prstGeom>
          <a:noFill/>
          <a:ln/>
        </p:spPr>
        <p:txBody>
          <a:bodyPr wrap="square" rtlCol="0" anchor="ctr"/>
          <a:lstStyle/>
          <a:p>
            <a:pPr algn="ctr" indent="0" marL="0">
              <a:buNone/>
            </a:pPr>
            <a:r>
              <a:rPr lang="en-US" sz="900" b="1" dirty="0">
                <a:solidFill>
                  <a:srgbClr val="16A34A"/>
                </a:solidFill>
              </a:rPr>
              <a:t>✓</a:t>
            </a:r>
            <a:endParaRPr lang="en-US" sz="900" dirty="0"/>
          </a:p>
        </p:txBody>
      </p:sp>
      <p:sp>
        <p:nvSpPr>
          <p:cNvPr id="42" name="Text 40"/>
          <p:cNvSpPr/>
          <p:nvPr/>
        </p:nvSpPr>
        <p:spPr>
          <a:xfrm>
            <a:off x="6748272" y="4636008"/>
            <a:ext cx="5029200" cy="256032"/>
          </a:xfrm>
          <a:prstGeom prst="rect">
            <a:avLst/>
          </a:prstGeom>
          <a:noFill/>
          <a:ln/>
        </p:spPr>
        <p:txBody>
          <a:bodyPr wrap="square" rtlCol="0" anchor="ctr"/>
          <a:lstStyle/>
          <a:p>
            <a:pPr indent="0" marL="0">
              <a:buNone/>
            </a:pPr>
            <a:r>
              <a:rPr lang="en-US" sz="1000" dirty="0">
                <a:solidFill>
                  <a:srgbClr val="0A2540"/>
                </a:solidFill>
              </a:rPr>
              <a:t>Audit log complet et horodaté</a:t>
            </a:r>
            <a:endParaRPr lang="en-US" sz="1000" dirty="0"/>
          </a:p>
        </p:txBody>
      </p:sp>
      <p:sp>
        <p:nvSpPr>
          <p:cNvPr id="43" name="Shape 41"/>
          <p:cNvSpPr/>
          <p:nvPr/>
        </p:nvSpPr>
        <p:spPr>
          <a:xfrm>
            <a:off x="6089904" y="1325880"/>
            <a:ext cx="0" cy="5029200"/>
          </a:xfrm>
          <a:prstGeom prst="line">
            <a:avLst/>
          </a:prstGeom>
          <a:noFill/>
          <a:ln w="19050">
            <a:solidFill>
              <a:srgbClr val="E2E8F0"/>
            </a:solidFill>
            <a:prstDash val="dash"/>
          </a:ln>
        </p:spPr>
      </p:sp>
      <p:sp>
        <p:nvSpPr>
          <p:cNvPr id="44" name="Text 42"/>
          <p:cNvSpPr/>
          <p:nvPr/>
        </p:nvSpPr>
        <p:spPr>
          <a:xfrm>
            <a:off x="365760" y="6583680"/>
            <a:ext cx="11430000" cy="274320"/>
          </a:xfrm>
          <a:prstGeom prst="rect">
            <a:avLst/>
          </a:prstGeom>
          <a:noFill/>
          <a:ln/>
        </p:spPr>
        <p:txBody>
          <a:bodyPr wrap="square" rtlCol="0" anchor="ctr"/>
          <a:lstStyle/>
          <a:p>
            <a:pPr algn="ctr" indent="0" marL="0">
              <a:buNone/>
            </a:pPr>
            <a:r>
              <a:rPr lang="en-US" sz="800" dirty="0">
                <a:solidFill>
                  <a:srgbClr val="64748B"/>
                </a:solidFill>
              </a:rPr>
              <a:t>SNH – Présentation Directoire  |  Confidentiel  |  3 / 12</a:t>
            </a:r>
            <a:endParaRPr lang="en-US" sz="800" dirty="0"/>
          </a:p>
        </p:txBody>
      </p:sp>
      <p:sp>
        <p:nvSpPr>
          <p:cNvPr id="45" name="Shape 43"/>
          <p:cNvSpPr/>
          <p:nvPr/>
        </p:nvSpPr>
        <p:spPr>
          <a:xfrm>
            <a:off x="0" y="6492240"/>
            <a:ext cx="12188952" cy="27432"/>
          </a:xfrm>
          <a:prstGeom prst="rect">
            <a:avLst/>
          </a:prstGeom>
          <a:solidFill>
            <a:srgbClr val="1B6CA8"/>
          </a:solidFill>
          <a:ln w="12700">
            <a:solidFill>
              <a:srgbClr val="1B6CA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1247120" cy="73152"/>
          </a:xfrm>
          <a:prstGeom prst="rect">
            <a:avLst/>
          </a:prstGeom>
          <a:solidFill>
            <a:srgbClr val="1B6CA8"/>
          </a:solidFill>
          <a:ln w="12700">
            <a:solidFill>
              <a:srgbClr val="1B6CA8"/>
            </a:solidFill>
            <a:prstDash val="solid"/>
          </a:ln>
        </p:spPr>
      </p:sp>
      <p:sp>
        <p:nvSpPr>
          <p:cNvPr id="3" name="Text 1"/>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02 – ARCHITECTURE &amp; PÉRIMÈTRE</a:t>
            </a:r>
            <a:endParaRPr lang="en-US" sz="1000" dirty="0"/>
          </a:p>
        </p:txBody>
      </p:sp>
      <p:sp>
        <p:nvSpPr>
          <p:cNvPr id="4" name="Text 2"/>
          <p:cNvSpPr/>
          <p:nvPr/>
        </p:nvSpPr>
        <p:spPr>
          <a:xfrm>
            <a:off x="457200" y="685800"/>
            <a:ext cx="10972800" cy="502920"/>
          </a:xfrm>
          <a:prstGeom prst="rect">
            <a:avLst/>
          </a:prstGeom>
          <a:noFill/>
          <a:ln/>
        </p:spPr>
        <p:txBody>
          <a:bodyPr wrap="square" rtlCol="0" anchor="ctr"/>
          <a:lstStyle/>
          <a:p>
            <a:pPr indent="0" marL="0">
              <a:buNone/>
            </a:pPr>
            <a:r>
              <a:rPr lang="en-US" sz="2200" b="1" dirty="0">
                <a:solidFill>
                  <a:srgbClr val="0A2540"/>
                </a:solidFill>
              </a:rPr>
              <a:t>Composantes du Système de Recrutement SNH</a:t>
            </a:r>
            <a:endParaRPr lang="en-US" sz="2200" dirty="0"/>
          </a:p>
        </p:txBody>
      </p:sp>
      <p:sp>
        <p:nvSpPr>
          <p:cNvPr id="5" name="Shape 3"/>
          <p:cNvSpPr/>
          <p:nvPr/>
        </p:nvSpPr>
        <p:spPr>
          <a:xfrm>
            <a:off x="457200" y="1417320"/>
            <a:ext cx="3566160" cy="914400"/>
          </a:xfrm>
          <a:prstGeom prst="rect">
            <a:avLst/>
          </a:prstGeom>
          <a:solidFill>
            <a:srgbClr val="1B6CA8"/>
          </a:solidFill>
          <a:ln w="12700">
            <a:solidFill>
              <a:srgbClr val="1B6CA8"/>
            </a:solidFill>
            <a:prstDash val="solid"/>
          </a:ln>
        </p:spPr>
      </p:sp>
      <p:sp>
        <p:nvSpPr>
          <p:cNvPr id="6" name="Text 4"/>
          <p:cNvSpPr/>
          <p:nvPr/>
        </p:nvSpPr>
        <p:spPr>
          <a:xfrm>
            <a:off x="457200" y="1463040"/>
            <a:ext cx="3566160" cy="411480"/>
          </a:xfrm>
          <a:prstGeom prst="rect">
            <a:avLst/>
          </a:prstGeom>
          <a:noFill/>
          <a:ln/>
        </p:spPr>
        <p:txBody>
          <a:bodyPr wrap="square" rtlCol="0" anchor="ctr"/>
          <a:lstStyle/>
          <a:p>
            <a:pPr algn="ctr" indent="0" marL="0">
              <a:buNone/>
            </a:pPr>
            <a:r>
              <a:rPr lang="en-US" sz="1400" b="1" dirty="0">
                <a:solidFill>
                  <a:srgbClr val="FFFFFF"/>
                </a:solidFill>
              </a:rPr>
              <a:t>Portail Candidat</a:t>
            </a:r>
            <a:endParaRPr lang="en-US" sz="1400" dirty="0"/>
          </a:p>
        </p:txBody>
      </p:sp>
      <p:sp>
        <p:nvSpPr>
          <p:cNvPr id="7" name="Text 5"/>
          <p:cNvSpPr/>
          <p:nvPr/>
        </p:nvSpPr>
        <p:spPr>
          <a:xfrm>
            <a:off x="457200" y="1920240"/>
            <a:ext cx="3566160" cy="320040"/>
          </a:xfrm>
          <a:prstGeom prst="rect">
            <a:avLst/>
          </a:prstGeom>
          <a:noFill/>
          <a:ln/>
        </p:spPr>
        <p:txBody>
          <a:bodyPr wrap="square" rtlCol="0" anchor="ctr"/>
          <a:lstStyle/>
          <a:p>
            <a:pPr algn="ctr" indent="0" marL="0">
              <a:buNone/>
            </a:pPr>
            <a:r>
              <a:rPr lang="en-US" sz="900" i="1" dirty="0">
                <a:solidFill>
                  <a:srgbClr val="FFFFFF"/>
                </a:solidFill>
              </a:rPr>
              <a:t>Interface Externe</a:t>
            </a:r>
            <a:endParaRPr lang="en-US" sz="900" dirty="0"/>
          </a:p>
        </p:txBody>
      </p:sp>
      <p:sp>
        <p:nvSpPr>
          <p:cNvPr id="8" name="Shape 6"/>
          <p:cNvSpPr/>
          <p:nvPr/>
        </p:nvSpPr>
        <p:spPr>
          <a:xfrm>
            <a:off x="457200" y="2331720"/>
            <a:ext cx="3566160" cy="3200400"/>
          </a:xfrm>
          <a:prstGeom prst="rect">
            <a:avLst/>
          </a:prstGeom>
          <a:solidFill>
            <a:srgbClr val="F1F5F9"/>
          </a:solidFill>
          <a:ln w="12700">
            <a:solidFill>
              <a:srgbClr val="E2E8F0"/>
            </a:solidFill>
            <a:prstDash val="solid"/>
          </a:ln>
        </p:spPr>
      </p:sp>
      <p:sp>
        <p:nvSpPr>
          <p:cNvPr id="9" name="Shape 7"/>
          <p:cNvSpPr/>
          <p:nvPr/>
        </p:nvSpPr>
        <p:spPr>
          <a:xfrm>
            <a:off x="594360" y="2487168"/>
            <a:ext cx="201168" cy="201168"/>
          </a:xfrm>
          <a:prstGeom prst="rect">
            <a:avLst/>
          </a:prstGeom>
          <a:solidFill>
            <a:srgbClr val="1B6CA8"/>
          </a:solidFill>
          <a:ln w="12700">
            <a:solidFill>
              <a:srgbClr val="1B6CA8"/>
            </a:solidFill>
            <a:prstDash val="solid"/>
          </a:ln>
        </p:spPr>
      </p:sp>
      <p:sp>
        <p:nvSpPr>
          <p:cNvPr id="10" name="Text 8"/>
          <p:cNvSpPr/>
          <p:nvPr/>
        </p:nvSpPr>
        <p:spPr>
          <a:xfrm>
            <a:off x="868680" y="2468880"/>
            <a:ext cx="3017520" cy="256032"/>
          </a:xfrm>
          <a:prstGeom prst="rect">
            <a:avLst/>
          </a:prstGeom>
          <a:noFill/>
          <a:ln/>
        </p:spPr>
        <p:txBody>
          <a:bodyPr wrap="square" rtlCol="0" anchor="ctr"/>
          <a:lstStyle/>
          <a:p>
            <a:pPr indent="0" marL="0">
              <a:buNone/>
            </a:pPr>
            <a:r>
              <a:rPr lang="en-US" sz="950" dirty="0">
                <a:solidFill>
                  <a:srgbClr val="0A2540"/>
                </a:solidFill>
              </a:rPr>
              <a:t>Création de compte sécurisé</a:t>
            </a:r>
            <a:endParaRPr lang="en-US" sz="950" dirty="0"/>
          </a:p>
        </p:txBody>
      </p:sp>
      <p:sp>
        <p:nvSpPr>
          <p:cNvPr id="11" name="Shape 9"/>
          <p:cNvSpPr/>
          <p:nvPr/>
        </p:nvSpPr>
        <p:spPr>
          <a:xfrm>
            <a:off x="594360" y="3054096"/>
            <a:ext cx="201168" cy="201168"/>
          </a:xfrm>
          <a:prstGeom prst="rect">
            <a:avLst/>
          </a:prstGeom>
          <a:solidFill>
            <a:srgbClr val="1B6CA8"/>
          </a:solidFill>
          <a:ln w="12700">
            <a:solidFill>
              <a:srgbClr val="1B6CA8"/>
            </a:solidFill>
            <a:prstDash val="solid"/>
          </a:ln>
        </p:spPr>
      </p:sp>
      <p:sp>
        <p:nvSpPr>
          <p:cNvPr id="12" name="Text 10"/>
          <p:cNvSpPr/>
          <p:nvPr/>
        </p:nvSpPr>
        <p:spPr>
          <a:xfrm>
            <a:off x="868680" y="3035808"/>
            <a:ext cx="3017520" cy="256032"/>
          </a:xfrm>
          <a:prstGeom prst="rect">
            <a:avLst/>
          </a:prstGeom>
          <a:noFill/>
          <a:ln/>
        </p:spPr>
        <p:txBody>
          <a:bodyPr wrap="square" rtlCol="0" anchor="ctr"/>
          <a:lstStyle/>
          <a:p>
            <a:pPr indent="0" marL="0">
              <a:buNone/>
            </a:pPr>
            <a:r>
              <a:rPr lang="en-US" sz="950" dirty="0">
                <a:solidFill>
                  <a:srgbClr val="0A2540"/>
                </a:solidFill>
              </a:rPr>
              <a:t>Dépôt de candidature en ligne</a:t>
            </a:r>
            <a:endParaRPr lang="en-US" sz="950" dirty="0"/>
          </a:p>
        </p:txBody>
      </p:sp>
      <p:sp>
        <p:nvSpPr>
          <p:cNvPr id="13" name="Shape 11"/>
          <p:cNvSpPr/>
          <p:nvPr/>
        </p:nvSpPr>
        <p:spPr>
          <a:xfrm>
            <a:off x="594360" y="3621024"/>
            <a:ext cx="201168" cy="201168"/>
          </a:xfrm>
          <a:prstGeom prst="rect">
            <a:avLst/>
          </a:prstGeom>
          <a:solidFill>
            <a:srgbClr val="1B6CA8"/>
          </a:solidFill>
          <a:ln w="12700">
            <a:solidFill>
              <a:srgbClr val="1B6CA8"/>
            </a:solidFill>
            <a:prstDash val="solid"/>
          </a:ln>
        </p:spPr>
      </p:sp>
      <p:sp>
        <p:nvSpPr>
          <p:cNvPr id="14" name="Text 12"/>
          <p:cNvSpPr/>
          <p:nvPr/>
        </p:nvSpPr>
        <p:spPr>
          <a:xfrm>
            <a:off x="868680" y="3602736"/>
            <a:ext cx="3017520" cy="256032"/>
          </a:xfrm>
          <a:prstGeom prst="rect">
            <a:avLst/>
          </a:prstGeom>
          <a:noFill/>
          <a:ln/>
        </p:spPr>
        <p:txBody>
          <a:bodyPr wrap="square" rtlCol="0" anchor="ctr"/>
          <a:lstStyle/>
          <a:p>
            <a:pPr indent="0" marL="0">
              <a:buNone/>
            </a:pPr>
            <a:r>
              <a:rPr lang="en-US" sz="950" dirty="0">
                <a:solidFill>
                  <a:srgbClr val="0A2540"/>
                </a:solidFill>
              </a:rPr>
              <a:t>Suivi de dossier en temps réel</a:t>
            </a:r>
            <a:endParaRPr lang="en-US" sz="950" dirty="0"/>
          </a:p>
        </p:txBody>
      </p:sp>
      <p:sp>
        <p:nvSpPr>
          <p:cNvPr id="15" name="Shape 13"/>
          <p:cNvSpPr/>
          <p:nvPr/>
        </p:nvSpPr>
        <p:spPr>
          <a:xfrm>
            <a:off x="594360" y="4187952"/>
            <a:ext cx="201168" cy="201168"/>
          </a:xfrm>
          <a:prstGeom prst="rect">
            <a:avLst/>
          </a:prstGeom>
          <a:solidFill>
            <a:srgbClr val="1B6CA8"/>
          </a:solidFill>
          <a:ln w="12700">
            <a:solidFill>
              <a:srgbClr val="1B6CA8"/>
            </a:solidFill>
            <a:prstDash val="solid"/>
          </a:ln>
        </p:spPr>
      </p:sp>
      <p:sp>
        <p:nvSpPr>
          <p:cNvPr id="16" name="Text 14"/>
          <p:cNvSpPr/>
          <p:nvPr/>
        </p:nvSpPr>
        <p:spPr>
          <a:xfrm>
            <a:off x="868680" y="4169664"/>
            <a:ext cx="3017520" cy="256032"/>
          </a:xfrm>
          <a:prstGeom prst="rect">
            <a:avLst/>
          </a:prstGeom>
          <a:noFill/>
          <a:ln/>
        </p:spPr>
        <p:txBody>
          <a:bodyPr wrap="square" rtlCol="0" anchor="ctr"/>
          <a:lstStyle/>
          <a:p>
            <a:pPr indent="0" marL="0">
              <a:buNone/>
            </a:pPr>
            <a:r>
              <a:rPr lang="en-US" sz="950" dirty="0">
                <a:solidFill>
                  <a:srgbClr val="0A2540"/>
                </a:solidFill>
              </a:rPr>
              <a:t>Gestion du profil &amp; CV</a:t>
            </a:r>
            <a:endParaRPr lang="en-US" sz="950" dirty="0"/>
          </a:p>
        </p:txBody>
      </p:sp>
      <p:sp>
        <p:nvSpPr>
          <p:cNvPr id="17" name="Shape 15"/>
          <p:cNvSpPr/>
          <p:nvPr/>
        </p:nvSpPr>
        <p:spPr>
          <a:xfrm>
            <a:off x="594360" y="4754880"/>
            <a:ext cx="201168" cy="201168"/>
          </a:xfrm>
          <a:prstGeom prst="rect">
            <a:avLst/>
          </a:prstGeom>
          <a:solidFill>
            <a:srgbClr val="1B6CA8"/>
          </a:solidFill>
          <a:ln w="12700">
            <a:solidFill>
              <a:srgbClr val="1B6CA8"/>
            </a:solidFill>
            <a:prstDash val="solid"/>
          </a:ln>
        </p:spPr>
      </p:sp>
      <p:sp>
        <p:nvSpPr>
          <p:cNvPr id="18" name="Text 16"/>
          <p:cNvSpPr/>
          <p:nvPr/>
        </p:nvSpPr>
        <p:spPr>
          <a:xfrm>
            <a:off x="868680" y="4736592"/>
            <a:ext cx="3017520" cy="256032"/>
          </a:xfrm>
          <a:prstGeom prst="rect">
            <a:avLst/>
          </a:prstGeom>
          <a:noFill/>
          <a:ln/>
        </p:spPr>
        <p:txBody>
          <a:bodyPr wrap="square" rtlCol="0" anchor="ctr"/>
          <a:lstStyle/>
          <a:p>
            <a:pPr indent="0" marL="0">
              <a:buNone/>
            </a:pPr>
            <a:r>
              <a:rPr lang="en-US" sz="950" dirty="0">
                <a:solidFill>
                  <a:srgbClr val="0A2540"/>
                </a:solidFill>
              </a:rPr>
              <a:t>Notifications automatiques</a:t>
            </a:r>
            <a:endParaRPr lang="en-US" sz="950" dirty="0"/>
          </a:p>
        </p:txBody>
      </p:sp>
      <p:sp>
        <p:nvSpPr>
          <p:cNvPr id="19" name="Shape 17"/>
          <p:cNvSpPr/>
          <p:nvPr/>
        </p:nvSpPr>
        <p:spPr>
          <a:xfrm>
            <a:off x="4297680" y="1417320"/>
            <a:ext cx="3566160" cy="914400"/>
          </a:xfrm>
          <a:prstGeom prst="rect">
            <a:avLst/>
          </a:prstGeom>
          <a:solidFill>
            <a:srgbClr val="16A34A"/>
          </a:solidFill>
          <a:ln w="12700">
            <a:solidFill>
              <a:srgbClr val="16A34A"/>
            </a:solidFill>
            <a:prstDash val="solid"/>
          </a:ln>
        </p:spPr>
      </p:sp>
      <p:sp>
        <p:nvSpPr>
          <p:cNvPr id="20" name="Text 18"/>
          <p:cNvSpPr/>
          <p:nvPr/>
        </p:nvSpPr>
        <p:spPr>
          <a:xfrm>
            <a:off x="4297680" y="1463040"/>
            <a:ext cx="3566160" cy="411480"/>
          </a:xfrm>
          <a:prstGeom prst="rect">
            <a:avLst/>
          </a:prstGeom>
          <a:noFill/>
          <a:ln/>
        </p:spPr>
        <p:txBody>
          <a:bodyPr wrap="square" rtlCol="0" anchor="ctr"/>
          <a:lstStyle/>
          <a:p>
            <a:pPr algn="ctr" indent="0" marL="0">
              <a:buNone/>
            </a:pPr>
            <a:r>
              <a:rPr lang="en-US" sz="1400" b="1" dirty="0">
                <a:solidFill>
                  <a:srgbClr val="FFFFFF"/>
                </a:solidFill>
              </a:rPr>
              <a:t>Espace RH</a:t>
            </a:r>
            <a:endParaRPr lang="en-US" sz="1400" dirty="0"/>
          </a:p>
        </p:txBody>
      </p:sp>
      <p:sp>
        <p:nvSpPr>
          <p:cNvPr id="21" name="Text 19"/>
          <p:cNvSpPr/>
          <p:nvPr/>
        </p:nvSpPr>
        <p:spPr>
          <a:xfrm>
            <a:off x="4297680" y="1920240"/>
            <a:ext cx="3566160" cy="320040"/>
          </a:xfrm>
          <a:prstGeom prst="rect">
            <a:avLst/>
          </a:prstGeom>
          <a:noFill/>
          <a:ln/>
        </p:spPr>
        <p:txBody>
          <a:bodyPr wrap="square" rtlCol="0" anchor="ctr"/>
          <a:lstStyle/>
          <a:p>
            <a:pPr algn="ctr" indent="0" marL="0">
              <a:buNone/>
            </a:pPr>
            <a:r>
              <a:rPr lang="en-US" sz="900" i="1" dirty="0">
                <a:solidFill>
                  <a:srgbClr val="FFFFFF"/>
                </a:solidFill>
              </a:rPr>
              <a:t>Interface Interne</a:t>
            </a:r>
            <a:endParaRPr lang="en-US" sz="900" dirty="0"/>
          </a:p>
        </p:txBody>
      </p:sp>
      <p:sp>
        <p:nvSpPr>
          <p:cNvPr id="22" name="Shape 20"/>
          <p:cNvSpPr/>
          <p:nvPr/>
        </p:nvSpPr>
        <p:spPr>
          <a:xfrm>
            <a:off x="4297680" y="2331720"/>
            <a:ext cx="3566160" cy="3200400"/>
          </a:xfrm>
          <a:prstGeom prst="rect">
            <a:avLst/>
          </a:prstGeom>
          <a:solidFill>
            <a:srgbClr val="F1F5F9"/>
          </a:solidFill>
          <a:ln w="12700">
            <a:solidFill>
              <a:srgbClr val="E2E8F0"/>
            </a:solidFill>
            <a:prstDash val="solid"/>
          </a:ln>
        </p:spPr>
      </p:sp>
      <p:sp>
        <p:nvSpPr>
          <p:cNvPr id="23" name="Shape 21"/>
          <p:cNvSpPr/>
          <p:nvPr/>
        </p:nvSpPr>
        <p:spPr>
          <a:xfrm>
            <a:off x="4434840" y="2487168"/>
            <a:ext cx="201168" cy="201168"/>
          </a:xfrm>
          <a:prstGeom prst="rect">
            <a:avLst/>
          </a:prstGeom>
          <a:solidFill>
            <a:srgbClr val="16A34A"/>
          </a:solidFill>
          <a:ln w="12700">
            <a:solidFill>
              <a:srgbClr val="16A34A"/>
            </a:solidFill>
            <a:prstDash val="solid"/>
          </a:ln>
        </p:spPr>
      </p:sp>
      <p:sp>
        <p:nvSpPr>
          <p:cNvPr id="24" name="Text 22"/>
          <p:cNvSpPr/>
          <p:nvPr/>
        </p:nvSpPr>
        <p:spPr>
          <a:xfrm>
            <a:off x="4709160" y="2468880"/>
            <a:ext cx="3017520" cy="256032"/>
          </a:xfrm>
          <a:prstGeom prst="rect">
            <a:avLst/>
          </a:prstGeom>
          <a:noFill/>
          <a:ln/>
        </p:spPr>
        <p:txBody>
          <a:bodyPr wrap="square" rtlCol="0" anchor="ctr"/>
          <a:lstStyle/>
          <a:p>
            <a:pPr indent="0" marL="0">
              <a:buNone/>
            </a:pPr>
            <a:r>
              <a:rPr lang="en-US" sz="950" dirty="0">
                <a:solidFill>
                  <a:srgbClr val="0A2540"/>
                </a:solidFill>
              </a:rPr>
              <a:t>Gestion des offres d'emploi</a:t>
            </a:r>
            <a:endParaRPr lang="en-US" sz="950" dirty="0"/>
          </a:p>
        </p:txBody>
      </p:sp>
      <p:sp>
        <p:nvSpPr>
          <p:cNvPr id="25" name="Shape 23"/>
          <p:cNvSpPr/>
          <p:nvPr/>
        </p:nvSpPr>
        <p:spPr>
          <a:xfrm>
            <a:off x="4434840" y="3054096"/>
            <a:ext cx="201168" cy="201168"/>
          </a:xfrm>
          <a:prstGeom prst="rect">
            <a:avLst/>
          </a:prstGeom>
          <a:solidFill>
            <a:srgbClr val="16A34A"/>
          </a:solidFill>
          <a:ln w="12700">
            <a:solidFill>
              <a:srgbClr val="16A34A"/>
            </a:solidFill>
            <a:prstDash val="solid"/>
          </a:ln>
        </p:spPr>
      </p:sp>
      <p:sp>
        <p:nvSpPr>
          <p:cNvPr id="26" name="Text 24"/>
          <p:cNvSpPr/>
          <p:nvPr/>
        </p:nvSpPr>
        <p:spPr>
          <a:xfrm>
            <a:off x="4709160" y="3035808"/>
            <a:ext cx="3017520" cy="256032"/>
          </a:xfrm>
          <a:prstGeom prst="rect">
            <a:avLst/>
          </a:prstGeom>
          <a:noFill/>
          <a:ln/>
        </p:spPr>
        <p:txBody>
          <a:bodyPr wrap="square" rtlCol="0" anchor="ctr"/>
          <a:lstStyle/>
          <a:p>
            <a:pPr indent="0" marL="0">
              <a:buNone/>
            </a:pPr>
            <a:r>
              <a:rPr lang="en-US" sz="950" dirty="0">
                <a:solidFill>
                  <a:srgbClr val="0A2540"/>
                </a:solidFill>
              </a:rPr>
              <a:t>Demandes de recrutement</a:t>
            </a:r>
            <a:endParaRPr lang="en-US" sz="950" dirty="0"/>
          </a:p>
        </p:txBody>
      </p:sp>
      <p:sp>
        <p:nvSpPr>
          <p:cNvPr id="27" name="Shape 25"/>
          <p:cNvSpPr/>
          <p:nvPr/>
        </p:nvSpPr>
        <p:spPr>
          <a:xfrm>
            <a:off x="4434840" y="3621024"/>
            <a:ext cx="201168" cy="201168"/>
          </a:xfrm>
          <a:prstGeom prst="rect">
            <a:avLst/>
          </a:prstGeom>
          <a:solidFill>
            <a:srgbClr val="16A34A"/>
          </a:solidFill>
          <a:ln w="12700">
            <a:solidFill>
              <a:srgbClr val="16A34A"/>
            </a:solidFill>
            <a:prstDash val="solid"/>
          </a:ln>
        </p:spPr>
      </p:sp>
      <p:sp>
        <p:nvSpPr>
          <p:cNvPr id="28" name="Text 26"/>
          <p:cNvSpPr/>
          <p:nvPr/>
        </p:nvSpPr>
        <p:spPr>
          <a:xfrm>
            <a:off x="4709160" y="3602736"/>
            <a:ext cx="3017520" cy="256032"/>
          </a:xfrm>
          <a:prstGeom prst="rect">
            <a:avLst/>
          </a:prstGeom>
          <a:noFill/>
          <a:ln/>
        </p:spPr>
        <p:txBody>
          <a:bodyPr wrap="square" rtlCol="0" anchor="ctr"/>
          <a:lstStyle/>
          <a:p>
            <a:pPr indent="0" marL="0">
              <a:buNone/>
            </a:pPr>
            <a:r>
              <a:rPr lang="en-US" sz="950" dirty="0">
                <a:solidFill>
                  <a:srgbClr val="0A2540"/>
                </a:solidFill>
              </a:rPr>
              <a:t>Évaluation jury</a:t>
            </a:r>
            <a:endParaRPr lang="en-US" sz="950" dirty="0"/>
          </a:p>
        </p:txBody>
      </p:sp>
      <p:sp>
        <p:nvSpPr>
          <p:cNvPr id="29" name="Shape 27"/>
          <p:cNvSpPr/>
          <p:nvPr/>
        </p:nvSpPr>
        <p:spPr>
          <a:xfrm>
            <a:off x="4434840" y="4187952"/>
            <a:ext cx="201168" cy="201168"/>
          </a:xfrm>
          <a:prstGeom prst="rect">
            <a:avLst/>
          </a:prstGeom>
          <a:solidFill>
            <a:srgbClr val="16A34A"/>
          </a:solidFill>
          <a:ln w="12700">
            <a:solidFill>
              <a:srgbClr val="16A34A"/>
            </a:solidFill>
            <a:prstDash val="solid"/>
          </a:ln>
        </p:spPr>
      </p:sp>
      <p:sp>
        <p:nvSpPr>
          <p:cNvPr id="30" name="Text 28"/>
          <p:cNvSpPr/>
          <p:nvPr/>
        </p:nvSpPr>
        <p:spPr>
          <a:xfrm>
            <a:off x="4709160" y="4169664"/>
            <a:ext cx="3017520" cy="256032"/>
          </a:xfrm>
          <a:prstGeom prst="rect">
            <a:avLst/>
          </a:prstGeom>
          <a:noFill/>
          <a:ln/>
        </p:spPr>
        <p:txBody>
          <a:bodyPr wrap="square" rtlCol="0" anchor="ctr"/>
          <a:lstStyle/>
          <a:p>
            <a:pPr indent="0" marL="0">
              <a:buNone/>
            </a:pPr>
            <a:r>
              <a:rPr lang="en-US" sz="950" dirty="0">
                <a:solidFill>
                  <a:srgbClr val="0A2540"/>
                </a:solidFill>
              </a:rPr>
              <a:t>Suivi du pipeline</a:t>
            </a:r>
            <a:endParaRPr lang="en-US" sz="950" dirty="0"/>
          </a:p>
        </p:txBody>
      </p:sp>
      <p:sp>
        <p:nvSpPr>
          <p:cNvPr id="31" name="Shape 29"/>
          <p:cNvSpPr/>
          <p:nvPr/>
        </p:nvSpPr>
        <p:spPr>
          <a:xfrm>
            <a:off x="4434840" y="4754880"/>
            <a:ext cx="201168" cy="201168"/>
          </a:xfrm>
          <a:prstGeom prst="rect">
            <a:avLst/>
          </a:prstGeom>
          <a:solidFill>
            <a:srgbClr val="16A34A"/>
          </a:solidFill>
          <a:ln w="12700">
            <a:solidFill>
              <a:srgbClr val="16A34A"/>
            </a:solidFill>
            <a:prstDash val="solid"/>
          </a:ln>
        </p:spPr>
      </p:sp>
      <p:sp>
        <p:nvSpPr>
          <p:cNvPr id="32" name="Text 30"/>
          <p:cNvSpPr/>
          <p:nvPr/>
        </p:nvSpPr>
        <p:spPr>
          <a:xfrm>
            <a:off x="4709160" y="4736592"/>
            <a:ext cx="3017520" cy="256032"/>
          </a:xfrm>
          <a:prstGeom prst="rect">
            <a:avLst/>
          </a:prstGeom>
          <a:noFill/>
          <a:ln/>
        </p:spPr>
        <p:txBody>
          <a:bodyPr wrap="square" rtlCol="0" anchor="ctr"/>
          <a:lstStyle/>
          <a:p>
            <a:pPr indent="0" marL="0">
              <a:buNone/>
            </a:pPr>
            <a:r>
              <a:rPr lang="en-US" sz="950" dirty="0">
                <a:solidFill>
                  <a:srgbClr val="0A2540"/>
                </a:solidFill>
              </a:rPr>
              <a:t>Génération de lettres</a:t>
            </a:r>
            <a:endParaRPr lang="en-US" sz="950" dirty="0"/>
          </a:p>
        </p:txBody>
      </p:sp>
      <p:sp>
        <p:nvSpPr>
          <p:cNvPr id="33" name="Shape 31"/>
          <p:cNvSpPr/>
          <p:nvPr/>
        </p:nvSpPr>
        <p:spPr>
          <a:xfrm>
            <a:off x="8138160" y="1417320"/>
            <a:ext cx="3566160" cy="914400"/>
          </a:xfrm>
          <a:prstGeom prst="rect">
            <a:avLst/>
          </a:prstGeom>
          <a:solidFill>
            <a:srgbClr val="D97706"/>
          </a:solidFill>
          <a:ln w="12700">
            <a:solidFill>
              <a:srgbClr val="D97706"/>
            </a:solidFill>
            <a:prstDash val="solid"/>
          </a:ln>
        </p:spPr>
      </p:sp>
      <p:sp>
        <p:nvSpPr>
          <p:cNvPr id="34" name="Text 32"/>
          <p:cNvSpPr/>
          <p:nvPr/>
        </p:nvSpPr>
        <p:spPr>
          <a:xfrm>
            <a:off x="8138160" y="1463040"/>
            <a:ext cx="3566160" cy="411480"/>
          </a:xfrm>
          <a:prstGeom prst="rect">
            <a:avLst/>
          </a:prstGeom>
          <a:noFill/>
          <a:ln/>
        </p:spPr>
        <p:txBody>
          <a:bodyPr wrap="square" rtlCol="0" anchor="ctr"/>
          <a:lstStyle/>
          <a:p>
            <a:pPr algn="ctr" indent="0" marL="0">
              <a:buNone/>
            </a:pPr>
            <a:r>
              <a:rPr lang="en-US" sz="1400" b="1" dirty="0">
                <a:solidFill>
                  <a:srgbClr val="FFFFFF"/>
                </a:solidFill>
              </a:rPr>
              <a:t>CVthèque &amp; BI</a:t>
            </a:r>
            <a:endParaRPr lang="en-US" sz="1400" dirty="0"/>
          </a:p>
        </p:txBody>
      </p:sp>
      <p:sp>
        <p:nvSpPr>
          <p:cNvPr id="35" name="Text 33"/>
          <p:cNvSpPr/>
          <p:nvPr/>
        </p:nvSpPr>
        <p:spPr>
          <a:xfrm>
            <a:off x="8138160" y="1920240"/>
            <a:ext cx="3566160" cy="320040"/>
          </a:xfrm>
          <a:prstGeom prst="rect">
            <a:avLst/>
          </a:prstGeom>
          <a:noFill/>
          <a:ln/>
        </p:spPr>
        <p:txBody>
          <a:bodyPr wrap="square" rtlCol="0" anchor="ctr"/>
          <a:lstStyle/>
          <a:p>
            <a:pPr algn="ctr" indent="0" marL="0">
              <a:buNone/>
            </a:pPr>
            <a:r>
              <a:rPr lang="en-US" sz="900" i="1" dirty="0">
                <a:solidFill>
                  <a:srgbClr val="FFFFFF"/>
                </a:solidFill>
              </a:rPr>
              <a:t>Moteur de Données</a:t>
            </a:r>
            <a:endParaRPr lang="en-US" sz="900" dirty="0"/>
          </a:p>
        </p:txBody>
      </p:sp>
      <p:sp>
        <p:nvSpPr>
          <p:cNvPr id="36" name="Shape 34"/>
          <p:cNvSpPr/>
          <p:nvPr/>
        </p:nvSpPr>
        <p:spPr>
          <a:xfrm>
            <a:off x="8138160" y="2331720"/>
            <a:ext cx="3566160" cy="3200400"/>
          </a:xfrm>
          <a:prstGeom prst="rect">
            <a:avLst/>
          </a:prstGeom>
          <a:solidFill>
            <a:srgbClr val="F1F5F9"/>
          </a:solidFill>
          <a:ln w="12700">
            <a:solidFill>
              <a:srgbClr val="E2E8F0"/>
            </a:solidFill>
            <a:prstDash val="solid"/>
          </a:ln>
        </p:spPr>
      </p:sp>
      <p:sp>
        <p:nvSpPr>
          <p:cNvPr id="37" name="Shape 35"/>
          <p:cNvSpPr/>
          <p:nvPr/>
        </p:nvSpPr>
        <p:spPr>
          <a:xfrm>
            <a:off x="8275320" y="2487168"/>
            <a:ext cx="201168" cy="201168"/>
          </a:xfrm>
          <a:prstGeom prst="rect">
            <a:avLst/>
          </a:prstGeom>
          <a:solidFill>
            <a:srgbClr val="D97706"/>
          </a:solidFill>
          <a:ln w="12700">
            <a:solidFill>
              <a:srgbClr val="D97706"/>
            </a:solidFill>
            <a:prstDash val="solid"/>
          </a:ln>
        </p:spPr>
      </p:sp>
      <p:sp>
        <p:nvSpPr>
          <p:cNvPr id="38" name="Text 36"/>
          <p:cNvSpPr/>
          <p:nvPr/>
        </p:nvSpPr>
        <p:spPr>
          <a:xfrm>
            <a:off x="8549640" y="2468880"/>
            <a:ext cx="3017520" cy="256032"/>
          </a:xfrm>
          <a:prstGeom prst="rect">
            <a:avLst/>
          </a:prstGeom>
          <a:noFill/>
          <a:ln/>
        </p:spPr>
        <p:txBody>
          <a:bodyPr wrap="square" rtlCol="0" anchor="ctr"/>
          <a:lstStyle/>
          <a:p>
            <a:pPr indent="0" marL="0">
              <a:buNone/>
            </a:pPr>
            <a:r>
              <a:rPr lang="en-US" sz="950" dirty="0">
                <a:solidFill>
                  <a:srgbClr val="0A2540"/>
                </a:solidFill>
              </a:rPr>
              <a:t>Base candidats centralisée</a:t>
            </a:r>
            <a:endParaRPr lang="en-US" sz="950" dirty="0"/>
          </a:p>
        </p:txBody>
      </p:sp>
      <p:sp>
        <p:nvSpPr>
          <p:cNvPr id="39" name="Shape 37"/>
          <p:cNvSpPr/>
          <p:nvPr/>
        </p:nvSpPr>
        <p:spPr>
          <a:xfrm>
            <a:off x="8275320" y="3054096"/>
            <a:ext cx="201168" cy="201168"/>
          </a:xfrm>
          <a:prstGeom prst="rect">
            <a:avLst/>
          </a:prstGeom>
          <a:solidFill>
            <a:srgbClr val="D97706"/>
          </a:solidFill>
          <a:ln w="12700">
            <a:solidFill>
              <a:srgbClr val="D97706"/>
            </a:solidFill>
            <a:prstDash val="solid"/>
          </a:ln>
        </p:spPr>
      </p:sp>
      <p:sp>
        <p:nvSpPr>
          <p:cNvPr id="40" name="Text 38"/>
          <p:cNvSpPr/>
          <p:nvPr/>
        </p:nvSpPr>
        <p:spPr>
          <a:xfrm>
            <a:off x="8549640" y="3035808"/>
            <a:ext cx="3017520" cy="256032"/>
          </a:xfrm>
          <a:prstGeom prst="rect">
            <a:avLst/>
          </a:prstGeom>
          <a:noFill/>
          <a:ln/>
        </p:spPr>
        <p:txBody>
          <a:bodyPr wrap="square" rtlCol="0" anchor="ctr"/>
          <a:lstStyle/>
          <a:p>
            <a:pPr indent="0" marL="0">
              <a:buNone/>
            </a:pPr>
            <a:r>
              <a:rPr lang="en-US" sz="950" dirty="0">
                <a:solidFill>
                  <a:srgbClr val="0A2540"/>
                </a:solidFill>
              </a:rPr>
              <a:t>Scoring &amp; matching IA</a:t>
            </a:r>
            <a:endParaRPr lang="en-US" sz="950" dirty="0"/>
          </a:p>
        </p:txBody>
      </p:sp>
      <p:sp>
        <p:nvSpPr>
          <p:cNvPr id="41" name="Shape 39"/>
          <p:cNvSpPr/>
          <p:nvPr/>
        </p:nvSpPr>
        <p:spPr>
          <a:xfrm>
            <a:off x="8275320" y="3621024"/>
            <a:ext cx="201168" cy="201168"/>
          </a:xfrm>
          <a:prstGeom prst="rect">
            <a:avLst/>
          </a:prstGeom>
          <a:solidFill>
            <a:srgbClr val="D97706"/>
          </a:solidFill>
          <a:ln w="12700">
            <a:solidFill>
              <a:srgbClr val="D97706"/>
            </a:solidFill>
            <a:prstDash val="solid"/>
          </a:ln>
        </p:spPr>
      </p:sp>
      <p:sp>
        <p:nvSpPr>
          <p:cNvPr id="42" name="Text 40"/>
          <p:cNvSpPr/>
          <p:nvPr/>
        </p:nvSpPr>
        <p:spPr>
          <a:xfrm>
            <a:off x="8549640" y="3602736"/>
            <a:ext cx="3017520" cy="256032"/>
          </a:xfrm>
          <a:prstGeom prst="rect">
            <a:avLst/>
          </a:prstGeom>
          <a:noFill/>
          <a:ln/>
        </p:spPr>
        <p:txBody>
          <a:bodyPr wrap="square" rtlCol="0" anchor="ctr"/>
          <a:lstStyle/>
          <a:p>
            <a:pPr indent="0" marL="0">
              <a:buNone/>
            </a:pPr>
            <a:r>
              <a:rPr lang="en-US" sz="950" dirty="0">
                <a:solidFill>
                  <a:srgbClr val="0A2540"/>
                </a:solidFill>
              </a:rPr>
              <a:t>Rapports statistiques</a:t>
            </a:r>
            <a:endParaRPr lang="en-US" sz="950" dirty="0"/>
          </a:p>
        </p:txBody>
      </p:sp>
      <p:sp>
        <p:nvSpPr>
          <p:cNvPr id="43" name="Shape 41"/>
          <p:cNvSpPr/>
          <p:nvPr/>
        </p:nvSpPr>
        <p:spPr>
          <a:xfrm>
            <a:off x="8275320" y="4187952"/>
            <a:ext cx="201168" cy="201168"/>
          </a:xfrm>
          <a:prstGeom prst="rect">
            <a:avLst/>
          </a:prstGeom>
          <a:solidFill>
            <a:srgbClr val="D97706"/>
          </a:solidFill>
          <a:ln w="12700">
            <a:solidFill>
              <a:srgbClr val="D97706"/>
            </a:solidFill>
            <a:prstDash val="solid"/>
          </a:ln>
        </p:spPr>
      </p:sp>
      <p:sp>
        <p:nvSpPr>
          <p:cNvPr id="44" name="Text 42"/>
          <p:cNvSpPr/>
          <p:nvPr/>
        </p:nvSpPr>
        <p:spPr>
          <a:xfrm>
            <a:off x="8549640" y="4169664"/>
            <a:ext cx="3017520" cy="256032"/>
          </a:xfrm>
          <a:prstGeom prst="rect">
            <a:avLst/>
          </a:prstGeom>
          <a:noFill/>
          <a:ln/>
        </p:spPr>
        <p:txBody>
          <a:bodyPr wrap="square" rtlCol="0" anchor="ctr"/>
          <a:lstStyle/>
          <a:p>
            <a:pPr indent="0" marL="0">
              <a:buNone/>
            </a:pPr>
            <a:r>
              <a:rPr lang="en-US" sz="950" dirty="0">
                <a:solidFill>
                  <a:srgbClr val="0A2540"/>
                </a:solidFill>
              </a:rPr>
              <a:t>Historique des candidatures</a:t>
            </a:r>
            <a:endParaRPr lang="en-US" sz="950" dirty="0"/>
          </a:p>
        </p:txBody>
      </p:sp>
      <p:sp>
        <p:nvSpPr>
          <p:cNvPr id="45" name="Shape 43"/>
          <p:cNvSpPr/>
          <p:nvPr/>
        </p:nvSpPr>
        <p:spPr>
          <a:xfrm>
            <a:off x="8275320" y="4754880"/>
            <a:ext cx="201168" cy="201168"/>
          </a:xfrm>
          <a:prstGeom prst="rect">
            <a:avLst/>
          </a:prstGeom>
          <a:solidFill>
            <a:srgbClr val="D97706"/>
          </a:solidFill>
          <a:ln w="12700">
            <a:solidFill>
              <a:srgbClr val="D97706"/>
            </a:solidFill>
            <a:prstDash val="solid"/>
          </a:ln>
        </p:spPr>
      </p:sp>
      <p:sp>
        <p:nvSpPr>
          <p:cNvPr id="46" name="Text 44"/>
          <p:cNvSpPr/>
          <p:nvPr/>
        </p:nvSpPr>
        <p:spPr>
          <a:xfrm>
            <a:off x="8549640" y="4736592"/>
            <a:ext cx="3017520" cy="256032"/>
          </a:xfrm>
          <a:prstGeom prst="rect">
            <a:avLst/>
          </a:prstGeom>
          <a:noFill/>
          <a:ln/>
        </p:spPr>
        <p:txBody>
          <a:bodyPr wrap="square" rtlCol="0" anchor="ctr"/>
          <a:lstStyle/>
          <a:p>
            <a:pPr indent="0" marL="0">
              <a:buNone/>
            </a:pPr>
            <a:r>
              <a:rPr lang="en-US" sz="950" dirty="0">
                <a:solidFill>
                  <a:srgbClr val="0A2540"/>
                </a:solidFill>
              </a:rPr>
              <a:t>Export &amp; impression</a:t>
            </a:r>
            <a:endParaRPr lang="en-US" sz="950" dirty="0"/>
          </a:p>
        </p:txBody>
      </p:sp>
      <p:sp>
        <p:nvSpPr>
          <p:cNvPr id="47" name="Shape 45"/>
          <p:cNvSpPr/>
          <p:nvPr/>
        </p:nvSpPr>
        <p:spPr>
          <a:xfrm>
            <a:off x="2926080" y="5760720"/>
            <a:ext cx="6309360" cy="365760"/>
          </a:xfrm>
          <a:prstGeom prst="rect">
            <a:avLst/>
          </a:prstGeom>
          <a:solidFill>
            <a:srgbClr val="0A2540"/>
          </a:solidFill>
          <a:ln w="12700">
            <a:solidFill>
              <a:srgbClr val="0A2540"/>
            </a:solidFill>
            <a:prstDash val="solid"/>
          </a:ln>
        </p:spPr>
      </p:sp>
      <p:sp>
        <p:nvSpPr>
          <p:cNvPr id="48" name="Text 46"/>
          <p:cNvSpPr/>
          <p:nvPr/>
        </p:nvSpPr>
        <p:spPr>
          <a:xfrm>
            <a:off x="2926080" y="5760720"/>
            <a:ext cx="6309360" cy="365760"/>
          </a:xfrm>
          <a:prstGeom prst="rect">
            <a:avLst/>
          </a:prstGeom>
          <a:noFill/>
          <a:ln/>
        </p:spPr>
        <p:txBody>
          <a:bodyPr wrap="square" rtlCol="0" anchor="ctr"/>
          <a:lstStyle/>
          <a:p>
            <a:pPr algn="ctr" indent="0" marL="0">
              <a:buNone/>
            </a:pPr>
            <a:r>
              <a:rPr lang="en-US" sz="850" dirty="0">
                <a:solidFill>
                  <a:srgbClr val="FFFFFF"/>
                </a:solidFill>
              </a:rPr>
              <a:t>Base de données Supabase PostgreSQL  —  Authentification JWT  —  Accès RLS sécurisé</a:t>
            </a:r>
            <a:endParaRPr lang="en-US" sz="850" dirty="0"/>
          </a:p>
        </p:txBody>
      </p:sp>
      <p:sp>
        <p:nvSpPr>
          <p:cNvPr id="49" name="Text 47"/>
          <p:cNvSpPr/>
          <p:nvPr/>
        </p:nvSpPr>
        <p:spPr>
          <a:xfrm>
            <a:off x="365760" y="6583680"/>
            <a:ext cx="11430000" cy="274320"/>
          </a:xfrm>
          <a:prstGeom prst="rect">
            <a:avLst/>
          </a:prstGeom>
          <a:noFill/>
          <a:ln/>
        </p:spPr>
        <p:txBody>
          <a:bodyPr wrap="square" rtlCol="0" anchor="ctr"/>
          <a:lstStyle/>
          <a:p>
            <a:pPr algn="ctr" indent="0" marL="0">
              <a:buNone/>
            </a:pPr>
            <a:r>
              <a:rPr lang="en-US" sz="800" dirty="0">
                <a:solidFill>
                  <a:srgbClr val="64748B"/>
                </a:solidFill>
              </a:rPr>
              <a:t>SNH – Présentation Directoire  |  Confidentiel  |  4 / 12</a:t>
            </a:r>
            <a:endParaRPr lang="en-US" sz="800" dirty="0"/>
          </a:p>
        </p:txBody>
      </p:sp>
      <p:sp>
        <p:nvSpPr>
          <p:cNvPr id="50" name="Shape 48"/>
          <p:cNvSpPr/>
          <p:nvPr/>
        </p:nvSpPr>
        <p:spPr>
          <a:xfrm>
            <a:off x="0" y="6492240"/>
            <a:ext cx="12188952" cy="27432"/>
          </a:xfrm>
          <a:prstGeom prst="rect">
            <a:avLst/>
          </a:prstGeom>
          <a:solidFill>
            <a:srgbClr val="1B6CA8"/>
          </a:solidFill>
          <a:ln w="12700">
            <a:solidFill>
              <a:srgbClr val="1B6CA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1247120" cy="73152"/>
          </a:xfrm>
          <a:prstGeom prst="rect">
            <a:avLst/>
          </a:prstGeom>
          <a:solidFill>
            <a:srgbClr val="1B6CA8"/>
          </a:solidFill>
          <a:ln w="12700">
            <a:solidFill>
              <a:srgbClr val="1B6CA8"/>
            </a:solidFill>
            <a:prstDash val="solid"/>
          </a:ln>
        </p:spPr>
      </p:sp>
      <p:sp>
        <p:nvSpPr>
          <p:cNvPr id="3" name="Text 1"/>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03 – PORTAIL CANDIDAT</a:t>
            </a:r>
            <a:endParaRPr lang="en-US" sz="1000" dirty="0"/>
          </a:p>
        </p:txBody>
      </p:sp>
      <p:sp>
        <p:nvSpPr>
          <p:cNvPr id="4" name="Text 2"/>
          <p:cNvSpPr/>
          <p:nvPr/>
        </p:nvSpPr>
        <p:spPr>
          <a:xfrm>
            <a:off x="457200" y="685800"/>
            <a:ext cx="10972800" cy="502920"/>
          </a:xfrm>
          <a:prstGeom prst="rect">
            <a:avLst/>
          </a:prstGeom>
          <a:noFill/>
          <a:ln/>
        </p:spPr>
        <p:txBody>
          <a:bodyPr wrap="square" rtlCol="0" anchor="ctr"/>
          <a:lstStyle/>
          <a:p>
            <a:pPr indent="0" marL="0">
              <a:buNone/>
            </a:pPr>
            <a:r>
              <a:rPr lang="en-US" sz="2200" b="1" dirty="0">
                <a:solidFill>
                  <a:srgbClr val="0A2540"/>
                </a:solidFill>
              </a:rPr>
              <a:t>Espace Libre-Service pour les Candidats</a:t>
            </a:r>
            <a:endParaRPr lang="en-US" sz="2200" dirty="0"/>
          </a:p>
        </p:txBody>
      </p:sp>
      <p:sp>
        <p:nvSpPr>
          <p:cNvPr id="5" name="Shape 3"/>
          <p:cNvSpPr/>
          <p:nvPr/>
        </p:nvSpPr>
        <p:spPr>
          <a:xfrm>
            <a:off x="365760" y="1417320"/>
            <a:ext cx="3566160" cy="384048"/>
          </a:xfrm>
          <a:prstGeom prst="rect">
            <a:avLst/>
          </a:prstGeom>
          <a:solidFill>
            <a:srgbClr val="1B6CA8"/>
          </a:solidFill>
          <a:ln w="12700">
            <a:solidFill>
              <a:srgbClr val="1B6CA8"/>
            </a:solidFill>
            <a:prstDash val="solid"/>
          </a:ln>
        </p:spPr>
      </p:sp>
      <p:sp>
        <p:nvSpPr>
          <p:cNvPr id="6" name="Text 4"/>
          <p:cNvSpPr/>
          <p:nvPr/>
        </p:nvSpPr>
        <p:spPr>
          <a:xfrm>
            <a:off x="457200" y="1417320"/>
            <a:ext cx="3383280" cy="384048"/>
          </a:xfrm>
          <a:prstGeom prst="rect">
            <a:avLst/>
          </a:prstGeom>
          <a:noFill/>
          <a:ln/>
        </p:spPr>
        <p:txBody>
          <a:bodyPr wrap="square" rtlCol="0" anchor="ctr"/>
          <a:lstStyle/>
          <a:p>
            <a:pPr indent="0" marL="0">
              <a:buNone/>
            </a:pPr>
            <a:r>
              <a:rPr lang="en-US" sz="1000" b="1" dirty="0">
                <a:solidFill>
                  <a:srgbClr val="FFFFFF"/>
                </a:solidFill>
              </a:rPr>
              <a:t>Inscription &amp; Authentification</a:t>
            </a:r>
            <a:endParaRPr lang="en-US" sz="1000" dirty="0"/>
          </a:p>
        </p:txBody>
      </p:sp>
      <p:sp>
        <p:nvSpPr>
          <p:cNvPr id="7" name="Shape 5"/>
          <p:cNvSpPr/>
          <p:nvPr/>
        </p:nvSpPr>
        <p:spPr>
          <a:xfrm>
            <a:off x="365760" y="1801368"/>
            <a:ext cx="3566160" cy="1783080"/>
          </a:xfrm>
          <a:prstGeom prst="rect">
            <a:avLst/>
          </a:prstGeom>
          <a:solidFill>
            <a:srgbClr val="F1F5F9"/>
          </a:solidFill>
          <a:ln w="12700">
            <a:solidFill>
              <a:srgbClr val="E2E8F0"/>
            </a:solidFill>
            <a:prstDash val="solid"/>
          </a:ln>
        </p:spPr>
      </p:sp>
      <p:sp>
        <p:nvSpPr>
          <p:cNvPr id="8" name="Text 6"/>
          <p:cNvSpPr/>
          <p:nvPr/>
        </p:nvSpPr>
        <p:spPr>
          <a:xfrm>
            <a:off x="475488" y="1892808"/>
            <a:ext cx="3337560" cy="1627632"/>
          </a:xfrm>
          <a:prstGeom prst="rect">
            <a:avLst/>
          </a:prstGeom>
          <a:noFill/>
          <a:ln/>
        </p:spPr>
        <p:txBody>
          <a:bodyPr wrap="square" rtlCol="0" anchor="ctr"/>
          <a:lstStyle/>
          <a:p>
            <a:pPr indent="0" marL="0">
              <a:lnSpc>
                <a:spcPct val="130000"/>
              </a:lnSpc>
              <a:buNone/>
            </a:pPr>
            <a:r>
              <a:rPr lang="en-US" sz="950" dirty="0">
                <a:solidFill>
                  <a:srgbClr val="0A2540"/>
                </a:solidFill>
              </a:rPr>
              <a:t>Création de compte avec email vérifié. Connexion sécurisée. Changement de mot de passe obligatoire à la première connexion.</a:t>
            </a:r>
            <a:endParaRPr lang="en-US" sz="950" dirty="0"/>
          </a:p>
        </p:txBody>
      </p:sp>
      <p:sp>
        <p:nvSpPr>
          <p:cNvPr id="9" name="Shape 7"/>
          <p:cNvSpPr/>
          <p:nvPr/>
        </p:nvSpPr>
        <p:spPr>
          <a:xfrm>
            <a:off x="4251960" y="1417320"/>
            <a:ext cx="3566160" cy="384048"/>
          </a:xfrm>
          <a:prstGeom prst="rect">
            <a:avLst/>
          </a:prstGeom>
          <a:solidFill>
            <a:srgbClr val="0E7490"/>
          </a:solidFill>
          <a:ln w="12700">
            <a:solidFill>
              <a:srgbClr val="0E7490"/>
            </a:solidFill>
            <a:prstDash val="solid"/>
          </a:ln>
        </p:spPr>
      </p:sp>
      <p:sp>
        <p:nvSpPr>
          <p:cNvPr id="10" name="Text 8"/>
          <p:cNvSpPr/>
          <p:nvPr/>
        </p:nvSpPr>
        <p:spPr>
          <a:xfrm>
            <a:off x="4343400" y="1417320"/>
            <a:ext cx="3383280" cy="384048"/>
          </a:xfrm>
          <a:prstGeom prst="rect">
            <a:avLst/>
          </a:prstGeom>
          <a:noFill/>
          <a:ln/>
        </p:spPr>
        <p:txBody>
          <a:bodyPr wrap="square" rtlCol="0" anchor="ctr"/>
          <a:lstStyle/>
          <a:p>
            <a:pPr indent="0" marL="0">
              <a:buNone/>
            </a:pPr>
            <a:r>
              <a:rPr lang="en-US" sz="1000" b="1" dirty="0">
                <a:solidFill>
                  <a:srgbClr val="FFFFFF"/>
                </a:solidFill>
              </a:rPr>
              <a:t>Profil Professionnel Complet</a:t>
            </a:r>
            <a:endParaRPr lang="en-US" sz="1000" dirty="0"/>
          </a:p>
        </p:txBody>
      </p:sp>
      <p:sp>
        <p:nvSpPr>
          <p:cNvPr id="11" name="Shape 9"/>
          <p:cNvSpPr/>
          <p:nvPr/>
        </p:nvSpPr>
        <p:spPr>
          <a:xfrm>
            <a:off x="4251960" y="1801368"/>
            <a:ext cx="3566160" cy="1783080"/>
          </a:xfrm>
          <a:prstGeom prst="rect">
            <a:avLst/>
          </a:prstGeom>
          <a:solidFill>
            <a:srgbClr val="F1F5F9"/>
          </a:solidFill>
          <a:ln w="12700">
            <a:solidFill>
              <a:srgbClr val="E2E8F0"/>
            </a:solidFill>
            <a:prstDash val="solid"/>
          </a:ln>
        </p:spPr>
      </p:sp>
      <p:sp>
        <p:nvSpPr>
          <p:cNvPr id="12" name="Text 10"/>
          <p:cNvSpPr/>
          <p:nvPr/>
        </p:nvSpPr>
        <p:spPr>
          <a:xfrm>
            <a:off x="4361688" y="1892808"/>
            <a:ext cx="3337560" cy="1627632"/>
          </a:xfrm>
          <a:prstGeom prst="rect">
            <a:avLst/>
          </a:prstGeom>
          <a:noFill/>
          <a:ln/>
        </p:spPr>
        <p:txBody>
          <a:bodyPr wrap="square" rtlCol="0" anchor="ctr"/>
          <a:lstStyle/>
          <a:p>
            <a:pPr indent="0" marL="0">
              <a:lnSpc>
                <a:spcPct val="130000"/>
              </a:lnSpc>
              <a:buNone/>
            </a:pPr>
            <a:r>
              <a:rPr lang="en-US" sz="950" dirty="0">
                <a:solidFill>
                  <a:srgbClr val="0A2540"/>
                </a:solidFill>
              </a:rPr>
              <a:t>Titre de poste, localisation, coordonnées, LinkedIn, portfolio. Photo de profil. Compétences avec niveaux de maîtrise.</a:t>
            </a:r>
            <a:endParaRPr lang="en-US" sz="950" dirty="0"/>
          </a:p>
        </p:txBody>
      </p:sp>
      <p:sp>
        <p:nvSpPr>
          <p:cNvPr id="13" name="Shape 11"/>
          <p:cNvSpPr/>
          <p:nvPr/>
        </p:nvSpPr>
        <p:spPr>
          <a:xfrm>
            <a:off x="8138160" y="1417320"/>
            <a:ext cx="3566160" cy="384048"/>
          </a:xfrm>
          <a:prstGeom prst="rect">
            <a:avLst/>
          </a:prstGeom>
          <a:solidFill>
            <a:srgbClr val="16A34A"/>
          </a:solidFill>
          <a:ln w="12700">
            <a:solidFill>
              <a:srgbClr val="16A34A"/>
            </a:solidFill>
            <a:prstDash val="solid"/>
          </a:ln>
        </p:spPr>
      </p:sp>
      <p:sp>
        <p:nvSpPr>
          <p:cNvPr id="14" name="Text 12"/>
          <p:cNvSpPr/>
          <p:nvPr/>
        </p:nvSpPr>
        <p:spPr>
          <a:xfrm>
            <a:off x="8229600" y="1417320"/>
            <a:ext cx="3383280" cy="384048"/>
          </a:xfrm>
          <a:prstGeom prst="rect">
            <a:avLst/>
          </a:prstGeom>
          <a:noFill/>
          <a:ln/>
        </p:spPr>
        <p:txBody>
          <a:bodyPr wrap="square" rtlCol="0" anchor="ctr"/>
          <a:lstStyle/>
          <a:p>
            <a:pPr indent="0" marL="0">
              <a:buNone/>
            </a:pPr>
            <a:r>
              <a:rPr lang="en-US" sz="1000" b="1" dirty="0">
                <a:solidFill>
                  <a:srgbClr val="FFFFFF"/>
                </a:solidFill>
              </a:rPr>
              <a:t>Curriculum Vitae Structuré</a:t>
            </a:r>
            <a:endParaRPr lang="en-US" sz="1000" dirty="0"/>
          </a:p>
        </p:txBody>
      </p:sp>
      <p:sp>
        <p:nvSpPr>
          <p:cNvPr id="15" name="Shape 13"/>
          <p:cNvSpPr/>
          <p:nvPr/>
        </p:nvSpPr>
        <p:spPr>
          <a:xfrm>
            <a:off x="8138160" y="1801368"/>
            <a:ext cx="3566160" cy="1783080"/>
          </a:xfrm>
          <a:prstGeom prst="rect">
            <a:avLst/>
          </a:prstGeom>
          <a:solidFill>
            <a:srgbClr val="F1F5F9"/>
          </a:solidFill>
          <a:ln w="12700">
            <a:solidFill>
              <a:srgbClr val="E2E8F0"/>
            </a:solidFill>
            <a:prstDash val="solid"/>
          </a:ln>
        </p:spPr>
      </p:sp>
      <p:sp>
        <p:nvSpPr>
          <p:cNvPr id="16" name="Text 14"/>
          <p:cNvSpPr/>
          <p:nvPr/>
        </p:nvSpPr>
        <p:spPr>
          <a:xfrm>
            <a:off x="8247888" y="1892808"/>
            <a:ext cx="3337560" cy="1627632"/>
          </a:xfrm>
          <a:prstGeom prst="rect">
            <a:avLst/>
          </a:prstGeom>
          <a:noFill/>
          <a:ln/>
        </p:spPr>
        <p:txBody>
          <a:bodyPr wrap="square" rtlCol="0" anchor="ctr"/>
          <a:lstStyle/>
          <a:p>
            <a:pPr indent="0" marL="0">
              <a:lnSpc>
                <a:spcPct val="130000"/>
              </a:lnSpc>
              <a:buNone/>
            </a:pPr>
            <a:r>
              <a:rPr lang="en-US" sz="950" dirty="0">
                <a:solidFill>
                  <a:srgbClr val="0A2540"/>
                </a:solidFill>
              </a:rPr>
              <a:t>Formations (diplôme, établissement, filière). Expériences professionnelles avec dates. Langues et certifications.</a:t>
            </a:r>
            <a:endParaRPr lang="en-US" sz="950" dirty="0"/>
          </a:p>
        </p:txBody>
      </p:sp>
      <p:sp>
        <p:nvSpPr>
          <p:cNvPr id="17" name="Shape 15"/>
          <p:cNvSpPr/>
          <p:nvPr/>
        </p:nvSpPr>
        <p:spPr>
          <a:xfrm>
            <a:off x="365760" y="3794760"/>
            <a:ext cx="3566160" cy="384048"/>
          </a:xfrm>
          <a:prstGeom prst="rect">
            <a:avLst/>
          </a:prstGeom>
          <a:solidFill>
            <a:srgbClr val="D97706"/>
          </a:solidFill>
          <a:ln w="12700">
            <a:solidFill>
              <a:srgbClr val="D97706"/>
            </a:solidFill>
            <a:prstDash val="solid"/>
          </a:ln>
        </p:spPr>
      </p:sp>
      <p:sp>
        <p:nvSpPr>
          <p:cNvPr id="18" name="Text 16"/>
          <p:cNvSpPr/>
          <p:nvPr/>
        </p:nvSpPr>
        <p:spPr>
          <a:xfrm>
            <a:off x="457200" y="3794760"/>
            <a:ext cx="3383280" cy="384048"/>
          </a:xfrm>
          <a:prstGeom prst="rect">
            <a:avLst/>
          </a:prstGeom>
          <a:noFill/>
          <a:ln/>
        </p:spPr>
        <p:txBody>
          <a:bodyPr wrap="square" rtlCol="0" anchor="ctr"/>
          <a:lstStyle/>
          <a:p>
            <a:pPr indent="0" marL="0">
              <a:buNone/>
            </a:pPr>
            <a:r>
              <a:rPr lang="en-US" sz="1000" b="1" dirty="0">
                <a:solidFill>
                  <a:srgbClr val="FFFFFF"/>
                </a:solidFill>
              </a:rPr>
              <a:t>Candidature en Ligne</a:t>
            </a:r>
            <a:endParaRPr lang="en-US" sz="1000" dirty="0"/>
          </a:p>
        </p:txBody>
      </p:sp>
      <p:sp>
        <p:nvSpPr>
          <p:cNvPr id="19" name="Shape 17"/>
          <p:cNvSpPr/>
          <p:nvPr/>
        </p:nvSpPr>
        <p:spPr>
          <a:xfrm>
            <a:off x="365760" y="4178808"/>
            <a:ext cx="3566160" cy="1783080"/>
          </a:xfrm>
          <a:prstGeom prst="rect">
            <a:avLst/>
          </a:prstGeom>
          <a:solidFill>
            <a:srgbClr val="F1F5F9"/>
          </a:solidFill>
          <a:ln w="12700">
            <a:solidFill>
              <a:srgbClr val="E2E8F0"/>
            </a:solidFill>
            <a:prstDash val="solid"/>
          </a:ln>
        </p:spPr>
      </p:sp>
      <p:sp>
        <p:nvSpPr>
          <p:cNvPr id="20" name="Text 18"/>
          <p:cNvSpPr/>
          <p:nvPr/>
        </p:nvSpPr>
        <p:spPr>
          <a:xfrm>
            <a:off x="475488" y="4270248"/>
            <a:ext cx="3337560" cy="1627632"/>
          </a:xfrm>
          <a:prstGeom prst="rect">
            <a:avLst/>
          </a:prstGeom>
          <a:noFill/>
          <a:ln/>
        </p:spPr>
        <p:txBody>
          <a:bodyPr wrap="square" rtlCol="0" anchor="ctr"/>
          <a:lstStyle/>
          <a:p>
            <a:pPr indent="0" marL="0">
              <a:lnSpc>
                <a:spcPct val="130000"/>
              </a:lnSpc>
              <a:buNone/>
            </a:pPr>
            <a:r>
              <a:rPr lang="en-US" sz="950" dirty="0">
                <a:solidFill>
                  <a:srgbClr val="0A2540"/>
                </a:solidFill>
              </a:rPr>
              <a:t>Consultation des offres publiées. Dépôt de candidature en quelques clics. Lettre de motivation intégrée.</a:t>
            </a:r>
            <a:endParaRPr lang="en-US" sz="950" dirty="0"/>
          </a:p>
        </p:txBody>
      </p:sp>
      <p:sp>
        <p:nvSpPr>
          <p:cNvPr id="21" name="Shape 19"/>
          <p:cNvSpPr/>
          <p:nvPr/>
        </p:nvSpPr>
        <p:spPr>
          <a:xfrm>
            <a:off x="4251960" y="3794760"/>
            <a:ext cx="3566160" cy="384048"/>
          </a:xfrm>
          <a:prstGeom prst="rect">
            <a:avLst/>
          </a:prstGeom>
          <a:solidFill>
            <a:srgbClr val="7C3AED"/>
          </a:solidFill>
          <a:ln w="12700">
            <a:solidFill>
              <a:srgbClr val="7C3AED"/>
            </a:solidFill>
            <a:prstDash val="solid"/>
          </a:ln>
        </p:spPr>
      </p:sp>
      <p:sp>
        <p:nvSpPr>
          <p:cNvPr id="22" name="Text 20"/>
          <p:cNvSpPr/>
          <p:nvPr/>
        </p:nvSpPr>
        <p:spPr>
          <a:xfrm>
            <a:off x="4343400" y="3794760"/>
            <a:ext cx="3383280" cy="384048"/>
          </a:xfrm>
          <a:prstGeom prst="rect">
            <a:avLst/>
          </a:prstGeom>
          <a:noFill/>
          <a:ln/>
        </p:spPr>
        <p:txBody>
          <a:bodyPr wrap="square" rtlCol="0" anchor="ctr"/>
          <a:lstStyle/>
          <a:p>
            <a:pPr indent="0" marL="0">
              <a:buNone/>
            </a:pPr>
            <a:r>
              <a:rPr lang="en-US" sz="1000" b="1" dirty="0">
                <a:solidFill>
                  <a:srgbClr val="FFFFFF"/>
                </a:solidFill>
              </a:rPr>
              <a:t>Gestion des Documents</a:t>
            </a:r>
            <a:endParaRPr lang="en-US" sz="1000" dirty="0"/>
          </a:p>
        </p:txBody>
      </p:sp>
      <p:sp>
        <p:nvSpPr>
          <p:cNvPr id="23" name="Shape 21"/>
          <p:cNvSpPr/>
          <p:nvPr/>
        </p:nvSpPr>
        <p:spPr>
          <a:xfrm>
            <a:off x="4251960" y="4178808"/>
            <a:ext cx="3566160" cy="1783080"/>
          </a:xfrm>
          <a:prstGeom prst="rect">
            <a:avLst/>
          </a:prstGeom>
          <a:solidFill>
            <a:srgbClr val="F1F5F9"/>
          </a:solidFill>
          <a:ln w="12700">
            <a:solidFill>
              <a:srgbClr val="E2E8F0"/>
            </a:solidFill>
            <a:prstDash val="solid"/>
          </a:ln>
        </p:spPr>
      </p:sp>
      <p:sp>
        <p:nvSpPr>
          <p:cNvPr id="24" name="Text 22"/>
          <p:cNvSpPr/>
          <p:nvPr/>
        </p:nvSpPr>
        <p:spPr>
          <a:xfrm>
            <a:off x="4361688" y="4270248"/>
            <a:ext cx="3337560" cy="1627632"/>
          </a:xfrm>
          <a:prstGeom prst="rect">
            <a:avLst/>
          </a:prstGeom>
          <a:noFill/>
          <a:ln/>
        </p:spPr>
        <p:txBody>
          <a:bodyPr wrap="square" rtlCol="0" anchor="ctr"/>
          <a:lstStyle/>
          <a:p>
            <a:pPr indent="0" marL="0">
              <a:lnSpc>
                <a:spcPct val="130000"/>
              </a:lnSpc>
              <a:buNone/>
            </a:pPr>
            <a:r>
              <a:rPr lang="en-US" sz="950" dirty="0">
                <a:solidFill>
                  <a:srgbClr val="0A2540"/>
                </a:solidFill>
              </a:rPr>
              <a:t>Upload des pièces (CV, diplômes, certificats). Suivi des dates d'expiration. Documents sécurisés dans le cloud.</a:t>
            </a:r>
            <a:endParaRPr lang="en-US" sz="950" dirty="0"/>
          </a:p>
        </p:txBody>
      </p:sp>
      <p:sp>
        <p:nvSpPr>
          <p:cNvPr id="25" name="Shape 23"/>
          <p:cNvSpPr/>
          <p:nvPr/>
        </p:nvSpPr>
        <p:spPr>
          <a:xfrm>
            <a:off x="8138160" y="3794760"/>
            <a:ext cx="3566160" cy="384048"/>
          </a:xfrm>
          <a:prstGeom prst="rect">
            <a:avLst/>
          </a:prstGeom>
          <a:solidFill>
            <a:srgbClr val="DB2777"/>
          </a:solidFill>
          <a:ln w="12700">
            <a:solidFill>
              <a:srgbClr val="DB2777"/>
            </a:solidFill>
            <a:prstDash val="solid"/>
          </a:ln>
        </p:spPr>
      </p:sp>
      <p:sp>
        <p:nvSpPr>
          <p:cNvPr id="26" name="Text 24"/>
          <p:cNvSpPr/>
          <p:nvPr/>
        </p:nvSpPr>
        <p:spPr>
          <a:xfrm>
            <a:off x="8229600" y="3794760"/>
            <a:ext cx="3383280" cy="384048"/>
          </a:xfrm>
          <a:prstGeom prst="rect">
            <a:avLst/>
          </a:prstGeom>
          <a:noFill/>
          <a:ln/>
        </p:spPr>
        <p:txBody>
          <a:bodyPr wrap="square" rtlCol="0" anchor="ctr"/>
          <a:lstStyle/>
          <a:p>
            <a:pPr indent="0" marL="0">
              <a:buNone/>
            </a:pPr>
            <a:r>
              <a:rPr lang="en-US" sz="1000" b="1" dirty="0">
                <a:solidFill>
                  <a:srgbClr val="FFFFFF"/>
                </a:solidFill>
              </a:rPr>
              <a:t>Suivi en Temps Réel</a:t>
            </a:r>
            <a:endParaRPr lang="en-US" sz="1000" dirty="0"/>
          </a:p>
        </p:txBody>
      </p:sp>
      <p:sp>
        <p:nvSpPr>
          <p:cNvPr id="27" name="Shape 25"/>
          <p:cNvSpPr/>
          <p:nvPr/>
        </p:nvSpPr>
        <p:spPr>
          <a:xfrm>
            <a:off x="8138160" y="4178808"/>
            <a:ext cx="3566160" cy="1783080"/>
          </a:xfrm>
          <a:prstGeom prst="rect">
            <a:avLst/>
          </a:prstGeom>
          <a:solidFill>
            <a:srgbClr val="F1F5F9"/>
          </a:solidFill>
          <a:ln w="12700">
            <a:solidFill>
              <a:srgbClr val="E2E8F0"/>
            </a:solidFill>
            <a:prstDash val="solid"/>
          </a:ln>
        </p:spPr>
      </p:sp>
      <p:sp>
        <p:nvSpPr>
          <p:cNvPr id="28" name="Text 26"/>
          <p:cNvSpPr/>
          <p:nvPr/>
        </p:nvSpPr>
        <p:spPr>
          <a:xfrm>
            <a:off x="8247888" y="4270248"/>
            <a:ext cx="3337560" cy="1627632"/>
          </a:xfrm>
          <a:prstGeom prst="rect">
            <a:avLst/>
          </a:prstGeom>
          <a:noFill/>
          <a:ln/>
        </p:spPr>
        <p:txBody>
          <a:bodyPr wrap="square" rtlCol="0" anchor="ctr"/>
          <a:lstStyle/>
          <a:p>
            <a:pPr indent="0" marL="0">
              <a:lnSpc>
                <a:spcPct val="130000"/>
              </a:lnSpc>
              <a:buNone/>
            </a:pPr>
            <a:r>
              <a:rPr lang="en-US" sz="950" dirty="0">
                <a:solidFill>
                  <a:srgbClr val="0A2540"/>
                </a:solidFill>
              </a:rPr>
              <a:t>Tableau de bord candidat. Statut de la candidature à chaque étape du pipeline. Notifications par email.</a:t>
            </a:r>
            <a:endParaRPr lang="en-US" sz="950" dirty="0"/>
          </a:p>
        </p:txBody>
      </p:sp>
      <p:sp>
        <p:nvSpPr>
          <p:cNvPr id="29" name="Text 27"/>
          <p:cNvSpPr/>
          <p:nvPr/>
        </p:nvSpPr>
        <p:spPr>
          <a:xfrm>
            <a:off x="365760" y="6583680"/>
            <a:ext cx="11430000" cy="274320"/>
          </a:xfrm>
          <a:prstGeom prst="rect">
            <a:avLst/>
          </a:prstGeom>
          <a:noFill/>
          <a:ln/>
        </p:spPr>
        <p:txBody>
          <a:bodyPr wrap="square" rtlCol="0" anchor="ctr"/>
          <a:lstStyle/>
          <a:p>
            <a:pPr algn="ctr" indent="0" marL="0">
              <a:buNone/>
            </a:pPr>
            <a:r>
              <a:rPr lang="en-US" sz="800" dirty="0">
                <a:solidFill>
                  <a:srgbClr val="64748B"/>
                </a:solidFill>
              </a:rPr>
              <a:t>SNH – Présentation Directoire  |  Confidentiel  |  5 / 12</a:t>
            </a:r>
            <a:endParaRPr lang="en-US" sz="800" dirty="0"/>
          </a:p>
        </p:txBody>
      </p:sp>
      <p:sp>
        <p:nvSpPr>
          <p:cNvPr id="30" name="Shape 28"/>
          <p:cNvSpPr/>
          <p:nvPr/>
        </p:nvSpPr>
        <p:spPr>
          <a:xfrm>
            <a:off x="0" y="6492240"/>
            <a:ext cx="12188952" cy="27432"/>
          </a:xfrm>
          <a:prstGeom prst="rect">
            <a:avLst/>
          </a:prstGeom>
          <a:solidFill>
            <a:srgbClr val="1B6CA8"/>
          </a:solidFill>
          <a:ln w="12700">
            <a:solidFill>
              <a:srgbClr val="1B6CA8"/>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1247120" cy="73152"/>
          </a:xfrm>
          <a:prstGeom prst="rect">
            <a:avLst/>
          </a:prstGeom>
          <a:solidFill>
            <a:srgbClr val="1B6CA8"/>
          </a:solidFill>
          <a:ln w="12700">
            <a:solidFill>
              <a:srgbClr val="1B6CA8"/>
            </a:solidFill>
            <a:prstDash val="solid"/>
          </a:ln>
        </p:spPr>
      </p:sp>
      <p:sp>
        <p:nvSpPr>
          <p:cNvPr id="3" name="Text 1"/>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04 – ESPACE RECRUTEMENT RH</a:t>
            </a:r>
            <a:endParaRPr lang="en-US" sz="1000" dirty="0"/>
          </a:p>
        </p:txBody>
      </p:sp>
      <p:sp>
        <p:nvSpPr>
          <p:cNvPr id="4" name="Text 2"/>
          <p:cNvSpPr/>
          <p:nvPr/>
        </p:nvSpPr>
        <p:spPr>
          <a:xfrm>
            <a:off x="457200" y="685800"/>
            <a:ext cx="10972800" cy="502920"/>
          </a:xfrm>
          <a:prstGeom prst="rect">
            <a:avLst/>
          </a:prstGeom>
          <a:noFill/>
          <a:ln/>
        </p:spPr>
        <p:txBody>
          <a:bodyPr wrap="square" rtlCol="0" anchor="ctr"/>
          <a:lstStyle/>
          <a:p>
            <a:pPr indent="0" marL="0">
              <a:buNone/>
            </a:pPr>
            <a:r>
              <a:rPr lang="en-US" sz="2200" b="1" dirty="0">
                <a:solidFill>
                  <a:srgbClr val="0A2540"/>
                </a:solidFill>
              </a:rPr>
              <a:t>Gestion Interne des Offres et des Dossiers</a:t>
            </a:r>
            <a:endParaRPr lang="en-US" sz="2200" dirty="0"/>
          </a:p>
        </p:txBody>
      </p:sp>
      <p:sp>
        <p:nvSpPr>
          <p:cNvPr id="5" name="Text 3"/>
          <p:cNvSpPr/>
          <p:nvPr/>
        </p:nvSpPr>
        <p:spPr>
          <a:xfrm>
            <a:off x="457200" y="1371600"/>
            <a:ext cx="5303520" cy="320040"/>
          </a:xfrm>
          <a:prstGeom prst="rect">
            <a:avLst/>
          </a:prstGeom>
          <a:noFill/>
          <a:ln/>
        </p:spPr>
        <p:txBody>
          <a:bodyPr wrap="square" rtlCol="0" anchor="ctr"/>
          <a:lstStyle/>
          <a:p>
            <a:pPr indent="0" marL="0">
              <a:buNone/>
            </a:pPr>
            <a:r>
              <a:rPr lang="en-US" sz="900" b="1" spc="150" kern="0" dirty="0">
                <a:solidFill>
                  <a:srgbClr val="1B6CA8"/>
                </a:solidFill>
              </a:rPr>
              <a:t>WORKFLOW DEMANDE DE RECRUTEMENT</a:t>
            </a:r>
            <a:endParaRPr lang="en-US" sz="900" dirty="0"/>
          </a:p>
        </p:txBody>
      </p:sp>
      <p:sp>
        <p:nvSpPr>
          <p:cNvPr id="6" name="Shape 4"/>
          <p:cNvSpPr/>
          <p:nvPr/>
        </p:nvSpPr>
        <p:spPr>
          <a:xfrm>
            <a:off x="457200" y="1783080"/>
            <a:ext cx="320040" cy="320040"/>
          </a:xfrm>
          <a:prstGeom prst="rect">
            <a:avLst/>
          </a:prstGeom>
          <a:solidFill>
            <a:srgbClr val="64748B"/>
          </a:solidFill>
          <a:ln w="12700">
            <a:solidFill>
              <a:srgbClr val="64748B"/>
            </a:solidFill>
            <a:prstDash val="solid"/>
          </a:ln>
        </p:spPr>
      </p:sp>
      <p:sp>
        <p:nvSpPr>
          <p:cNvPr id="7" name="Text 5"/>
          <p:cNvSpPr/>
          <p:nvPr/>
        </p:nvSpPr>
        <p:spPr>
          <a:xfrm>
            <a:off x="457200" y="1783080"/>
            <a:ext cx="320040" cy="320040"/>
          </a:xfrm>
          <a:prstGeom prst="rect">
            <a:avLst/>
          </a:prstGeom>
          <a:noFill/>
          <a:ln/>
        </p:spPr>
        <p:txBody>
          <a:bodyPr wrap="square" rtlCol="0" anchor="ctr"/>
          <a:lstStyle/>
          <a:p>
            <a:pPr algn="ctr" indent="0" marL="0">
              <a:buNone/>
            </a:pPr>
            <a:r>
              <a:rPr lang="en-US" sz="1000" b="1" dirty="0">
                <a:solidFill>
                  <a:srgbClr val="FFFFFF"/>
                </a:solidFill>
              </a:rPr>
              <a:t>1</a:t>
            </a:r>
            <a:endParaRPr lang="en-US" sz="1000" dirty="0"/>
          </a:p>
        </p:txBody>
      </p:sp>
      <p:sp>
        <p:nvSpPr>
          <p:cNvPr id="8" name="Text 6"/>
          <p:cNvSpPr/>
          <p:nvPr/>
        </p:nvSpPr>
        <p:spPr>
          <a:xfrm>
            <a:off x="868680" y="1792224"/>
            <a:ext cx="4846320" cy="182880"/>
          </a:xfrm>
          <a:prstGeom prst="rect">
            <a:avLst/>
          </a:prstGeom>
          <a:noFill/>
          <a:ln/>
        </p:spPr>
        <p:txBody>
          <a:bodyPr wrap="square" rtlCol="0" anchor="ctr"/>
          <a:lstStyle/>
          <a:p>
            <a:pPr indent="0" marL="0">
              <a:buNone/>
            </a:pPr>
            <a:r>
              <a:rPr lang="en-US" sz="900" b="1" dirty="0">
                <a:solidFill>
                  <a:srgbClr val="0A2540"/>
                </a:solidFill>
              </a:rPr>
              <a:t>Responsable de service</a:t>
            </a:r>
            <a:endParaRPr lang="en-US" sz="900" dirty="0"/>
          </a:p>
        </p:txBody>
      </p:sp>
      <p:sp>
        <p:nvSpPr>
          <p:cNvPr id="9" name="Text 7"/>
          <p:cNvSpPr/>
          <p:nvPr/>
        </p:nvSpPr>
        <p:spPr>
          <a:xfrm>
            <a:off x="868680" y="1965960"/>
            <a:ext cx="4846320" cy="182880"/>
          </a:xfrm>
          <a:prstGeom prst="rect">
            <a:avLst/>
          </a:prstGeom>
          <a:noFill/>
          <a:ln/>
        </p:spPr>
        <p:txBody>
          <a:bodyPr wrap="square" rtlCol="0" anchor="ctr"/>
          <a:lstStyle/>
          <a:p>
            <a:pPr indent="0" marL="0">
              <a:buNone/>
            </a:pPr>
            <a:r>
              <a:rPr lang="en-US" sz="850" i="1" dirty="0">
                <a:solidFill>
                  <a:srgbClr val="64748B"/>
                </a:solidFill>
              </a:rPr>
              <a:t>Saisit la demande (poste, motif, budget)</a:t>
            </a:r>
            <a:endParaRPr lang="en-US" sz="850" dirty="0"/>
          </a:p>
        </p:txBody>
      </p:sp>
      <p:sp>
        <p:nvSpPr>
          <p:cNvPr id="10" name="Shape 8"/>
          <p:cNvSpPr/>
          <p:nvPr/>
        </p:nvSpPr>
        <p:spPr>
          <a:xfrm>
            <a:off x="612648" y="2103120"/>
            <a:ext cx="0" cy="393192"/>
          </a:xfrm>
          <a:prstGeom prst="line">
            <a:avLst/>
          </a:prstGeom>
          <a:noFill/>
          <a:ln w="19050">
            <a:solidFill>
              <a:srgbClr val="CBD5E1"/>
            </a:solidFill>
            <a:prstDash val="solid"/>
          </a:ln>
        </p:spPr>
      </p:sp>
      <p:sp>
        <p:nvSpPr>
          <p:cNvPr id="11" name="Shape 9"/>
          <p:cNvSpPr/>
          <p:nvPr/>
        </p:nvSpPr>
        <p:spPr>
          <a:xfrm>
            <a:off x="457200" y="2496312"/>
            <a:ext cx="320040" cy="320040"/>
          </a:xfrm>
          <a:prstGeom prst="rect">
            <a:avLst/>
          </a:prstGeom>
          <a:solidFill>
            <a:srgbClr val="1B6CA8"/>
          </a:solidFill>
          <a:ln w="12700">
            <a:solidFill>
              <a:srgbClr val="1B6CA8"/>
            </a:solidFill>
            <a:prstDash val="solid"/>
          </a:ln>
        </p:spPr>
      </p:sp>
      <p:sp>
        <p:nvSpPr>
          <p:cNvPr id="12" name="Text 10"/>
          <p:cNvSpPr/>
          <p:nvPr/>
        </p:nvSpPr>
        <p:spPr>
          <a:xfrm>
            <a:off x="457200" y="2496312"/>
            <a:ext cx="320040" cy="320040"/>
          </a:xfrm>
          <a:prstGeom prst="rect">
            <a:avLst/>
          </a:prstGeom>
          <a:noFill/>
          <a:ln/>
        </p:spPr>
        <p:txBody>
          <a:bodyPr wrap="square" rtlCol="0" anchor="ctr"/>
          <a:lstStyle/>
          <a:p>
            <a:pPr algn="ctr" indent="0" marL="0">
              <a:buNone/>
            </a:pPr>
            <a:r>
              <a:rPr lang="en-US" sz="1000" b="1" dirty="0">
                <a:solidFill>
                  <a:srgbClr val="FFFFFF"/>
                </a:solidFill>
              </a:rPr>
              <a:t>2</a:t>
            </a:r>
            <a:endParaRPr lang="en-US" sz="1000" dirty="0"/>
          </a:p>
        </p:txBody>
      </p:sp>
      <p:sp>
        <p:nvSpPr>
          <p:cNvPr id="13" name="Text 11"/>
          <p:cNvSpPr/>
          <p:nvPr/>
        </p:nvSpPr>
        <p:spPr>
          <a:xfrm>
            <a:off x="868680" y="2505456"/>
            <a:ext cx="4846320" cy="182880"/>
          </a:xfrm>
          <a:prstGeom prst="rect">
            <a:avLst/>
          </a:prstGeom>
          <a:noFill/>
          <a:ln/>
        </p:spPr>
        <p:txBody>
          <a:bodyPr wrap="square" rtlCol="0" anchor="ctr"/>
          <a:lstStyle/>
          <a:p>
            <a:pPr indent="0" marL="0">
              <a:buNone/>
            </a:pPr>
            <a:r>
              <a:rPr lang="en-US" sz="900" b="1" dirty="0">
                <a:solidFill>
                  <a:srgbClr val="0A2540"/>
                </a:solidFill>
              </a:rPr>
              <a:t>Validation DRH</a:t>
            </a:r>
            <a:endParaRPr lang="en-US" sz="900" dirty="0"/>
          </a:p>
        </p:txBody>
      </p:sp>
      <p:sp>
        <p:nvSpPr>
          <p:cNvPr id="14" name="Text 12"/>
          <p:cNvSpPr/>
          <p:nvPr/>
        </p:nvSpPr>
        <p:spPr>
          <a:xfrm>
            <a:off x="868680" y="2679192"/>
            <a:ext cx="4846320" cy="182880"/>
          </a:xfrm>
          <a:prstGeom prst="rect">
            <a:avLst/>
          </a:prstGeom>
          <a:noFill/>
          <a:ln/>
        </p:spPr>
        <p:txBody>
          <a:bodyPr wrap="square" rtlCol="0" anchor="ctr"/>
          <a:lstStyle/>
          <a:p>
            <a:pPr indent="0" marL="0">
              <a:buNone/>
            </a:pPr>
            <a:r>
              <a:rPr lang="en-US" sz="850" i="1" dirty="0">
                <a:solidFill>
                  <a:srgbClr val="64748B"/>
                </a:solidFill>
              </a:rPr>
              <a:t>Examine et valide ou rejette</a:t>
            </a:r>
            <a:endParaRPr lang="en-US" sz="850" dirty="0"/>
          </a:p>
        </p:txBody>
      </p:sp>
      <p:sp>
        <p:nvSpPr>
          <p:cNvPr id="15" name="Shape 13"/>
          <p:cNvSpPr/>
          <p:nvPr/>
        </p:nvSpPr>
        <p:spPr>
          <a:xfrm>
            <a:off x="612648" y="2816352"/>
            <a:ext cx="0" cy="393192"/>
          </a:xfrm>
          <a:prstGeom prst="line">
            <a:avLst/>
          </a:prstGeom>
          <a:noFill/>
          <a:ln w="19050">
            <a:solidFill>
              <a:srgbClr val="CBD5E1"/>
            </a:solidFill>
            <a:prstDash val="solid"/>
          </a:ln>
        </p:spPr>
      </p:sp>
      <p:sp>
        <p:nvSpPr>
          <p:cNvPr id="16" name="Shape 14"/>
          <p:cNvSpPr/>
          <p:nvPr/>
        </p:nvSpPr>
        <p:spPr>
          <a:xfrm>
            <a:off x="457200" y="3209544"/>
            <a:ext cx="320040" cy="320040"/>
          </a:xfrm>
          <a:prstGeom prst="rect">
            <a:avLst/>
          </a:prstGeom>
          <a:solidFill>
            <a:srgbClr val="16A34A"/>
          </a:solidFill>
          <a:ln w="12700">
            <a:solidFill>
              <a:srgbClr val="16A34A"/>
            </a:solidFill>
            <a:prstDash val="solid"/>
          </a:ln>
        </p:spPr>
      </p:sp>
      <p:sp>
        <p:nvSpPr>
          <p:cNvPr id="17" name="Text 15"/>
          <p:cNvSpPr/>
          <p:nvPr/>
        </p:nvSpPr>
        <p:spPr>
          <a:xfrm>
            <a:off x="457200" y="3209544"/>
            <a:ext cx="320040" cy="320040"/>
          </a:xfrm>
          <a:prstGeom prst="rect">
            <a:avLst/>
          </a:prstGeom>
          <a:noFill/>
          <a:ln/>
        </p:spPr>
        <p:txBody>
          <a:bodyPr wrap="square" rtlCol="0" anchor="ctr"/>
          <a:lstStyle/>
          <a:p>
            <a:pPr algn="ctr" indent="0" marL="0">
              <a:buNone/>
            </a:pPr>
            <a:r>
              <a:rPr lang="en-US" sz="1000" b="1" dirty="0">
                <a:solidFill>
                  <a:srgbClr val="FFFFFF"/>
                </a:solidFill>
              </a:rPr>
              <a:t>3</a:t>
            </a:r>
            <a:endParaRPr lang="en-US" sz="1000" dirty="0"/>
          </a:p>
        </p:txBody>
      </p:sp>
      <p:sp>
        <p:nvSpPr>
          <p:cNvPr id="18" name="Text 16"/>
          <p:cNvSpPr/>
          <p:nvPr/>
        </p:nvSpPr>
        <p:spPr>
          <a:xfrm>
            <a:off x="868680" y="3218688"/>
            <a:ext cx="4846320" cy="182880"/>
          </a:xfrm>
          <a:prstGeom prst="rect">
            <a:avLst/>
          </a:prstGeom>
          <a:noFill/>
          <a:ln/>
        </p:spPr>
        <p:txBody>
          <a:bodyPr wrap="square" rtlCol="0" anchor="ctr"/>
          <a:lstStyle/>
          <a:p>
            <a:pPr indent="0" marL="0">
              <a:buNone/>
            </a:pPr>
            <a:r>
              <a:rPr lang="en-US" sz="900" b="1" dirty="0">
                <a:solidFill>
                  <a:srgbClr val="0A2540"/>
                </a:solidFill>
              </a:rPr>
              <a:t>Publication offre</a:t>
            </a:r>
            <a:endParaRPr lang="en-US" sz="900" dirty="0"/>
          </a:p>
        </p:txBody>
      </p:sp>
      <p:sp>
        <p:nvSpPr>
          <p:cNvPr id="19" name="Text 17"/>
          <p:cNvSpPr/>
          <p:nvPr/>
        </p:nvSpPr>
        <p:spPr>
          <a:xfrm>
            <a:off x="868680" y="3392424"/>
            <a:ext cx="4846320" cy="182880"/>
          </a:xfrm>
          <a:prstGeom prst="rect">
            <a:avLst/>
          </a:prstGeom>
          <a:noFill/>
          <a:ln/>
        </p:spPr>
        <p:txBody>
          <a:bodyPr wrap="square" rtlCol="0" anchor="ctr"/>
          <a:lstStyle/>
          <a:p>
            <a:pPr indent="0" marL="0">
              <a:buNone/>
            </a:pPr>
            <a:r>
              <a:rPr lang="en-US" sz="850" i="1" dirty="0">
                <a:solidFill>
                  <a:srgbClr val="64748B"/>
                </a:solidFill>
              </a:rPr>
              <a:t>Mise en ligne sur le portail candidats</a:t>
            </a:r>
            <a:endParaRPr lang="en-US" sz="850" dirty="0"/>
          </a:p>
        </p:txBody>
      </p:sp>
      <p:sp>
        <p:nvSpPr>
          <p:cNvPr id="20" name="Shape 18"/>
          <p:cNvSpPr/>
          <p:nvPr/>
        </p:nvSpPr>
        <p:spPr>
          <a:xfrm>
            <a:off x="612648" y="3529584"/>
            <a:ext cx="0" cy="393192"/>
          </a:xfrm>
          <a:prstGeom prst="line">
            <a:avLst/>
          </a:prstGeom>
          <a:noFill/>
          <a:ln w="19050">
            <a:solidFill>
              <a:srgbClr val="CBD5E1"/>
            </a:solidFill>
            <a:prstDash val="solid"/>
          </a:ln>
        </p:spPr>
      </p:sp>
      <p:sp>
        <p:nvSpPr>
          <p:cNvPr id="21" name="Shape 19"/>
          <p:cNvSpPr/>
          <p:nvPr/>
        </p:nvSpPr>
        <p:spPr>
          <a:xfrm>
            <a:off x="457200" y="3922776"/>
            <a:ext cx="320040" cy="320040"/>
          </a:xfrm>
          <a:prstGeom prst="rect">
            <a:avLst/>
          </a:prstGeom>
          <a:solidFill>
            <a:srgbClr val="D97706"/>
          </a:solidFill>
          <a:ln w="12700">
            <a:solidFill>
              <a:srgbClr val="D97706"/>
            </a:solidFill>
            <a:prstDash val="solid"/>
          </a:ln>
        </p:spPr>
      </p:sp>
      <p:sp>
        <p:nvSpPr>
          <p:cNvPr id="22" name="Text 20"/>
          <p:cNvSpPr/>
          <p:nvPr/>
        </p:nvSpPr>
        <p:spPr>
          <a:xfrm>
            <a:off x="457200" y="3922776"/>
            <a:ext cx="320040" cy="320040"/>
          </a:xfrm>
          <a:prstGeom prst="rect">
            <a:avLst/>
          </a:prstGeom>
          <a:noFill/>
          <a:ln/>
        </p:spPr>
        <p:txBody>
          <a:bodyPr wrap="square" rtlCol="0" anchor="ctr"/>
          <a:lstStyle/>
          <a:p>
            <a:pPr algn="ctr" indent="0" marL="0">
              <a:buNone/>
            </a:pPr>
            <a:r>
              <a:rPr lang="en-US" sz="1000" b="1" dirty="0">
                <a:solidFill>
                  <a:srgbClr val="FFFFFF"/>
                </a:solidFill>
              </a:rPr>
              <a:t>4</a:t>
            </a:r>
            <a:endParaRPr lang="en-US" sz="1000" dirty="0"/>
          </a:p>
        </p:txBody>
      </p:sp>
      <p:sp>
        <p:nvSpPr>
          <p:cNvPr id="23" name="Text 21"/>
          <p:cNvSpPr/>
          <p:nvPr/>
        </p:nvSpPr>
        <p:spPr>
          <a:xfrm>
            <a:off x="868680" y="3931920"/>
            <a:ext cx="4846320" cy="182880"/>
          </a:xfrm>
          <a:prstGeom prst="rect">
            <a:avLst/>
          </a:prstGeom>
          <a:noFill/>
          <a:ln/>
        </p:spPr>
        <p:txBody>
          <a:bodyPr wrap="square" rtlCol="0" anchor="ctr"/>
          <a:lstStyle/>
          <a:p>
            <a:pPr indent="0" marL="0">
              <a:buNone/>
            </a:pPr>
            <a:r>
              <a:rPr lang="en-US" sz="900" b="1" dirty="0">
                <a:solidFill>
                  <a:srgbClr val="0A2540"/>
                </a:solidFill>
              </a:rPr>
              <a:t>Collecte candidatures</a:t>
            </a:r>
            <a:endParaRPr lang="en-US" sz="900" dirty="0"/>
          </a:p>
        </p:txBody>
      </p:sp>
      <p:sp>
        <p:nvSpPr>
          <p:cNvPr id="24" name="Text 22"/>
          <p:cNvSpPr/>
          <p:nvPr/>
        </p:nvSpPr>
        <p:spPr>
          <a:xfrm>
            <a:off x="868680" y="4105656"/>
            <a:ext cx="4846320" cy="182880"/>
          </a:xfrm>
          <a:prstGeom prst="rect">
            <a:avLst/>
          </a:prstGeom>
          <a:noFill/>
          <a:ln/>
        </p:spPr>
        <p:txBody>
          <a:bodyPr wrap="square" rtlCol="0" anchor="ctr"/>
          <a:lstStyle/>
          <a:p>
            <a:pPr indent="0" marL="0">
              <a:buNone/>
            </a:pPr>
            <a:r>
              <a:rPr lang="en-US" sz="850" i="1" dirty="0">
                <a:solidFill>
                  <a:srgbClr val="64748B"/>
                </a:solidFill>
              </a:rPr>
              <a:t>Réception &amp; tri automatique</a:t>
            </a:r>
            <a:endParaRPr lang="en-US" sz="850" dirty="0"/>
          </a:p>
        </p:txBody>
      </p:sp>
      <p:sp>
        <p:nvSpPr>
          <p:cNvPr id="25" name="Shape 23"/>
          <p:cNvSpPr/>
          <p:nvPr/>
        </p:nvSpPr>
        <p:spPr>
          <a:xfrm>
            <a:off x="612648" y="4242816"/>
            <a:ext cx="0" cy="393192"/>
          </a:xfrm>
          <a:prstGeom prst="line">
            <a:avLst/>
          </a:prstGeom>
          <a:noFill/>
          <a:ln w="19050">
            <a:solidFill>
              <a:srgbClr val="CBD5E1"/>
            </a:solidFill>
            <a:prstDash val="solid"/>
          </a:ln>
        </p:spPr>
      </p:sp>
      <p:sp>
        <p:nvSpPr>
          <p:cNvPr id="26" name="Shape 24"/>
          <p:cNvSpPr/>
          <p:nvPr/>
        </p:nvSpPr>
        <p:spPr>
          <a:xfrm>
            <a:off x="457200" y="4636008"/>
            <a:ext cx="320040" cy="320040"/>
          </a:xfrm>
          <a:prstGeom prst="rect">
            <a:avLst/>
          </a:prstGeom>
          <a:solidFill>
            <a:srgbClr val="7C3AED"/>
          </a:solidFill>
          <a:ln w="12700">
            <a:solidFill>
              <a:srgbClr val="7C3AED"/>
            </a:solidFill>
            <a:prstDash val="solid"/>
          </a:ln>
        </p:spPr>
      </p:sp>
      <p:sp>
        <p:nvSpPr>
          <p:cNvPr id="27" name="Text 25"/>
          <p:cNvSpPr/>
          <p:nvPr/>
        </p:nvSpPr>
        <p:spPr>
          <a:xfrm>
            <a:off x="457200" y="4636008"/>
            <a:ext cx="320040" cy="320040"/>
          </a:xfrm>
          <a:prstGeom prst="rect">
            <a:avLst/>
          </a:prstGeom>
          <a:noFill/>
          <a:ln/>
        </p:spPr>
        <p:txBody>
          <a:bodyPr wrap="square" rtlCol="0" anchor="ctr"/>
          <a:lstStyle/>
          <a:p>
            <a:pPr algn="ctr" indent="0" marL="0">
              <a:buNone/>
            </a:pPr>
            <a:r>
              <a:rPr lang="en-US" sz="1000" b="1" dirty="0">
                <a:solidFill>
                  <a:srgbClr val="FFFFFF"/>
                </a:solidFill>
              </a:rPr>
              <a:t>5</a:t>
            </a:r>
            <a:endParaRPr lang="en-US" sz="1000" dirty="0"/>
          </a:p>
        </p:txBody>
      </p:sp>
      <p:sp>
        <p:nvSpPr>
          <p:cNvPr id="28" name="Text 26"/>
          <p:cNvSpPr/>
          <p:nvPr/>
        </p:nvSpPr>
        <p:spPr>
          <a:xfrm>
            <a:off x="868680" y="4645152"/>
            <a:ext cx="4846320" cy="182880"/>
          </a:xfrm>
          <a:prstGeom prst="rect">
            <a:avLst/>
          </a:prstGeom>
          <a:noFill/>
          <a:ln/>
        </p:spPr>
        <p:txBody>
          <a:bodyPr wrap="square" rtlCol="0" anchor="ctr"/>
          <a:lstStyle/>
          <a:p>
            <a:pPr indent="0" marL="0">
              <a:buNone/>
            </a:pPr>
            <a:r>
              <a:rPr lang="en-US" sz="900" b="1" dirty="0">
                <a:solidFill>
                  <a:srgbClr val="0A2540"/>
                </a:solidFill>
              </a:rPr>
              <a:t>Processus jury</a:t>
            </a:r>
            <a:endParaRPr lang="en-US" sz="900" dirty="0"/>
          </a:p>
        </p:txBody>
      </p:sp>
      <p:sp>
        <p:nvSpPr>
          <p:cNvPr id="29" name="Text 27"/>
          <p:cNvSpPr/>
          <p:nvPr/>
        </p:nvSpPr>
        <p:spPr>
          <a:xfrm>
            <a:off x="868680" y="4818888"/>
            <a:ext cx="4846320" cy="182880"/>
          </a:xfrm>
          <a:prstGeom prst="rect">
            <a:avLst/>
          </a:prstGeom>
          <a:noFill/>
          <a:ln/>
        </p:spPr>
        <p:txBody>
          <a:bodyPr wrap="square" rtlCol="0" anchor="ctr"/>
          <a:lstStyle/>
          <a:p>
            <a:pPr indent="0" marL="0">
              <a:buNone/>
            </a:pPr>
            <a:r>
              <a:rPr lang="en-US" sz="850" i="1" dirty="0">
                <a:solidFill>
                  <a:srgbClr val="64748B"/>
                </a:solidFill>
              </a:rPr>
              <a:t>Évaluation structurée multi-étapes</a:t>
            </a:r>
            <a:endParaRPr lang="en-US" sz="850" dirty="0"/>
          </a:p>
        </p:txBody>
      </p:sp>
      <p:sp>
        <p:nvSpPr>
          <p:cNvPr id="30" name="Shape 28"/>
          <p:cNvSpPr/>
          <p:nvPr/>
        </p:nvSpPr>
        <p:spPr>
          <a:xfrm>
            <a:off x="612648" y="4956048"/>
            <a:ext cx="0" cy="393192"/>
          </a:xfrm>
          <a:prstGeom prst="line">
            <a:avLst/>
          </a:prstGeom>
          <a:noFill/>
          <a:ln w="19050">
            <a:solidFill>
              <a:srgbClr val="CBD5E1"/>
            </a:solidFill>
            <a:prstDash val="solid"/>
          </a:ln>
        </p:spPr>
      </p:sp>
      <p:sp>
        <p:nvSpPr>
          <p:cNvPr id="31" name="Shape 29"/>
          <p:cNvSpPr/>
          <p:nvPr/>
        </p:nvSpPr>
        <p:spPr>
          <a:xfrm>
            <a:off x="457200" y="5349240"/>
            <a:ext cx="320040" cy="320040"/>
          </a:xfrm>
          <a:prstGeom prst="rect">
            <a:avLst/>
          </a:prstGeom>
          <a:solidFill>
            <a:srgbClr val="0A2540"/>
          </a:solidFill>
          <a:ln w="12700">
            <a:solidFill>
              <a:srgbClr val="0A2540"/>
            </a:solidFill>
            <a:prstDash val="solid"/>
          </a:ln>
        </p:spPr>
      </p:sp>
      <p:sp>
        <p:nvSpPr>
          <p:cNvPr id="32" name="Text 30"/>
          <p:cNvSpPr/>
          <p:nvPr/>
        </p:nvSpPr>
        <p:spPr>
          <a:xfrm>
            <a:off x="457200" y="5349240"/>
            <a:ext cx="320040" cy="320040"/>
          </a:xfrm>
          <a:prstGeom prst="rect">
            <a:avLst/>
          </a:prstGeom>
          <a:noFill/>
          <a:ln/>
        </p:spPr>
        <p:txBody>
          <a:bodyPr wrap="square" rtlCol="0" anchor="ctr"/>
          <a:lstStyle/>
          <a:p>
            <a:pPr algn="ctr" indent="0" marL="0">
              <a:buNone/>
            </a:pPr>
            <a:r>
              <a:rPr lang="en-US" sz="1000" b="1" dirty="0">
                <a:solidFill>
                  <a:srgbClr val="FFFFFF"/>
                </a:solidFill>
              </a:rPr>
              <a:t>6</a:t>
            </a:r>
            <a:endParaRPr lang="en-US" sz="1000" dirty="0"/>
          </a:p>
        </p:txBody>
      </p:sp>
      <p:sp>
        <p:nvSpPr>
          <p:cNvPr id="33" name="Text 31"/>
          <p:cNvSpPr/>
          <p:nvPr/>
        </p:nvSpPr>
        <p:spPr>
          <a:xfrm>
            <a:off x="868680" y="5358384"/>
            <a:ext cx="4846320" cy="182880"/>
          </a:xfrm>
          <a:prstGeom prst="rect">
            <a:avLst/>
          </a:prstGeom>
          <a:noFill/>
          <a:ln/>
        </p:spPr>
        <p:txBody>
          <a:bodyPr wrap="square" rtlCol="0" anchor="ctr"/>
          <a:lstStyle/>
          <a:p>
            <a:pPr indent="0" marL="0">
              <a:buNone/>
            </a:pPr>
            <a:r>
              <a:rPr lang="en-US" sz="900" b="1" dirty="0">
                <a:solidFill>
                  <a:srgbClr val="0A2540"/>
                </a:solidFill>
              </a:rPr>
              <a:t>Décision finale</a:t>
            </a:r>
            <a:endParaRPr lang="en-US" sz="900" dirty="0"/>
          </a:p>
        </p:txBody>
      </p:sp>
      <p:sp>
        <p:nvSpPr>
          <p:cNvPr id="34" name="Text 32"/>
          <p:cNvSpPr/>
          <p:nvPr/>
        </p:nvSpPr>
        <p:spPr>
          <a:xfrm>
            <a:off x="868680" y="5532120"/>
            <a:ext cx="4846320" cy="182880"/>
          </a:xfrm>
          <a:prstGeom prst="rect">
            <a:avLst/>
          </a:prstGeom>
          <a:noFill/>
          <a:ln/>
        </p:spPr>
        <p:txBody>
          <a:bodyPr wrap="square" rtlCol="0" anchor="ctr"/>
          <a:lstStyle/>
          <a:p>
            <a:pPr indent="0" marL="0">
              <a:buNone/>
            </a:pPr>
            <a:r>
              <a:rPr lang="en-US" sz="850" i="1" dirty="0">
                <a:solidFill>
                  <a:srgbClr val="64748B"/>
                </a:solidFill>
              </a:rPr>
              <a:t>Titularisation ou rejet motivé</a:t>
            </a:r>
            <a:endParaRPr lang="en-US" sz="850" dirty="0"/>
          </a:p>
        </p:txBody>
      </p:sp>
      <p:sp>
        <p:nvSpPr>
          <p:cNvPr id="35" name="Text 33"/>
          <p:cNvSpPr/>
          <p:nvPr/>
        </p:nvSpPr>
        <p:spPr>
          <a:xfrm>
            <a:off x="6400800" y="1371600"/>
            <a:ext cx="5303520" cy="320040"/>
          </a:xfrm>
          <a:prstGeom prst="rect">
            <a:avLst/>
          </a:prstGeom>
          <a:noFill/>
          <a:ln/>
        </p:spPr>
        <p:txBody>
          <a:bodyPr wrap="square" rtlCol="0" anchor="ctr"/>
          <a:lstStyle/>
          <a:p>
            <a:pPr indent="0" marL="0">
              <a:buNone/>
            </a:pPr>
            <a:r>
              <a:rPr lang="en-US" sz="900" b="1" spc="150" kern="0" dirty="0">
                <a:solidFill>
                  <a:srgbClr val="1B6CA8"/>
                </a:solidFill>
              </a:rPr>
              <a:t>RÔLES &amp; PERMISSIONS</a:t>
            </a:r>
            <a:endParaRPr lang="en-US" sz="900" dirty="0"/>
          </a:p>
        </p:txBody>
      </p:sp>
      <p:sp>
        <p:nvSpPr>
          <p:cNvPr id="36" name="Shape 34"/>
          <p:cNvSpPr/>
          <p:nvPr/>
        </p:nvSpPr>
        <p:spPr>
          <a:xfrm>
            <a:off x="6400800" y="1783080"/>
            <a:ext cx="5303520" cy="1078992"/>
          </a:xfrm>
          <a:prstGeom prst="roundRect">
            <a:avLst>
              <a:gd name="adj" fmla="val 4237"/>
            </a:avLst>
          </a:prstGeom>
          <a:solidFill>
            <a:srgbClr val="F1F5F9"/>
          </a:solidFill>
          <a:ln w="12700">
            <a:solidFill>
              <a:srgbClr val="E2E8F0"/>
            </a:solidFill>
            <a:prstDash val="solid"/>
          </a:ln>
        </p:spPr>
      </p:sp>
      <p:sp>
        <p:nvSpPr>
          <p:cNvPr id="37" name="Shape 35"/>
          <p:cNvSpPr/>
          <p:nvPr/>
        </p:nvSpPr>
        <p:spPr>
          <a:xfrm>
            <a:off x="6400800" y="1783080"/>
            <a:ext cx="73152" cy="1078992"/>
          </a:xfrm>
          <a:prstGeom prst="rect">
            <a:avLst/>
          </a:prstGeom>
          <a:solidFill>
            <a:srgbClr val="1B6CA8"/>
          </a:solidFill>
          <a:ln w="12700">
            <a:solidFill>
              <a:srgbClr val="1B6CA8"/>
            </a:solidFill>
            <a:prstDash val="solid"/>
          </a:ln>
        </p:spPr>
      </p:sp>
      <p:sp>
        <p:nvSpPr>
          <p:cNvPr id="38" name="Text 36"/>
          <p:cNvSpPr/>
          <p:nvPr/>
        </p:nvSpPr>
        <p:spPr>
          <a:xfrm>
            <a:off x="6565392" y="1828800"/>
            <a:ext cx="5029200" cy="274320"/>
          </a:xfrm>
          <a:prstGeom prst="rect">
            <a:avLst/>
          </a:prstGeom>
          <a:noFill/>
          <a:ln/>
        </p:spPr>
        <p:txBody>
          <a:bodyPr wrap="square" rtlCol="0" anchor="ctr"/>
          <a:lstStyle/>
          <a:p>
            <a:pPr indent="0" marL="0">
              <a:buNone/>
            </a:pPr>
            <a:r>
              <a:rPr lang="en-US" sz="1000" b="1" dirty="0">
                <a:solidFill>
                  <a:srgbClr val="0A2540"/>
                </a:solidFill>
              </a:rPr>
              <a:t>Administrateur DRH</a:t>
            </a:r>
            <a:endParaRPr lang="en-US" sz="1000" dirty="0"/>
          </a:p>
        </p:txBody>
      </p:sp>
      <p:sp>
        <p:nvSpPr>
          <p:cNvPr id="39" name="Text 37"/>
          <p:cNvSpPr/>
          <p:nvPr/>
        </p:nvSpPr>
        <p:spPr>
          <a:xfrm>
            <a:off x="6565392" y="2130552"/>
            <a:ext cx="5029200" cy="228600"/>
          </a:xfrm>
          <a:prstGeom prst="rect">
            <a:avLst/>
          </a:prstGeom>
          <a:noFill/>
          <a:ln/>
        </p:spPr>
        <p:txBody>
          <a:bodyPr wrap="square" rtlCol="0" anchor="ctr"/>
          <a:lstStyle/>
          <a:p>
            <a:pPr indent="0" marL="0">
              <a:buNone/>
            </a:pPr>
            <a:r>
              <a:rPr lang="en-US" sz="900" dirty="0">
                <a:solidFill>
                  <a:srgbClr val="64748B"/>
                </a:solidFill>
              </a:rPr>
              <a:t>• Accès total</a:t>
            </a:r>
            <a:endParaRPr lang="en-US" sz="900" dirty="0"/>
          </a:p>
        </p:txBody>
      </p:sp>
      <p:sp>
        <p:nvSpPr>
          <p:cNvPr id="40" name="Text 38"/>
          <p:cNvSpPr/>
          <p:nvPr/>
        </p:nvSpPr>
        <p:spPr>
          <a:xfrm>
            <a:off x="6565392" y="2359152"/>
            <a:ext cx="5029200" cy="228600"/>
          </a:xfrm>
          <a:prstGeom prst="rect">
            <a:avLst/>
          </a:prstGeom>
          <a:noFill/>
          <a:ln/>
        </p:spPr>
        <p:txBody>
          <a:bodyPr wrap="square" rtlCol="0" anchor="ctr"/>
          <a:lstStyle/>
          <a:p>
            <a:pPr indent="0" marL="0">
              <a:buNone/>
            </a:pPr>
            <a:r>
              <a:rPr lang="en-US" sz="900" dirty="0">
                <a:solidFill>
                  <a:srgbClr val="64748B"/>
                </a:solidFill>
              </a:rPr>
              <a:t>• Gestion utilisateurs</a:t>
            </a:r>
            <a:endParaRPr lang="en-US" sz="900" dirty="0"/>
          </a:p>
        </p:txBody>
      </p:sp>
      <p:sp>
        <p:nvSpPr>
          <p:cNvPr id="41" name="Text 39"/>
          <p:cNvSpPr/>
          <p:nvPr/>
        </p:nvSpPr>
        <p:spPr>
          <a:xfrm>
            <a:off x="6565392" y="2587752"/>
            <a:ext cx="5029200" cy="228600"/>
          </a:xfrm>
          <a:prstGeom prst="rect">
            <a:avLst/>
          </a:prstGeom>
          <a:noFill/>
          <a:ln/>
        </p:spPr>
        <p:txBody>
          <a:bodyPr wrap="square" rtlCol="0" anchor="ctr"/>
          <a:lstStyle/>
          <a:p>
            <a:pPr indent="0" marL="0">
              <a:buNone/>
            </a:pPr>
            <a:r>
              <a:rPr lang="en-US" sz="900" dirty="0">
                <a:solidFill>
                  <a:srgbClr val="64748B"/>
                </a:solidFill>
              </a:rPr>
              <a:t>• Paramétrage système</a:t>
            </a:r>
            <a:endParaRPr lang="en-US" sz="900" dirty="0"/>
          </a:p>
        </p:txBody>
      </p:sp>
      <p:sp>
        <p:nvSpPr>
          <p:cNvPr id="42" name="Shape 40"/>
          <p:cNvSpPr/>
          <p:nvPr/>
        </p:nvSpPr>
        <p:spPr>
          <a:xfrm>
            <a:off x="6400800" y="2953512"/>
            <a:ext cx="5303520" cy="1078992"/>
          </a:xfrm>
          <a:prstGeom prst="roundRect">
            <a:avLst>
              <a:gd name="adj" fmla="val 4237"/>
            </a:avLst>
          </a:prstGeom>
          <a:solidFill>
            <a:srgbClr val="F1F5F9"/>
          </a:solidFill>
          <a:ln w="12700">
            <a:solidFill>
              <a:srgbClr val="E2E8F0"/>
            </a:solidFill>
            <a:prstDash val="solid"/>
          </a:ln>
        </p:spPr>
      </p:sp>
      <p:sp>
        <p:nvSpPr>
          <p:cNvPr id="43" name="Shape 41"/>
          <p:cNvSpPr/>
          <p:nvPr/>
        </p:nvSpPr>
        <p:spPr>
          <a:xfrm>
            <a:off x="6400800" y="2953512"/>
            <a:ext cx="73152" cy="1078992"/>
          </a:xfrm>
          <a:prstGeom prst="rect">
            <a:avLst/>
          </a:prstGeom>
          <a:solidFill>
            <a:srgbClr val="1B6CA8"/>
          </a:solidFill>
          <a:ln w="12700">
            <a:solidFill>
              <a:srgbClr val="1B6CA8"/>
            </a:solidFill>
            <a:prstDash val="solid"/>
          </a:ln>
        </p:spPr>
      </p:sp>
      <p:sp>
        <p:nvSpPr>
          <p:cNvPr id="44" name="Text 42"/>
          <p:cNvSpPr/>
          <p:nvPr/>
        </p:nvSpPr>
        <p:spPr>
          <a:xfrm>
            <a:off x="6565392" y="2999232"/>
            <a:ext cx="5029200" cy="274320"/>
          </a:xfrm>
          <a:prstGeom prst="rect">
            <a:avLst/>
          </a:prstGeom>
          <a:noFill/>
          <a:ln/>
        </p:spPr>
        <p:txBody>
          <a:bodyPr wrap="square" rtlCol="0" anchor="ctr"/>
          <a:lstStyle/>
          <a:p>
            <a:pPr indent="0" marL="0">
              <a:buNone/>
            </a:pPr>
            <a:r>
              <a:rPr lang="en-US" sz="1000" b="1" dirty="0">
                <a:solidFill>
                  <a:srgbClr val="0A2540"/>
                </a:solidFill>
              </a:rPr>
              <a:t>Responsable Recrutement</a:t>
            </a:r>
            <a:endParaRPr lang="en-US" sz="1000" dirty="0"/>
          </a:p>
        </p:txBody>
      </p:sp>
      <p:sp>
        <p:nvSpPr>
          <p:cNvPr id="45" name="Text 43"/>
          <p:cNvSpPr/>
          <p:nvPr/>
        </p:nvSpPr>
        <p:spPr>
          <a:xfrm>
            <a:off x="6565392" y="3300984"/>
            <a:ext cx="5029200" cy="228600"/>
          </a:xfrm>
          <a:prstGeom prst="rect">
            <a:avLst/>
          </a:prstGeom>
          <a:noFill/>
          <a:ln/>
        </p:spPr>
        <p:txBody>
          <a:bodyPr wrap="square" rtlCol="0" anchor="ctr"/>
          <a:lstStyle/>
          <a:p>
            <a:pPr indent="0" marL="0">
              <a:buNone/>
            </a:pPr>
            <a:r>
              <a:rPr lang="en-US" sz="900" dirty="0">
                <a:solidFill>
                  <a:srgbClr val="64748B"/>
                </a:solidFill>
              </a:rPr>
              <a:t>• Gestion offres</a:t>
            </a:r>
            <a:endParaRPr lang="en-US" sz="900" dirty="0"/>
          </a:p>
        </p:txBody>
      </p:sp>
      <p:sp>
        <p:nvSpPr>
          <p:cNvPr id="46" name="Text 44"/>
          <p:cNvSpPr/>
          <p:nvPr/>
        </p:nvSpPr>
        <p:spPr>
          <a:xfrm>
            <a:off x="6565392" y="3529584"/>
            <a:ext cx="5029200" cy="228600"/>
          </a:xfrm>
          <a:prstGeom prst="rect">
            <a:avLst/>
          </a:prstGeom>
          <a:noFill/>
          <a:ln/>
        </p:spPr>
        <p:txBody>
          <a:bodyPr wrap="square" rtlCol="0" anchor="ctr"/>
          <a:lstStyle/>
          <a:p>
            <a:pPr indent="0" marL="0">
              <a:buNone/>
            </a:pPr>
            <a:r>
              <a:rPr lang="en-US" sz="900" dirty="0">
                <a:solidFill>
                  <a:srgbClr val="64748B"/>
                </a:solidFill>
              </a:rPr>
              <a:t>• Validation demandes</a:t>
            </a:r>
            <a:endParaRPr lang="en-US" sz="900" dirty="0"/>
          </a:p>
        </p:txBody>
      </p:sp>
      <p:sp>
        <p:nvSpPr>
          <p:cNvPr id="47" name="Text 45"/>
          <p:cNvSpPr/>
          <p:nvPr/>
        </p:nvSpPr>
        <p:spPr>
          <a:xfrm>
            <a:off x="6565392" y="3758184"/>
            <a:ext cx="5029200" cy="228600"/>
          </a:xfrm>
          <a:prstGeom prst="rect">
            <a:avLst/>
          </a:prstGeom>
          <a:noFill/>
          <a:ln/>
        </p:spPr>
        <p:txBody>
          <a:bodyPr wrap="square" rtlCol="0" anchor="ctr"/>
          <a:lstStyle/>
          <a:p>
            <a:pPr indent="0" marL="0">
              <a:buNone/>
            </a:pPr>
            <a:r>
              <a:rPr lang="en-US" sz="900" dirty="0">
                <a:solidFill>
                  <a:srgbClr val="64748B"/>
                </a:solidFill>
              </a:rPr>
              <a:t>• Rapports</a:t>
            </a:r>
            <a:endParaRPr lang="en-US" sz="900" dirty="0"/>
          </a:p>
        </p:txBody>
      </p:sp>
      <p:sp>
        <p:nvSpPr>
          <p:cNvPr id="48" name="Shape 46"/>
          <p:cNvSpPr/>
          <p:nvPr/>
        </p:nvSpPr>
        <p:spPr>
          <a:xfrm>
            <a:off x="6400800" y="4123944"/>
            <a:ext cx="5303520" cy="1078992"/>
          </a:xfrm>
          <a:prstGeom prst="roundRect">
            <a:avLst>
              <a:gd name="adj" fmla="val 4237"/>
            </a:avLst>
          </a:prstGeom>
          <a:solidFill>
            <a:srgbClr val="F1F5F9"/>
          </a:solidFill>
          <a:ln w="12700">
            <a:solidFill>
              <a:srgbClr val="E2E8F0"/>
            </a:solidFill>
            <a:prstDash val="solid"/>
          </a:ln>
        </p:spPr>
      </p:sp>
      <p:sp>
        <p:nvSpPr>
          <p:cNvPr id="49" name="Shape 47"/>
          <p:cNvSpPr/>
          <p:nvPr/>
        </p:nvSpPr>
        <p:spPr>
          <a:xfrm>
            <a:off x="6400800" y="4123944"/>
            <a:ext cx="73152" cy="1078992"/>
          </a:xfrm>
          <a:prstGeom prst="rect">
            <a:avLst/>
          </a:prstGeom>
          <a:solidFill>
            <a:srgbClr val="1B6CA8"/>
          </a:solidFill>
          <a:ln w="12700">
            <a:solidFill>
              <a:srgbClr val="1B6CA8"/>
            </a:solidFill>
            <a:prstDash val="solid"/>
          </a:ln>
        </p:spPr>
      </p:sp>
      <p:sp>
        <p:nvSpPr>
          <p:cNvPr id="50" name="Text 48"/>
          <p:cNvSpPr/>
          <p:nvPr/>
        </p:nvSpPr>
        <p:spPr>
          <a:xfrm>
            <a:off x="6565392" y="4169664"/>
            <a:ext cx="5029200" cy="274320"/>
          </a:xfrm>
          <a:prstGeom prst="rect">
            <a:avLst/>
          </a:prstGeom>
          <a:noFill/>
          <a:ln/>
        </p:spPr>
        <p:txBody>
          <a:bodyPr wrap="square" rtlCol="0" anchor="ctr"/>
          <a:lstStyle/>
          <a:p>
            <a:pPr indent="0" marL="0">
              <a:buNone/>
            </a:pPr>
            <a:r>
              <a:rPr lang="en-US" sz="1000" b="1" dirty="0">
                <a:solidFill>
                  <a:srgbClr val="0A2540"/>
                </a:solidFill>
              </a:rPr>
              <a:t>Responsable Carrière</a:t>
            </a:r>
            <a:endParaRPr lang="en-US" sz="1000" dirty="0"/>
          </a:p>
        </p:txBody>
      </p:sp>
      <p:sp>
        <p:nvSpPr>
          <p:cNvPr id="51" name="Text 49"/>
          <p:cNvSpPr/>
          <p:nvPr/>
        </p:nvSpPr>
        <p:spPr>
          <a:xfrm>
            <a:off x="6565392" y="4471416"/>
            <a:ext cx="5029200" cy="228600"/>
          </a:xfrm>
          <a:prstGeom prst="rect">
            <a:avLst/>
          </a:prstGeom>
          <a:noFill/>
          <a:ln/>
        </p:spPr>
        <p:txBody>
          <a:bodyPr wrap="square" rtlCol="0" anchor="ctr"/>
          <a:lstStyle/>
          <a:p>
            <a:pPr indent="0" marL="0">
              <a:buNone/>
            </a:pPr>
            <a:r>
              <a:rPr lang="en-US" sz="900" dirty="0">
                <a:solidFill>
                  <a:srgbClr val="64748B"/>
                </a:solidFill>
              </a:rPr>
              <a:t>• Suivi pipeline</a:t>
            </a:r>
            <a:endParaRPr lang="en-US" sz="900" dirty="0"/>
          </a:p>
        </p:txBody>
      </p:sp>
      <p:sp>
        <p:nvSpPr>
          <p:cNvPr id="52" name="Text 50"/>
          <p:cNvSpPr/>
          <p:nvPr/>
        </p:nvSpPr>
        <p:spPr>
          <a:xfrm>
            <a:off x="6565392" y="4700016"/>
            <a:ext cx="5029200" cy="228600"/>
          </a:xfrm>
          <a:prstGeom prst="rect">
            <a:avLst/>
          </a:prstGeom>
          <a:noFill/>
          <a:ln/>
        </p:spPr>
        <p:txBody>
          <a:bodyPr wrap="square" rtlCol="0" anchor="ctr"/>
          <a:lstStyle/>
          <a:p>
            <a:pPr indent="0" marL="0">
              <a:buNone/>
            </a:pPr>
            <a:r>
              <a:rPr lang="en-US" sz="900" dirty="0">
                <a:solidFill>
                  <a:srgbClr val="64748B"/>
                </a:solidFill>
              </a:rPr>
              <a:t>• Gestion CVthèque</a:t>
            </a:r>
            <a:endParaRPr lang="en-US" sz="900" dirty="0"/>
          </a:p>
        </p:txBody>
      </p:sp>
      <p:sp>
        <p:nvSpPr>
          <p:cNvPr id="53" name="Text 51"/>
          <p:cNvSpPr/>
          <p:nvPr/>
        </p:nvSpPr>
        <p:spPr>
          <a:xfrm>
            <a:off x="6565392" y="4928616"/>
            <a:ext cx="5029200" cy="228600"/>
          </a:xfrm>
          <a:prstGeom prst="rect">
            <a:avLst/>
          </a:prstGeom>
          <a:noFill/>
          <a:ln/>
        </p:spPr>
        <p:txBody>
          <a:bodyPr wrap="square" rtlCol="0" anchor="ctr"/>
          <a:lstStyle/>
          <a:p>
            <a:pPr indent="0" marL="0">
              <a:buNone/>
            </a:pPr>
            <a:r>
              <a:rPr lang="en-US" sz="900" dirty="0">
                <a:solidFill>
                  <a:srgbClr val="64748B"/>
                </a:solidFill>
              </a:rPr>
              <a:t>• Matching</a:t>
            </a:r>
            <a:endParaRPr lang="en-US" sz="900" dirty="0"/>
          </a:p>
        </p:txBody>
      </p:sp>
      <p:sp>
        <p:nvSpPr>
          <p:cNvPr id="54" name="Shape 52"/>
          <p:cNvSpPr/>
          <p:nvPr/>
        </p:nvSpPr>
        <p:spPr>
          <a:xfrm>
            <a:off x="6400800" y="5294376"/>
            <a:ext cx="5303520" cy="1078992"/>
          </a:xfrm>
          <a:prstGeom prst="roundRect">
            <a:avLst>
              <a:gd name="adj" fmla="val 4237"/>
            </a:avLst>
          </a:prstGeom>
          <a:solidFill>
            <a:srgbClr val="F1F5F9"/>
          </a:solidFill>
          <a:ln w="12700">
            <a:solidFill>
              <a:srgbClr val="E2E8F0"/>
            </a:solidFill>
            <a:prstDash val="solid"/>
          </a:ln>
        </p:spPr>
      </p:sp>
      <p:sp>
        <p:nvSpPr>
          <p:cNvPr id="55" name="Shape 53"/>
          <p:cNvSpPr/>
          <p:nvPr/>
        </p:nvSpPr>
        <p:spPr>
          <a:xfrm>
            <a:off x="6400800" y="5294376"/>
            <a:ext cx="73152" cy="1078992"/>
          </a:xfrm>
          <a:prstGeom prst="rect">
            <a:avLst/>
          </a:prstGeom>
          <a:solidFill>
            <a:srgbClr val="1B6CA8"/>
          </a:solidFill>
          <a:ln w="12700">
            <a:solidFill>
              <a:srgbClr val="1B6CA8"/>
            </a:solidFill>
            <a:prstDash val="solid"/>
          </a:ln>
        </p:spPr>
      </p:sp>
      <p:sp>
        <p:nvSpPr>
          <p:cNvPr id="56" name="Text 54"/>
          <p:cNvSpPr/>
          <p:nvPr/>
        </p:nvSpPr>
        <p:spPr>
          <a:xfrm>
            <a:off x="6565392" y="5340096"/>
            <a:ext cx="5029200" cy="274320"/>
          </a:xfrm>
          <a:prstGeom prst="rect">
            <a:avLst/>
          </a:prstGeom>
          <a:noFill/>
          <a:ln/>
        </p:spPr>
        <p:txBody>
          <a:bodyPr wrap="square" rtlCol="0" anchor="ctr"/>
          <a:lstStyle/>
          <a:p>
            <a:pPr indent="0" marL="0">
              <a:buNone/>
            </a:pPr>
            <a:r>
              <a:rPr lang="en-US" sz="1000" b="1" dirty="0">
                <a:solidFill>
                  <a:srgbClr val="0A2540"/>
                </a:solidFill>
              </a:rPr>
              <a:t>Manager d'équipe</a:t>
            </a:r>
            <a:endParaRPr lang="en-US" sz="1000" dirty="0"/>
          </a:p>
        </p:txBody>
      </p:sp>
      <p:sp>
        <p:nvSpPr>
          <p:cNvPr id="57" name="Text 55"/>
          <p:cNvSpPr/>
          <p:nvPr/>
        </p:nvSpPr>
        <p:spPr>
          <a:xfrm>
            <a:off x="6565392" y="5641848"/>
            <a:ext cx="5029200" cy="228600"/>
          </a:xfrm>
          <a:prstGeom prst="rect">
            <a:avLst/>
          </a:prstGeom>
          <a:noFill/>
          <a:ln/>
        </p:spPr>
        <p:txBody>
          <a:bodyPr wrap="square" rtlCol="0" anchor="ctr"/>
          <a:lstStyle/>
          <a:p>
            <a:pPr indent="0" marL="0">
              <a:buNone/>
            </a:pPr>
            <a:r>
              <a:rPr lang="en-US" sz="900" dirty="0">
                <a:solidFill>
                  <a:srgbClr val="64748B"/>
                </a:solidFill>
              </a:rPr>
              <a:t>• Demandes recrutement</a:t>
            </a:r>
            <a:endParaRPr lang="en-US" sz="900" dirty="0"/>
          </a:p>
        </p:txBody>
      </p:sp>
      <p:sp>
        <p:nvSpPr>
          <p:cNvPr id="58" name="Text 56"/>
          <p:cNvSpPr/>
          <p:nvPr/>
        </p:nvSpPr>
        <p:spPr>
          <a:xfrm>
            <a:off x="6565392" y="5870448"/>
            <a:ext cx="5029200" cy="228600"/>
          </a:xfrm>
          <a:prstGeom prst="rect">
            <a:avLst/>
          </a:prstGeom>
          <a:noFill/>
          <a:ln/>
        </p:spPr>
        <p:txBody>
          <a:bodyPr wrap="square" rtlCol="0" anchor="ctr"/>
          <a:lstStyle/>
          <a:p>
            <a:pPr indent="0" marL="0">
              <a:buNone/>
            </a:pPr>
            <a:r>
              <a:rPr lang="en-US" sz="900" dirty="0">
                <a:solidFill>
                  <a:srgbClr val="64748B"/>
                </a:solidFill>
              </a:rPr>
              <a:t>• Vue équipe</a:t>
            </a:r>
            <a:endParaRPr lang="en-US" sz="900" dirty="0"/>
          </a:p>
        </p:txBody>
      </p:sp>
      <p:sp>
        <p:nvSpPr>
          <p:cNvPr id="59" name="Text 57"/>
          <p:cNvSpPr/>
          <p:nvPr/>
        </p:nvSpPr>
        <p:spPr>
          <a:xfrm>
            <a:off x="365760" y="6583680"/>
            <a:ext cx="11430000" cy="274320"/>
          </a:xfrm>
          <a:prstGeom prst="rect">
            <a:avLst/>
          </a:prstGeom>
          <a:noFill/>
          <a:ln/>
        </p:spPr>
        <p:txBody>
          <a:bodyPr wrap="square" rtlCol="0" anchor="ctr"/>
          <a:lstStyle/>
          <a:p>
            <a:pPr algn="ctr" indent="0" marL="0">
              <a:buNone/>
            </a:pPr>
            <a:r>
              <a:rPr lang="en-US" sz="800" dirty="0">
                <a:solidFill>
                  <a:srgbClr val="64748B"/>
                </a:solidFill>
              </a:rPr>
              <a:t>SNH – Présentation Directoire  |  Confidentiel  |  6 / 12</a:t>
            </a:r>
            <a:endParaRPr lang="en-US" sz="800" dirty="0"/>
          </a:p>
        </p:txBody>
      </p:sp>
      <p:sp>
        <p:nvSpPr>
          <p:cNvPr id="60" name="Shape 58"/>
          <p:cNvSpPr/>
          <p:nvPr/>
        </p:nvSpPr>
        <p:spPr>
          <a:xfrm>
            <a:off x="0" y="6492240"/>
            <a:ext cx="12188952" cy="27432"/>
          </a:xfrm>
          <a:prstGeom prst="rect">
            <a:avLst/>
          </a:prstGeom>
          <a:solidFill>
            <a:srgbClr val="1B6CA8"/>
          </a:solidFill>
          <a:ln w="12700">
            <a:solidFill>
              <a:srgbClr val="1B6CA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1247120" cy="73152"/>
          </a:xfrm>
          <a:prstGeom prst="rect">
            <a:avLst/>
          </a:prstGeom>
          <a:solidFill>
            <a:srgbClr val="1B6CA8"/>
          </a:solidFill>
          <a:ln w="12700">
            <a:solidFill>
              <a:srgbClr val="1B6CA8"/>
            </a:solidFill>
            <a:prstDash val="solid"/>
          </a:ln>
        </p:spPr>
      </p:sp>
      <p:sp>
        <p:nvSpPr>
          <p:cNvPr id="3" name="Text 1"/>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05 – CVTHÈQUE &amp; MATCHING IA</a:t>
            </a:r>
            <a:endParaRPr lang="en-US" sz="1000" dirty="0"/>
          </a:p>
        </p:txBody>
      </p:sp>
      <p:sp>
        <p:nvSpPr>
          <p:cNvPr id="4" name="Text 2"/>
          <p:cNvSpPr/>
          <p:nvPr/>
        </p:nvSpPr>
        <p:spPr>
          <a:xfrm>
            <a:off x="457200" y="685800"/>
            <a:ext cx="10972800" cy="502920"/>
          </a:xfrm>
          <a:prstGeom prst="rect">
            <a:avLst/>
          </a:prstGeom>
          <a:noFill/>
          <a:ln/>
        </p:spPr>
        <p:txBody>
          <a:bodyPr wrap="square" rtlCol="0" anchor="ctr"/>
          <a:lstStyle/>
          <a:p>
            <a:pPr indent="0" marL="0">
              <a:buNone/>
            </a:pPr>
            <a:r>
              <a:rPr lang="en-US" sz="2200" b="1" dirty="0">
                <a:solidFill>
                  <a:srgbClr val="0A2540"/>
                </a:solidFill>
              </a:rPr>
              <a:t>Base de Compétences et Scoring Automatique</a:t>
            </a:r>
            <a:endParaRPr lang="en-US" sz="2200" dirty="0"/>
          </a:p>
        </p:txBody>
      </p:sp>
      <p:sp>
        <p:nvSpPr>
          <p:cNvPr id="5" name="Text 3"/>
          <p:cNvSpPr/>
          <p:nvPr/>
        </p:nvSpPr>
        <p:spPr>
          <a:xfrm>
            <a:off x="457200" y="1371600"/>
            <a:ext cx="5303520" cy="320040"/>
          </a:xfrm>
          <a:prstGeom prst="rect">
            <a:avLst/>
          </a:prstGeom>
          <a:noFill/>
          <a:ln/>
        </p:spPr>
        <p:txBody>
          <a:bodyPr wrap="square" rtlCol="0" anchor="ctr"/>
          <a:lstStyle/>
          <a:p>
            <a:pPr indent="0" marL="0">
              <a:buNone/>
            </a:pPr>
            <a:r>
              <a:rPr lang="en-US" sz="900" b="1" spc="150" kern="0" dirty="0">
                <a:solidFill>
                  <a:srgbClr val="1B6CA8"/>
                </a:solidFill>
              </a:rPr>
              <a:t>ALGORITHME DE SCORING</a:t>
            </a:r>
            <a:endParaRPr lang="en-US" sz="900" dirty="0"/>
          </a:p>
        </p:txBody>
      </p:sp>
      <p:sp>
        <p:nvSpPr>
          <p:cNvPr id="6" name="Text 4"/>
          <p:cNvSpPr/>
          <p:nvPr/>
        </p:nvSpPr>
        <p:spPr>
          <a:xfrm>
            <a:off x="457200" y="1828800"/>
            <a:ext cx="2926080" cy="274320"/>
          </a:xfrm>
          <a:prstGeom prst="rect">
            <a:avLst/>
          </a:prstGeom>
          <a:noFill/>
          <a:ln/>
        </p:spPr>
        <p:txBody>
          <a:bodyPr wrap="square" rtlCol="0" anchor="ctr"/>
          <a:lstStyle/>
          <a:p>
            <a:pPr indent="0" marL="0">
              <a:buNone/>
            </a:pPr>
            <a:r>
              <a:rPr lang="en-US" sz="950" b="1" dirty="0">
                <a:solidFill>
                  <a:srgbClr val="0A2540"/>
                </a:solidFill>
              </a:rPr>
              <a:t>Score Global</a:t>
            </a:r>
            <a:endParaRPr lang="en-US" sz="950" dirty="0"/>
          </a:p>
        </p:txBody>
      </p:sp>
      <p:sp>
        <p:nvSpPr>
          <p:cNvPr id="7" name="Text 5"/>
          <p:cNvSpPr/>
          <p:nvPr/>
        </p:nvSpPr>
        <p:spPr>
          <a:xfrm>
            <a:off x="3383280" y="1828800"/>
            <a:ext cx="822960" cy="274320"/>
          </a:xfrm>
          <a:prstGeom prst="rect">
            <a:avLst/>
          </a:prstGeom>
          <a:noFill/>
          <a:ln/>
        </p:spPr>
        <p:txBody>
          <a:bodyPr wrap="square" rtlCol="0" anchor="ctr"/>
          <a:lstStyle/>
          <a:p>
            <a:pPr indent="0" marL="0">
              <a:buNone/>
            </a:pPr>
            <a:r>
              <a:rPr lang="en-US" sz="850" i="1" dirty="0">
                <a:solidFill>
                  <a:srgbClr val="64748B"/>
                </a:solidFill>
              </a:rPr>
              <a:t>/100 pts</a:t>
            </a:r>
            <a:endParaRPr lang="en-US" sz="850" dirty="0"/>
          </a:p>
        </p:txBody>
      </p:sp>
      <p:sp>
        <p:nvSpPr>
          <p:cNvPr id="8" name="Shape 6"/>
          <p:cNvSpPr/>
          <p:nvPr/>
        </p:nvSpPr>
        <p:spPr>
          <a:xfrm>
            <a:off x="457200" y="2103120"/>
            <a:ext cx="4114800" cy="274320"/>
          </a:xfrm>
          <a:prstGeom prst="rect">
            <a:avLst/>
          </a:prstGeom>
          <a:solidFill>
            <a:srgbClr val="E2E8F0"/>
          </a:solidFill>
          <a:ln w="12700">
            <a:solidFill>
              <a:srgbClr val="E2E8F0"/>
            </a:solidFill>
            <a:prstDash val="solid"/>
          </a:ln>
        </p:spPr>
      </p:sp>
      <p:sp>
        <p:nvSpPr>
          <p:cNvPr id="9" name="Shape 7"/>
          <p:cNvSpPr/>
          <p:nvPr/>
        </p:nvSpPr>
        <p:spPr>
          <a:xfrm>
            <a:off x="457200" y="2103120"/>
            <a:ext cx="3497580" cy="274320"/>
          </a:xfrm>
          <a:prstGeom prst="rect">
            <a:avLst/>
          </a:prstGeom>
          <a:solidFill>
            <a:srgbClr val="1B6CA8"/>
          </a:solidFill>
          <a:ln w="12700">
            <a:solidFill>
              <a:srgbClr val="1B6CA8"/>
            </a:solidFill>
            <a:prstDash val="solid"/>
          </a:ln>
        </p:spPr>
      </p:sp>
      <p:sp>
        <p:nvSpPr>
          <p:cNvPr id="10" name="Text 8"/>
          <p:cNvSpPr/>
          <p:nvPr/>
        </p:nvSpPr>
        <p:spPr>
          <a:xfrm>
            <a:off x="4663440" y="2103120"/>
            <a:ext cx="1097280" cy="274320"/>
          </a:xfrm>
          <a:prstGeom prst="rect">
            <a:avLst/>
          </a:prstGeom>
          <a:noFill/>
          <a:ln/>
        </p:spPr>
        <p:txBody>
          <a:bodyPr wrap="square" rtlCol="0" anchor="ctr"/>
          <a:lstStyle/>
          <a:p>
            <a:pPr indent="0" marL="0">
              <a:buNone/>
            </a:pPr>
            <a:r>
              <a:rPr lang="en-US" sz="800" b="1" dirty="0">
                <a:solidFill>
                  <a:srgbClr val="1B6CA8"/>
                </a:solidFill>
              </a:rPr>
              <a:t>Exemple: 85</a:t>
            </a:r>
            <a:endParaRPr lang="en-US" sz="800" dirty="0"/>
          </a:p>
        </p:txBody>
      </p:sp>
      <p:sp>
        <p:nvSpPr>
          <p:cNvPr id="11" name="Text 9"/>
          <p:cNvSpPr/>
          <p:nvPr/>
        </p:nvSpPr>
        <p:spPr>
          <a:xfrm>
            <a:off x="457200" y="2633472"/>
            <a:ext cx="2926080" cy="274320"/>
          </a:xfrm>
          <a:prstGeom prst="rect">
            <a:avLst/>
          </a:prstGeom>
          <a:noFill/>
          <a:ln/>
        </p:spPr>
        <p:txBody>
          <a:bodyPr wrap="square" rtlCol="0" anchor="ctr"/>
          <a:lstStyle/>
          <a:p>
            <a:pPr indent="0" marL="0">
              <a:buNone/>
            </a:pPr>
            <a:r>
              <a:rPr lang="en-US" sz="950" dirty="0">
                <a:solidFill>
                  <a:srgbClr val="0A2540"/>
                </a:solidFill>
              </a:rPr>
              <a:t>Match Compétences</a:t>
            </a:r>
            <a:endParaRPr lang="en-US" sz="950" dirty="0"/>
          </a:p>
        </p:txBody>
      </p:sp>
      <p:sp>
        <p:nvSpPr>
          <p:cNvPr id="12" name="Text 10"/>
          <p:cNvSpPr/>
          <p:nvPr/>
        </p:nvSpPr>
        <p:spPr>
          <a:xfrm>
            <a:off x="3383280" y="2633472"/>
            <a:ext cx="822960" cy="274320"/>
          </a:xfrm>
          <a:prstGeom prst="rect">
            <a:avLst/>
          </a:prstGeom>
          <a:noFill/>
          <a:ln/>
        </p:spPr>
        <p:txBody>
          <a:bodyPr wrap="square" rtlCol="0" anchor="ctr"/>
          <a:lstStyle/>
          <a:p>
            <a:pPr indent="0" marL="0">
              <a:buNone/>
            </a:pPr>
            <a:r>
              <a:rPr lang="en-US" sz="850" i="1" dirty="0">
                <a:solidFill>
                  <a:srgbClr val="64748B"/>
                </a:solidFill>
              </a:rPr>
              <a:t>/40 pts</a:t>
            </a:r>
            <a:endParaRPr lang="en-US" sz="850" dirty="0"/>
          </a:p>
        </p:txBody>
      </p:sp>
      <p:sp>
        <p:nvSpPr>
          <p:cNvPr id="13" name="Shape 11"/>
          <p:cNvSpPr/>
          <p:nvPr/>
        </p:nvSpPr>
        <p:spPr>
          <a:xfrm>
            <a:off x="457200" y="2907792"/>
            <a:ext cx="4114800" cy="274320"/>
          </a:xfrm>
          <a:prstGeom prst="rect">
            <a:avLst/>
          </a:prstGeom>
          <a:solidFill>
            <a:srgbClr val="E2E8F0"/>
          </a:solidFill>
          <a:ln w="12700">
            <a:solidFill>
              <a:srgbClr val="E2E8F0"/>
            </a:solidFill>
            <a:prstDash val="solid"/>
          </a:ln>
        </p:spPr>
      </p:sp>
      <p:sp>
        <p:nvSpPr>
          <p:cNvPr id="14" name="Shape 12"/>
          <p:cNvSpPr/>
          <p:nvPr/>
        </p:nvSpPr>
        <p:spPr>
          <a:xfrm>
            <a:off x="457200" y="2907792"/>
            <a:ext cx="3703320" cy="274320"/>
          </a:xfrm>
          <a:prstGeom prst="rect">
            <a:avLst/>
          </a:prstGeom>
          <a:solidFill>
            <a:srgbClr val="16A34A"/>
          </a:solidFill>
          <a:ln w="12700">
            <a:solidFill>
              <a:srgbClr val="16A34A"/>
            </a:solidFill>
            <a:prstDash val="solid"/>
          </a:ln>
        </p:spPr>
      </p:sp>
      <p:sp>
        <p:nvSpPr>
          <p:cNvPr id="15" name="Text 13"/>
          <p:cNvSpPr/>
          <p:nvPr/>
        </p:nvSpPr>
        <p:spPr>
          <a:xfrm>
            <a:off x="4663440" y="2907792"/>
            <a:ext cx="1097280" cy="274320"/>
          </a:xfrm>
          <a:prstGeom prst="rect">
            <a:avLst/>
          </a:prstGeom>
          <a:noFill/>
          <a:ln/>
        </p:spPr>
        <p:txBody>
          <a:bodyPr wrap="square" rtlCol="0" anchor="ctr"/>
          <a:lstStyle/>
          <a:p>
            <a:pPr indent="0" marL="0">
              <a:buNone/>
            </a:pPr>
            <a:r>
              <a:rPr lang="en-US" sz="800" b="1" dirty="0">
                <a:solidFill>
                  <a:srgbClr val="16A34A"/>
                </a:solidFill>
              </a:rPr>
              <a:t>Exemple: 36</a:t>
            </a:r>
            <a:endParaRPr lang="en-US" sz="800" dirty="0"/>
          </a:p>
        </p:txBody>
      </p:sp>
      <p:sp>
        <p:nvSpPr>
          <p:cNvPr id="16" name="Text 14"/>
          <p:cNvSpPr/>
          <p:nvPr/>
        </p:nvSpPr>
        <p:spPr>
          <a:xfrm>
            <a:off x="457200" y="3438144"/>
            <a:ext cx="2926080" cy="274320"/>
          </a:xfrm>
          <a:prstGeom prst="rect">
            <a:avLst/>
          </a:prstGeom>
          <a:noFill/>
          <a:ln/>
        </p:spPr>
        <p:txBody>
          <a:bodyPr wrap="square" rtlCol="0" anchor="ctr"/>
          <a:lstStyle/>
          <a:p>
            <a:pPr indent="0" marL="0">
              <a:buNone/>
            </a:pPr>
            <a:r>
              <a:rPr lang="en-US" sz="950" dirty="0">
                <a:solidFill>
                  <a:srgbClr val="0A2540"/>
                </a:solidFill>
              </a:rPr>
              <a:t>Match Expérience</a:t>
            </a:r>
            <a:endParaRPr lang="en-US" sz="950" dirty="0"/>
          </a:p>
        </p:txBody>
      </p:sp>
      <p:sp>
        <p:nvSpPr>
          <p:cNvPr id="17" name="Text 15"/>
          <p:cNvSpPr/>
          <p:nvPr/>
        </p:nvSpPr>
        <p:spPr>
          <a:xfrm>
            <a:off x="3383280" y="3438144"/>
            <a:ext cx="822960" cy="274320"/>
          </a:xfrm>
          <a:prstGeom prst="rect">
            <a:avLst/>
          </a:prstGeom>
          <a:noFill/>
          <a:ln/>
        </p:spPr>
        <p:txBody>
          <a:bodyPr wrap="square" rtlCol="0" anchor="ctr"/>
          <a:lstStyle/>
          <a:p>
            <a:pPr indent="0" marL="0">
              <a:buNone/>
            </a:pPr>
            <a:r>
              <a:rPr lang="en-US" sz="850" i="1" dirty="0">
                <a:solidFill>
                  <a:srgbClr val="64748B"/>
                </a:solidFill>
              </a:rPr>
              <a:t>/30 pts</a:t>
            </a:r>
            <a:endParaRPr lang="en-US" sz="850" dirty="0"/>
          </a:p>
        </p:txBody>
      </p:sp>
      <p:sp>
        <p:nvSpPr>
          <p:cNvPr id="18" name="Shape 16"/>
          <p:cNvSpPr/>
          <p:nvPr/>
        </p:nvSpPr>
        <p:spPr>
          <a:xfrm>
            <a:off x="457200" y="3712464"/>
            <a:ext cx="4114800" cy="274320"/>
          </a:xfrm>
          <a:prstGeom prst="rect">
            <a:avLst/>
          </a:prstGeom>
          <a:solidFill>
            <a:srgbClr val="E2E8F0"/>
          </a:solidFill>
          <a:ln w="12700">
            <a:solidFill>
              <a:srgbClr val="E2E8F0"/>
            </a:solidFill>
            <a:prstDash val="solid"/>
          </a:ln>
        </p:spPr>
      </p:sp>
      <p:sp>
        <p:nvSpPr>
          <p:cNvPr id="19" name="Shape 17"/>
          <p:cNvSpPr/>
          <p:nvPr/>
        </p:nvSpPr>
        <p:spPr>
          <a:xfrm>
            <a:off x="457200" y="3712464"/>
            <a:ext cx="3291840" cy="274320"/>
          </a:xfrm>
          <a:prstGeom prst="rect">
            <a:avLst/>
          </a:prstGeom>
          <a:solidFill>
            <a:srgbClr val="D97706"/>
          </a:solidFill>
          <a:ln w="12700">
            <a:solidFill>
              <a:srgbClr val="D97706"/>
            </a:solidFill>
            <a:prstDash val="solid"/>
          </a:ln>
        </p:spPr>
      </p:sp>
      <p:sp>
        <p:nvSpPr>
          <p:cNvPr id="20" name="Text 18"/>
          <p:cNvSpPr/>
          <p:nvPr/>
        </p:nvSpPr>
        <p:spPr>
          <a:xfrm>
            <a:off x="4663440" y="3712464"/>
            <a:ext cx="1097280" cy="274320"/>
          </a:xfrm>
          <a:prstGeom prst="rect">
            <a:avLst/>
          </a:prstGeom>
          <a:noFill/>
          <a:ln/>
        </p:spPr>
        <p:txBody>
          <a:bodyPr wrap="square" rtlCol="0" anchor="ctr"/>
          <a:lstStyle/>
          <a:p>
            <a:pPr indent="0" marL="0">
              <a:buNone/>
            </a:pPr>
            <a:r>
              <a:rPr lang="en-US" sz="800" b="1" dirty="0">
                <a:solidFill>
                  <a:srgbClr val="D97706"/>
                </a:solidFill>
              </a:rPr>
              <a:t>Exemple: 24</a:t>
            </a:r>
            <a:endParaRPr lang="en-US" sz="800" dirty="0"/>
          </a:p>
        </p:txBody>
      </p:sp>
      <p:sp>
        <p:nvSpPr>
          <p:cNvPr id="21" name="Text 19"/>
          <p:cNvSpPr/>
          <p:nvPr/>
        </p:nvSpPr>
        <p:spPr>
          <a:xfrm>
            <a:off x="457200" y="4242816"/>
            <a:ext cx="2926080" cy="274320"/>
          </a:xfrm>
          <a:prstGeom prst="rect">
            <a:avLst/>
          </a:prstGeom>
          <a:noFill/>
          <a:ln/>
        </p:spPr>
        <p:txBody>
          <a:bodyPr wrap="square" rtlCol="0" anchor="ctr"/>
          <a:lstStyle/>
          <a:p>
            <a:pPr indent="0" marL="0">
              <a:buNone/>
            </a:pPr>
            <a:r>
              <a:rPr lang="en-US" sz="950" dirty="0">
                <a:solidFill>
                  <a:srgbClr val="0A2540"/>
                </a:solidFill>
              </a:rPr>
              <a:t>Match Diplôme</a:t>
            </a:r>
            <a:endParaRPr lang="en-US" sz="950" dirty="0"/>
          </a:p>
        </p:txBody>
      </p:sp>
      <p:sp>
        <p:nvSpPr>
          <p:cNvPr id="22" name="Text 20"/>
          <p:cNvSpPr/>
          <p:nvPr/>
        </p:nvSpPr>
        <p:spPr>
          <a:xfrm>
            <a:off x="3383280" y="4242816"/>
            <a:ext cx="822960" cy="274320"/>
          </a:xfrm>
          <a:prstGeom prst="rect">
            <a:avLst/>
          </a:prstGeom>
          <a:noFill/>
          <a:ln/>
        </p:spPr>
        <p:txBody>
          <a:bodyPr wrap="square" rtlCol="0" anchor="ctr"/>
          <a:lstStyle/>
          <a:p>
            <a:pPr indent="0" marL="0">
              <a:buNone/>
            </a:pPr>
            <a:r>
              <a:rPr lang="en-US" sz="850" i="1" dirty="0">
                <a:solidFill>
                  <a:srgbClr val="64748B"/>
                </a:solidFill>
              </a:rPr>
              <a:t>/20 pts</a:t>
            </a:r>
            <a:endParaRPr lang="en-US" sz="850" dirty="0"/>
          </a:p>
        </p:txBody>
      </p:sp>
      <p:sp>
        <p:nvSpPr>
          <p:cNvPr id="23" name="Shape 21"/>
          <p:cNvSpPr/>
          <p:nvPr/>
        </p:nvSpPr>
        <p:spPr>
          <a:xfrm>
            <a:off x="457200" y="4517136"/>
            <a:ext cx="4114800" cy="274320"/>
          </a:xfrm>
          <a:prstGeom prst="rect">
            <a:avLst/>
          </a:prstGeom>
          <a:solidFill>
            <a:srgbClr val="E2E8F0"/>
          </a:solidFill>
          <a:ln w="12700">
            <a:solidFill>
              <a:srgbClr val="E2E8F0"/>
            </a:solidFill>
            <a:prstDash val="solid"/>
          </a:ln>
        </p:spPr>
      </p:sp>
      <p:sp>
        <p:nvSpPr>
          <p:cNvPr id="24" name="Shape 22"/>
          <p:cNvSpPr/>
          <p:nvPr/>
        </p:nvSpPr>
        <p:spPr>
          <a:xfrm>
            <a:off x="457200" y="4517136"/>
            <a:ext cx="2880360" cy="274320"/>
          </a:xfrm>
          <a:prstGeom prst="rect">
            <a:avLst/>
          </a:prstGeom>
          <a:solidFill>
            <a:srgbClr val="7C3AED"/>
          </a:solidFill>
          <a:ln w="12700">
            <a:solidFill>
              <a:srgbClr val="7C3AED"/>
            </a:solidFill>
            <a:prstDash val="solid"/>
          </a:ln>
        </p:spPr>
      </p:sp>
      <p:sp>
        <p:nvSpPr>
          <p:cNvPr id="25" name="Text 23"/>
          <p:cNvSpPr/>
          <p:nvPr/>
        </p:nvSpPr>
        <p:spPr>
          <a:xfrm>
            <a:off x="4663440" y="4517136"/>
            <a:ext cx="1097280" cy="274320"/>
          </a:xfrm>
          <a:prstGeom prst="rect">
            <a:avLst/>
          </a:prstGeom>
          <a:noFill/>
          <a:ln/>
        </p:spPr>
        <p:txBody>
          <a:bodyPr wrap="square" rtlCol="0" anchor="ctr"/>
          <a:lstStyle/>
          <a:p>
            <a:pPr indent="0" marL="0">
              <a:buNone/>
            </a:pPr>
            <a:r>
              <a:rPr lang="en-US" sz="800" b="1" dirty="0">
                <a:solidFill>
                  <a:srgbClr val="7C3AED"/>
                </a:solidFill>
              </a:rPr>
              <a:t>Exemple: 14</a:t>
            </a:r>
            <a:endParaRPr lang="en-US" sz="800" dirty="0"/>
          </a:p>
        </p:txBody>
      </p:sp>
      <p:sp>
        <p:nvSpPr>
          <p:cNvPr id="26" name="Text 24"/>
          <p:cNvSpPr/>
          <p:nvPr/>
        </p:nvSpPr>
        <p:spPr>
          <a:xfrm>
            <a:off x="457200" y="5047488"/>
            <a:ext cx="2926080" cy="274320"/>
          </a:xfrm>
          <a:prstGeom prst="rect">
            <a:avLst/>
          </a:prstGeom>
          <a:noFill/>
          <a:ln/>
        </p:spPr>
        <p:txBody>
          <a:bodyPr wrap="square" rtlCol="0" anchor="ctr"/>
          <a:lstStyle/>
          <a:p>
            <a:pPr indent="0" marL="0">
              <a:buNone/>
            </a:pPr>
            <a:r>
              <a:rPr lang="en-US" sz="950" dirty="0">
                <a:solidFill>
                  <a:srgbClr val="0A2540"/>
                </a:solidFill>
              </a:rPr>
              <a:t>Bonus Recommandation</a:t>
            </a:r>
            <a:endParaRPr lang="en-US" sz="950" dirty="0"/>
          </a:p>
        </p:txBody>
      </p:sp>
      <p:sp>
        <p:nvSpPr>
          <p:cNvPr id="27" name="Text 25"/>
          <p:cNvSpPr/>
          <p:nvPr/>
        </p:nvSpPr>
        <p:spPr>
          <a:xfrm>
            <a:off x="3383280" y="5047488"/>
            <a:ext cx="822960" cy="274320"/>
          </a:xfrm>
          <a:prstGeom prst="rect">
            <a:avLst/>
          </a:prstGeom>
          <a:noFill/>
          <a:ln/>
        </p:spPr>
        <p:txBody>
          <a:bodyPr wrap="square" rtlCol="0" anchor="ctr"/>
          <a:lstStyle/>
          <a:p>
            <a:pPr indent="0" marL="0">
              <a:buNone/>
            </a:pPr>
            <a:r>
              <a:rPr lang="en-US" sz="850" i="1" dirty="0">
                <a:solidFill>
                  <a:srgbClr val="64748B"/>
                </a:solidFill>
              </a:rPr>
              <a:t>/10 pts</a:t>
            </a:r>
            <a:endParaRPr lang="en-US" sz="850" dirty="0"/>
          </a:p>
        </p:txBody>
      </p:sp>
      <p:sp>
        <p:nvSpPr>
          <p:cNvPr id="28" name="Shape 26"/>
          <p:cNvSpPr/>
          <p:nvPr/>
        </p:nvSpPr>
        <p:spPr>
          <a:xfrm>
            <a:off x="457200" y="5321808"/>
            <a:ext cx="4114800" cy="274320"/>
          </a:xfrm>
          <a:prstGeom prst="rect">
            <a:avLst/>
          </a:prstGeom>
          <a:solidFill>
            <a:srgbClr val="E2E8F0"/>
          </a:solidFill>
          <a:ln w="12700">
            <a:solidFill>
              <a:srgbClr val="E2E8F0"/>
            </a:solidFill>
            <a:prstDash val="solid"/>
          </a:ln>
        </p:spPr>
      </p:sp>
      <p:sp>
        <p:nvSpPr>
          <p:cNvPr id="29" name="Shape 27"/>
          <p:cNvSpPr/>
          <p:nvPr/>
        </p:nvSpPr>
        <p:spPr>
          <a:xfrm>
            <a:off x="457200" y="5321808"/>
            <a:ext cx="2880360" cy="274320"/>
          </a:xfrm>
          <a:prstGeom prst="rect">
            <a:avLst/>
          </a:prstGeom>
          <a:solidFill>
            <a:srgbClr val="DB2777"/>
          </a:solidFill>
          <a:ln w="12700">
            <a:solidFill>
              <a:srgbClr val="DB2777"/>
            </a:solidFill>
            <a:prstDash val="solid"/>
          </a:ln>
        </p:spPr>
      </p:sp>
      <p:sp>
        <p:nvSpPr>
          <p:cNvPr id="30" name="Text 28"/>
          <p:cNvSpPr/>
          <p:nvPr/>
        </p:nvSpPr>
        <p:spPr>
          <a:xfrm>
            <a:off x="4663440" y="5321808"/>
            <a:ext cx="1097280" cy="274320"/>
          </a:xfrm>
          <a:prstGeom prst="rect">
            <a:avLst/>
          </a:prstGeom>
          <a:noFill/>
          <a:ln/>
        </p:spPr>
        <p:txBody>
          <a:bodyPr wrap="square" rtlCol="0" anchor="ctr"/>
          <a:lstStyle/>
          <a:p>
            <a:pPr indent="0" marL="0">
              <a:buNone/>
            </a:pPr>
            <a:r>
              <a:rPr lang="en-US" sz="800" b="1" dirty="0">
                <a:solidFill>
                  <a:srgbClr val="DB2777"/>
                </a:solidFill>
              </a:rPr>
              <a:t>Exemple: 7</a:t>
            </a:r>
            <a:endParaRPr lang="en-US" sz="800" dirty="0"/>
          </a:p>
        </p:txBody>
      </p:sp>
      <p:sp>
        <p:nvSpPr>
          <p:cNvPr id="31" name="Text 29"/>
          <p:cNvSpPr/>
          <p:nvPr/>
        </p:nvSpPr>
        <p:spPr>
          <a:xfrm>
            <a:off x="6400800" y="1371600"/>
            <a:ext cx="5303520" cy="320040"/>
          </a:xfrm>
          <a:prstGeom prst="rect">
            <a:avLst/>
          </a:prstGeom>
          <a:noFill/>
          <a:ln/>
        </p:spPr>
        <p:txBody>
          <a:bodyPr wrap="square" rtlCol="0" anchor="ctr"/>
          <a:lstStyle/>
          <a:p>
            <a:pPr indent="0" marL="0">
              <a:buNone/>
            </a:pPr>
            <a:r>
              <a:rPr lang="en-US" sz="900" b="1" spc="150" kern="0" dirty="0">
                <a:solidFill>
                  <a:srgbClr val="1B6CA8"/>
                </a:solidFill>
              </a:rPr>
              <a:t>FONCTIONNALITÉS CVthèque</a:t>
            </a:r>
            <a:endParaRPr lang="en-US" sz="900" dirty="0"/>
          </a:p>
        </p:txBody>
      </p:sp>
      <p:sp>
        <p:nvSpPr>
          <p:cNvPr id="32" name="Shape 30"/>
          <p:cNvSpPr/>
          <p:nvPr/>
        </p:nvSpPr>
        <p:spPr>
          <a:xfrm>
            <a:off x="6400800" y="1828800"/>
            <a:ext cx="5303520" cy="475488"/>
          </a:xfrm>
          <a:prstGeom prst="roundRect">
            <a:avLst>
              <a:gd name="adj" fmla="val 7692"/>
            </a:avLst>
          </a:prstGeom>
          <a:solidFill>
            <a:srgbClr val="F1F5F9"/>
          </a:solidFill>
          <a:ln w="12700">
            <a:solidFill>
              <a:srgbClr val="E2E8F0"/>
            </a:solidFill>
            <a:prstDash val="solid"/>
          </a:ln>
        </p:spPr>
      </p:sp>
      <p:sp>
        <p:nvSpPr>
          <p:cNvPr id="33" name="Text 31"/>
          <p:cNvSpPr/>
          <p:nvPr/>
        </p:nvSpPr>
        <p:spPr>
          <a:xfrm>
            <a:off x="6537960" y="1856232"/>
            <a:ext cx="5029200" cy="219456"/>
          </a:xfrm>
          <a:prstGeom prst="rect">
            <a:avLst/>
          </a:prstGeom>
          <a:noFill/>
          <a:ln/>
        </p:spPr>
        <p:txBody>
          <a:bodyPr wrap="square" rtlCol="0" anchor="ctr"/>
          <a:lstStyle/>
          <a:p>
            <a:pPr indent="0" marL="0">
              <a:buNone/>
            </a:pPr>
            <a:r>
              <a:rPr lang="en-US" sz="950" b="1" dirty="0">
                <a:solidFill>
                  <a:srgbClr val="1B6CA8"/>
                </a:solidFill>
              </a:rPr>
              <a:t>Profils candidats enrichis</a:t>
            </a:r>
            <a:endParaRPr lang="en-US" sz="950" dirty="0"/>
          </a:p>
        </p:txBody>
      </p:sp>
      <p:sp>
        <p:nvSpPr>
          <p:cNvPr id="34" name="Text 32"/>
          <p:cNvSpPr/>
          <p:nvPr/>
        </p:nvSpPr>
        <p:spPr>
          <a:xfrm>
            <a:off x="6537960" y="2075688"/>
            <a:ext cx="5029200" cy="201168"/>
          </a:xfrm>
          <a:prstGeom prst="rect">
            <a:avLst/>
          </a:prstGeom>
          <a:noFill/>
          <a:ln/>
        </p:spPr>
        <p:txBody>
          <a:bodyPr wrap="square" rtlCol="0" anchor="ctr"/>
          <a:lstStyle/>
          <a:p>
            <a:pPr indent="0" marL="0">
              <a:buNone/>
            </a:pPr>
            <a:r>
              <a:rPr lang="en-US" sz="850" dirty="0">
                <a:solidFill>
                  <a:srgbClr val="64748B"/>
                </a:solidFill>
              </a:rPr>
              <a:t>Photo, compétences, langues, certifications</a:t>
            </a:r>
            <a:endParaRPr lang="en-US" sz="850" dirty="0"/>
          </a:p>
        </p:txBody>
      </p:sp>
      <p:sp>
        <p:nvSpPr>
          <p:cNvPr id="35" name="Shape 33"/>
          <p:cNvSpPr/>
          <p:nvPr/>
        </p:nvSpPr>
        <p:spPr>
          <a:xfrm>
            <a:off x="6400800" y="2395728"/>
            <a:ext cx="5303520" cy="475488"/>
          </a:xfrm>
          <a:prstGeom prst="roundRect">
            <a:avLst>
              <a:gd name="adj" fmla="val 7692"/>
            </a:avLst>
          </a:prstGeom>
          <a:solidFill>
            <a:srgbClr val="FFFFFF"/>
          </a:solidFill>
          <a:ln w="12700">
            <a:solidFill>
              <a:srgbClr val="E2E8F0"/>
            </a:solidFill>
            <a:prstDash val="solid"/>
          </a:ln>
        </p:spPr>
      </p:sp>
      <p:sp>
        <p:nvSpPr>
          <p:cNvPr id="36" name="Text 34"/>
          <p:cNvSpPr/>
          <p:nvPr/>
        </p:nvSpPr>
        <p:spPr>
          <a:xfrm>
            <a:off x="6537960" y="2423160"/>
            <a:ext cx="5029200" cy="219456"/>
          </a:xfrm>
          <a:prstGeom prst="rect">
            <a:avLst/>
          </a:prstGeom>
          <a:noFill/>
          <a:ln/>
        </p:spPr>
        <p:txBody>
          <a:bodyPr wrap="square" rtlCol="0" anchor="ctr"/>
          <a:lstStyle/>
          <a:p>
            <a:pPr indent="0" marL="0">
              <a:buNone/>
            </a:pPr>
            <a:r>
              <a:rPr lang="en-US" sz="950" b="1" dirty="0">
                <a:solidFill>
                  <a:srgbClr val="1B6CA8"/>
                </a:solidFill>
              </a:rPr>
              <a:t>Historique multi-candidatures</a:t>
            </a:r>
            <a:endParaRPr lang="en-US" sz="950" dirty="0"/>
          </a:p>
        </p:txBody>
      </p:sp>
      <p:sp>
        <p:nvSpPr>
          <p:cNvPr id="37" name="Text 35"/>
          <p:cNvSpPr/>
          <p:nvPr/>
        </p:nvSpPr>
        <p:spPr>
          <a:xfrm>
            <a:off x="6537960" y="2642616"/>
            <a:ext cx="5029200" cy="201168"/>
          </a:xfrm>
          <a:prstGeom prst="rect">
            <a:avLst/>
          </a:prstGeom>
          <a:noFill/>
          <a:ln/>
        </p:spPr>
        <p:txBody>
          <a:bodyPr wrap="square" rtlCol="0" anchor="ctr"/>
          <a:lstStyle/>
          <a:p>
            <a:pPr indent="0" marL="0">
              <a:buNone/>
            </a:pPr>
            <a:r>
              <a:rPr lang="en-US" sz="850" dirty="0">
                <a:solidFill>
                  <a:srgbClr val="64748B"/>
                </a:solidFill>
              </a:rPr>
              <a:t>Toutes les postulations d'un même candidat</a:t>
            </a:r>
            <a:endParaRPr lang="en-US" sz="850" dirty="0"/>
          </a:p>
        </p:txBody>
      </p:sp>
      <p:sp>
        <p:nvSpPr>
          <p:cNvPr id="38" name="Shape 36"/>
          <p:cNvSpPr/>
          <p:nvPr/>
        </p:nvSpPr>
        <p:spPr>
          <a:xfrm>
            <a:off x="6400800" y="2962656"/>
            <a:ext cx="5303520" cy="475488"/>
          </a:xfrm>
          <a:prstGeom prst="roundRect">
            <a:avLst>
              <a:gd name="adj" fmla="val 7692"/>
            </a:avLst>
          </a:prstGeom>
          <a:solidFill>
            <a:srgbClr val="F1F5F9"/>
          </a:solidFill>
          <a:ln w="12700">
            <a:solidFill>
              <a:srgbClr val="E2E8F0"/>
            </a:solidFill>
            <a:prstDash val="solid"/>
          </a:ln>
        </p:spPr>
      </p:sp>
      <p:sp>
        <p:nvSpPr>
          <p:cNvPr id="39" name="Text 37"/>
          <p:cNvSpPr/>
          <p:nvPr/>
        </p:nvSpPr>
        <p:spPr>
          <a:xfrm>
            <a:off x="6537960" y="2990088"/>
            <a:ext cx="5029200" cy="219456"/>
          </a:xfrm>
          <a:prstGeom prst="rect">
            <a:avLst/>
          </a:prstGeom>
          <a:noFill/>
          <a:ln/>
        </p:spPr>
        <p:txBody>
          <a:bodyPr wrap="square" rtlCol="0" anchor="ctr"/>
          <a:lstStyle/>
          <a:p>
            <a:pPr indent="0" marL="0">
              <a:buNone/>
            </a:pPr>
            <a:r>
              <a:rPr lang="en-US" sz="950" b="1" dirty="0">
                <a:solidFill>
                  <a:srgbClr val="1B6CA8"/>
                </a:solidFill>
              </a:rPr>
              <a:t>Filtres avancés</a:t>
            </a:r>
            <a:endParaRPr lang="en-US" sz="950" dirty="0"/>
          </a:p>
        </p:txBody>
      </p:sp>
      <p:sp>
        <p:nvSpPr>
          <p:cNvPr id="40" name="Text 38"/>
          <p:cNvSpPr/>
          <p:nvPr/>
        </p:nvSpPr>
        <p:spPr>
          <a:xfrm>
            <a:off x="6537960" y="3209544"/>
            <a:ext cx="5029200" cy="201168"/>
          </a:xfrm>
          <a:prstGeom prst="rect">
            <a:avLst/>
          </a:prstGeom>
          <a:noFill/>
          <a:ln/>
        </p:spPr>
        <p:txBody>
          <a:bodyPr wrap="square" rtlCol="0" anchor="ctr"/>
          <a:lstStyle/>
          <a:p>
            <a:pPr indent="0" marL="0">
              <a:buNone/>
            </a:pPr>
            <a:r>
              <a:rPr lang="en-US" sz="850" dirty="0">
                <a:solidFill>
                  <a:srgbClr val="64748B"/>
                </a:solidFill>
              </a:rPr>
              <a:t>Par offre, phase, score, statut, date</a:t>
            </a:r>
            <a:endParaRPr lang="en-US" sz="850" dirty="0"/>
          </a:p>
        </p:txBody>
      </p:sp>
      <p:sp>
        <p:nvSpPr>
          <p:cNvPr id="41" name="Shape 39"/>
          <p:cNvSpPr/>
          <p:nvPr/>
        </p:nvSpPr>
        <p:spPr>
          <a:xfrm>
            <a:off x="6400800" y="3529584"/>
            <a:ext cx="5303520" cy="475488"/>
          </a:xfrm>
          <a:prstGeom prst="roundRect">
            <a:avLst>
              <a:gd name="adj" fmla="val 7692"/>
            </a:avLst>
          </a:prstGeom>
          <a:solidFill>
            <a:srgbClr val="FFFFFF"/>
          </a:solidFill>
          <a:ln w="12700">
            <a:solidFill>
              <a:srgbClr val="E2E8F0"/>
            </a:solidFill>
            <a:prstDash val="solid"/>
          </a:ln>
        </p:spPr>
      </p:sp>
      <p:sp>
        <p:nvSpPr>
          <p:cNvPr id="42" name="Text 40"/>
          <p:cNvSpPr/>
          <p:nvPr/>
        </p:nvSpPr>
        <p:spPr>
          <a:xfrm>
            <a:off x="6537960" y="3557016"/>
            <a:ext cx="5029200" cy="219456"/>
          </a:xfrm>
          <a:prstGeom prst="rect">
            <a:avLst/>
          </a:prstGeom>
          <a:noFill/>
          <a:ln/>
        </p:spPr>
        <p:txBody>
          <a:bodyPr wrap="square" rtlCol="0" anchor="ctr"/>
          <a:lstStyle/>
          <a:p>
            <a:pPr indent="0" marL="0">
              <a:buNone/>
            </a:pPr>
            <a:r>
              <a:rPr lang="en-US" sz="950" b="1" dirty="0">
                <a:solidFill>
                  <a:srgbClr val="1B6CA8"/>
                </a:solidFill>
              </a:rPr>
              <a:t>Matching automatique</a:t>
            </a:r>
            <a:endParaRPr lang="en-US" sz="950" dirty="0"/>
          </a:p>
        </p:txBody>
      </p:sp>
      <p:sp>
        <p:nvSpPr>
          <p:cNvPr id="43" name="Text 41"/>
          <p:cNvSpPr/>
          <p:nvPr/>
        </p:nvSpPr>
        <p:spPr>
          <a:xfrm>
            <a:off x="6537960" y="3776472"/>
            <a:ext cx="5029200" cy="201168"/>
          </a:xfrm>
          <a:prstGeom prst="rect">
            <a:avLst/>
          </a:prstGeom>
          <a:noFill/>
          <a:ln/>
        </p:spPr>
        <p:txBody>
          <a:bodyPr wrap="square" rtlCol="0" anchor="ctr"/>
          <a:lstStyle/>
          <a:p>
            <a:pPr indent="0" marL="0">
              <a:buNone/>
            </a:pPr>
            <a:r>
              <a:rPr lang="en-US" sz="850" dirty="0">
                <a:solidFill>
                  <a:srgbClr val="64748B"/>
                </a:solidFill>
              </a:rPr>
              <a:t>Correspondance poste ↔ profil en temps réel</a:t>
            </a:r>
            <a:endParaRPr lang="en-US" sz="850" dirty="0"/>
          </a:p>
        </p:txBody>
      </p:sp>
      <p:sp>
        <p:nvSpPr>
          <p:cNvPr id="44" name="Shape 42"/>
          <p:cNvSpPr/>
          <p:nvPr/>
        </p:nvSpPr>
        <p:spPr>
          <a:xfrm>
            <a:off x="6400800" y="4096512"/>
            <a:ext cx="5303520" cy="475488"/>
          </a:xfrm>
          <a:prstGeom prst="roundRect">
            <a:avLst>
              <a:gd name="adj" fmla="val 7692"/>
            </a:avLst>
          </a:prstGeom>
          <a:solidFill>
            <a:srgbClr val="F1F5F9"/>
          </a:solidFill>
          <a:ln w="12700">
            <a:solidFill>
              <a:srgbClr val="E2E8F0"/>
            </a:solidFill>
            <a:prstDash val="solid"/>
          </a:ln>
        </p:spPr>
      </p:sp>
      <p:sp>
        <p:nvSpPr>
          <p:cNvPr id="45" name="Text 43"/>
          <p:cNvSpPr/>
          <p:nvPr/>
        </p:nvSpPr>
        <p:spPr>
          <a:xfrm>
            <a:off x="6537960" y="4123944"/>
            <a:ext cx="5029200" cy="219456"/>
          </a:xfrm>
          <a:prstGeom prst="rect">
            <a:avLst/>
          </a:prstGeom>
          <a:noFill/>
          <a:ln/>
        </p:spPr>
        <p:txBody>
          <a:bodyPr wrap="square" rtlCol="0" anchor="ctr"/>
          <a:lstStyle/>
          <a:p>
            <a:pPr indent="0" marL="0">
              <a:buNone/>
            </a:pPr>
            <a:r>
              <a:rPr lang="en-US" sz="950" b="1" dirty="0">
                <a:solidFill>
                  <a:srgbClr val="1B6CA8"/>
                </a:solidFill>
              </a:rPr>
              <a:t>Gestion des documents</a:t>
            </a:r>
            <a:endParaRPr lang="en-US" sz="950" dirty="0"/>
          </a:p>
        </p:txBody>
      </p:sp>
      <p:sp>
        <p:nvSpPr>
          <p:cNvPr id="46" name="Text 44"/>
          <p:cNvSpPr/>
          <p:nvPr/>
        </p:nvSpPr>
        <p:spPr>
          <a:xfrm>
            <a:off x="6537960" y="4343400"/>
            <a:ext cx="5029200" cy="201168"/>
          </a:xfrm>
          <a:prstGeom prst="rect">
            <a:avLst/>
          </a:prstGeom>
          <a:noFill/>
          <a:ln/>
        </p:spPr>
        <p:txBody>
          <a:bodyPr wrap="square" rtlCol="0" anchor="ctr"/>
          <a:lstStyle/>
          <a:p>
            <a:pPr indent="0" marL="0">
              <a:buNone/>
            </a:pPr>
            <a:r>
              <a:rPr lang="en-US" sz="850" dirty="0">
                <a:solidFill>
                  <a:srgbClr val="64748B"/>
                </a:solidFill>
              </a:rPr>
              <a:t>CV, diplômes, casier, visite médicale</a:t>
            </a:r>
            <a:endParaRPr lang="en-US" sz="850" dirty="0"/>
          </a:p>
        </p:txBody>
      </p:sp>
      <p:sp>
        <p:nvSpPr>
          <p:cNvPr id="47" name="Shape 45"/>
          <p:cNvSpPr/>
          <p:nvPr/>
        </p:nvSpPr>
        <p:spPr>
          <a:xfrm>
            <a:off x="6400800" y="4663440"/>
            <a:ext cx="5303520" cy="475488"/>
          </a:xfrm>
          <a:prstGeom prst="roundRect">
            <a:avLst>
              <a:gd name="adj" fmla="val 7692"/>
            </a:avLst>
          </a:prstGeom>
          <a:solidFill>
            <a:srgbClr val="FFFFFF"/>
          </a:solidFill>
          <a:ln w="12700">
            <a:solidFill>
              <a:srgbClr val="E2E8F0"/>
            </a:solidFill>
            <a:prstDash val="solid"/>
          </a:ln>
        </p:spPr>
      </p:sp>
      <p:sp>
        <p:nvSpPr>
          <p:cNvPr id="48" name="Text 46"/>
          <p:cNvSpPr/>
          <p:nvPr/>
        </p:nvSpPr>
        <p:spPr>
          <a:xfrm>
            <a:off x="6537960" y="4690872"/>
            <a:ext cx="5029200" cy="219456"/>
          </a:xfrm>
          <a:prstGeom prst="rect">
            <a:avLst/>
          </a:prstGeom>
          <a:noFill/>
          <a:ln/>
        </p:spPr>
        <p:txBody>
          <a:bodyPr wrap="square" rtlCol="0" anchor="ctr"/>
          <a:lstStyle/>
          <a:p>
            <a:pPr indent="0" marL="0">
              <a:buNone/>
            </a:pPr>
            <a:r>
              <a:rPr lang="en-US" sz="950" b="1" dirty="0">
                <a:solidFill>
                  <a:srgbClr val="1B6CA8"/>
                </a:solidFill>
              </a:rPr>
              <a:t>Pipeline candidats</a:t>
            </a:r>
            <a:endParaRPr lang="en-US" sz="950" dirty="0"/>
          </a:p>
        </p:txBody>
      </p:sp>
      <p:sp>
        <p:nvSpPr>
          <p:cNvPr id="49" name="Text 47"/>
          <p:cNvSpPr/>
          <p:nvPr/>
        </p:nvSpPr>
        <p:spPr>
          <a:xfrm>
            <a:off x="6537960" y="4910328"/>
            <a:ext cx="5029200" cy="201168"/>
          </a:xfrm>
          <a:prstGeom prst="rect">
            <a:avLst/>
          </a:prstGeom>
          <a:noFill/>
          <a:ln/>
        </p:spPr>
        <p:txBody>
          <a:bodyPr wrap="square" rtlCol="0" anchor="ctr"/>
          <a:lstStyle/>
          <a:p>
            <a:pPr indent="0" marL="0">
              <a:buNone/>
            </a:pPr>
            <a:r>
              <a:rPr lang="en-US" sz="850" dirty="0">
                <a:solidFill>
                  <a:srgbClr val="64748B"/>
                </a:solidFill>
              </a:rPr>
              <a:t>Vue kanban des 10 phases de sélection</a:t>
            </a:r>
            <a:endParaRPr lang="en-US" sz="850" dirty="0"/>
          </a:p>
        </p:txBody>
      </p:sp>
      <p:sp>
        <p:nvSpPr>
          <p:cNvPr id="50" name="Shape 48"/>
          <p:cNvSpPr/>
          <p:nvPr/>
        </p:nvSpPr>
        <p:spPr>
          <a:xfrm>
            <a:off x="6400800" y="5230368"/>
            <a:ext cx="5303520" cy="475488"/>
          </a:xfrm>
          <a:prstGeom prst="roundRect">
            <a:avLst>
              <a:gd name="adj" fmla="val 7692"/>
            </a:avLst>
          </a:prstGeom>
          <a:solidFill>
            <a:srgbClr val="F1F5F9"/>
          </a:solidFill>
          <a:ln w="12700">
            <a:solidFill>
              <a:srgbClr val="E2E8F0"/>
            </a:solidFill>
            <a:prstDash val="solid"/>
          </a:ln>
        </p:spPr>
      </p:sp>
      <p:sp>
        <p:nvSpPr>
          <p:cNvPr id="51" name="Text 49"/>
          <p:cNvSpPr/>
          <p:nvPr/>
        </p:nvSpPr>
        <p:spPr>
          <a:xfrm>
            <a:off x="6537960" y="5257800"/>
            <a:ext cx="5029200" cy="219456"/>
          </a:xfrm>
          <a:prstGeom prst="rect">
            <a:avLst/>
          </a:prstGeom>
          <a:noFill/>
          <a:ln/>
        </p:spPr>
        <p:txBody>
          <a:bodyPr wrap="square" rtlCol="0" anchor="ctr"/>
          <a:lstStyle/>
          <a:p>
            <a:pPr indent="0" marL="0">
              <a:buNone/>
            </a:pPr>
            <a:r>
              <a:rPr lang="en-US" sz="950" b="1" dirty="0">
                <a:solidFill>
                  <a:srgbClr val="1B6CA8"/>
                </a:solidFill>
              </a:rPr>
              <a:t>Export &amp; rapports</a:t>
            </a:r>
            <a:endParaRPr lang="en-US" sz="950" dirty="0"/>
          </a:p>
        </p:txBody>
      </p:sp>
      <p:sp>
        <p:nvSpPr>
          <p:cNvPr id="52" name="Text 50"/>
          <p:cNvSpPr/>
          <p:nvPr/>
        </p:nvSpPr>
        <p:spPr>
          <a:xfrm>
            <a:off x="6537960" y="5477256"/>
            <a:ext cx="5029200" cy="201168"/>
          </a:xfrm>
          <a:prstGeom prst="rect">
            <a:avLst/>
          </a:prstGeom>
          <a:noFill/>
          <a:ln/>
        </p:spPr>
        <p:txBody>
          <a:bodyPr wrap="square" rtlCol="0" anchor="ctr"/>
          <a:lstStyle/>
          <a:p>
            <a:pPr indent="0" marL="0">
              <a:buNone/>
            </a:pPr>
            <a:r>
              <a:rPr lang="en-US" sz="850" dirty="0">
                <a:solidFill>
                  <a:srgbClr val="64748B"/>
                </a:solidFill>
              </a:rPr>
              <a:t>6 modèles de rapports imprimables</a:t>
            </a:r>
            <a:endParaRPr lang="en-US" sz="850" dirty="0"/>
          </a:p>
        </p:txBody>
      </p:sp>
      <p:sp>
        <p:nvSpPr>
          <p:cNvPr id="53" name="Shape 51"/>
          <p:cNvSpPr/>
          <p:nvPr/>
        </p:nvSpPr>
        <p:spPr>
          <a:xfrm>
            <a:off x="6400800" y="5797296"/>
            <a:ext cx="5303520" cy="475488"/>
          </a:xfrm>
          <a:prstGeom prst="roundRect">
            <a:avLst>
              <a:gd name="adj" fmla="val 7692"/>
            </a:avLst>
          </a:prstGeom>
          <a:solidFill>
            <a:srgbClr val="FFFFFF"/>
          </a:solidFill>
          <a:ln w="12700">
            <a:solidFill>
              <a:srgbClr val="E2E8F0"/>
            </a:solidFill>
            <a:prstDash val="solid"/>
          </a:ln>
        </p:spPr>
      </p:sp>
      <p:sp>
        <p:nvSpPr>
          <p:cNvPr id="54" name="Text 52"/>
          <p:cNvSpPr/>
          <p:nvPr/>
        </p:nvSpPr>
        <p:spPr>
          <a:xfrm>
            <a:off x="6537960" y="5824728"/>
            <a:ext cx="5029200" cy="219456"/>
          </a:xfrm>
          <a:prstGeom prst="rect">
            <a:avLst/>
          </a:prstGeom>
          <a:noFill/>
          <a:ln/>
        </p:spPr>
        <p:txBody>
          <a:bodyPr wrap="square" rtlCol="0" anchor="ctr"/>
          <a:lstStyle/>
          <a:p>
            <a:pPr indent="0" marL="0">
              <a:buNone/>
            </a:pPr>
            <a:r>
              <a:rPr lang="en-US" sz="950" b="1" dirty="0">
                <a:solidFill>
                  <a:srgbClr val="1B6CA8"/>
                </a:solidFill>
              </a:rPr>
              <a:t>Archivage sécurisé</a:t>
            </a:r>
            <a:endParaRPr lang="en-US" sz="950" dirty="0"/>
          </a:p>
        </p:txBody>
      </p:sp>
      <p:sp>
        <p:nvSpPr>
          <p:cNvPr id="55" name="Text 53"/>
          <p:cNvSpPr/>
          <p:nvPr/>
        </p:nvSpPr>
        <p:spPr>
          <a:xfrm>
            <a:off x="6537960" y="6044184"/>
            <a:ext cx="5029200" cy="201168"/>
          </a:xfrm>
          <a:prstGeom prst="rect">
            <a:avLst/>
          </a:prstGeom>
          <a:noFill/>
          <a:ln/>
        </p:spPr>
        <p:txBody>
          <a:bodyPr wrap="square" rtlCol="0" anchor="ctr"/>
          <a:lstStyle/>
          <a:p>
            <a:pPr indent="0" marL="0">
              <a:buNone/>
            </a:pPr>
            <a:r>
              <a:rPr lang="en-US" sz="850" dirty="0">
                <a:solidFill>
                  <a:srgbClr val="64748B"/>
                </a:solidFill>
              </a:rPr>
              <a:t>Conformité RGPD, logs d'accès</a:t>
            </a:r>
            <a:endParaRPr lang="en-US" sz="850" dirty="0"/>
          </a:p>
        </p:txBody>
      </p:sp>
      <p:sp>
        <p:nvSpPr>
          <p:cNvPr id="56" name="Text 54"/>
          <p:cNvSpPr/>
          <p:nvPr/>
        </p:nvSpPr>
        <p:spPr>
          <a:xfrm>
            <a:off x="365760" y="6583680"/>
            <a:ext cx="11430000" cy="274320"/>
          </a:xfrm>
          <a:prstGeom prst="rect">
            <a:avLst/>
          </a:prstGeom>
          <a:noFill/>
          <a:ln/>
        </p:spPr>
        <p:txBody>
          <a:bodyPr wrap="square" rtlCol="0" anchor="ctr"/>
          <a:lstStyle/>
          <a:p>
            <a:pPr algn="ctr" indent="0" marL="0">
              <a:buNone/>
            </a:pPr>
            <a:r>
              <a:rPr lang="en-US" sz="800" dirty="0">
                <a:solidFill>
                  <a:srgbClr val="64748B"/>
                </a:solidFill>
              </a:rPr>
              <a:t>SNH – Présentation Directoire  |  Confidentiel  |  7 / 12</a:t>
            </a:r>
            <a:endParaRPr lang="en-US" sz="800" dirty="0"/>
          </a:p>
        </p:txBody>
      </p:sp>
      <p:sp>
        <p:nvSpPr>
          <p:cNvPr id="57" name="Shape 55"/>
          <p:cNvSpPr/>
          <p:nvPr/>
        </p:nvSpPr>
        <p:spPr>
          <a:xfrm>
            <a:off x="0" y="6492240"/>
            <a:ext cx="12188952" cy="27432"/>
          </a:xfrm>
          <a:prstGeom prst="rect">
            <a:avLst/>
          </a:prstGeom>
          <a:solidFill>
            <a:srgbClr val="1B6CA8"/>
          </a:solidFill>
          <a:ln w="12700">
            <a:solidFill>
              <a:srgbClr val="1B6CA8"/>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1247120" cy="73152"/>
          </a:xfrm>
          <a:prstGeom prst="rect">
            <a:avLst/>
          </a:prstGeom>
          <a:solidFill>
            <a:srgbClr val="1B6CA8"/>
          </a:solidFill>
          <a:ln w="12700">
            <a:solidFill>
              <a:srgbClr val="1B6CA8"/>
            </a:solidFill>
            <a:prstDash val="solid"/>
          </a:ln>
        </p:spPr>
      </p:sp>
      <p:sp>
        <p:nvSpPr>
          <p:cNvPr id="3" name="Text 1"/>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06 – PIPELINE DE RECRUTEMENT EN 10 ÉTAPES</a:t>
            </a:r>
            <a:endParaRPr lang="en-US" sz="1000" dirty="0"/>
          </a:p>
        </p:txBody>
      </p:sp>
      <p:sp>
        <p:nvSpPr>
          <p:cNvPr id="4" name="Text 2"/>
          <p:cNvSpPr/>
          <p:nvPr/>
        </p:nvSpPr>
        <p:spPr>
          <a:xfrm>
            <a:off x="457200" y="685800"/>
            <a:ext cx="10972800" cy="502920"/>
          </a:xfrm>
          <a:prstGeom prst="rect">
            <a:avLst/>
          </a:prstGeom>
          <a:noFill/>
          <a:ln/>
        </p:spPr>
        <p:txBody>
          <a:bodyPr wrap="square" rtlCol="0" anchor="ctr"/>
          <a:lstStyle/>
          <a:p>
            <a:pPr indent="0" marL="0">
              <a:buNone/>
            </a:pPr>
            <a:r>
              <a:rPr lang="en-US" sz="2200" b="1" dirty="0">
                <a:solidFill>
                  <a:srgbClr val="0A2540"/>
                </a:solidFill>
              </a:rPr>
              <a:t>Workflow de Sélection Structuré &amp; Traçable</a:t>
            </a:r>
            <a:endParaRPr lang="en-US" sz="2200" dirty="0"/>
          </a:p>
        </p:txBody>
      </p:sp>
      <p:sp>
        <p:nvSpPr>
          <p:cNvPr id="5" name="Shape 3"/>
          <p:cNvSpPr/>
          <p:nvPr/>
        </p:nvSpPr>
        <p:spPr>
          <a:xfrm>
            <a:off x="365760" y="1554480"/>
            <a:ext cx="868680" cy="868680"/>
          </a:xfrm>
          <a:prstGeom prst="ellipse">
            <a:avLst/>
          </a:prstGeom>
          <a:solidFill>
            <a:srgbClr val="3B82F6"/>
          </a:solidFill>
          <a:ln w="12700">
            <a:solidFill>
              <a:srgbClr val="3B82F6"/>
            </a:solidFill>
            <a:prstDash val="solid"/>
          </a:ln>
        </p:spPr>
      </p:sp>
      <p:sp>
        <p:nvSpPr>
          <p:cNvPr id="6" name="Text 4"/>
          <p:cNvSpPr/>
          <p:nvPr/>
        </p:nvSpPr>
        <p:spPr>
          <a:xfrm>
            <a:off x="365760" y="1554480"/>
            <a:ext cx="868680" cy="868680"/>
          </a:xfrm>
          <a:prstGeom prst="rect">
            <a:avLst/>
          </a:prstGeom>
          <a:noFill/>
          <a:ln/>
        </p:spPr>
        <p:txBody>
          <a:bodyPr wrap="square" rtlCol="0" anchor="ctr"/>
          <a:lstStyle/>
          <a:p>
            <a:pPr algn="ctr" indent="0" marL="0">
              <a:buNone/>
            </a:pPr>
            <a:r>
              <a:rPr lang="en-US" sz="1400" b="1" dirty="0">
                <a:solidFill>
                  <a:srgbClr val="FFFFFF"/>
                </a:solidFill>
              </a:rPr>
              <a:t>01</a:t>
            </a:r>
            <a:endParaRPr lang="en-US" sz="1400" dirty="0"/>
          </a:p>
        </p:txBody>
      </p:sp>
      <p:sp>
        <p:nvSpPr>
          <p:cNvPr id="7" name="Shape 5"/>
          <p:cNvSpPr/>
          <p:nvPr/>
        </p:nvSpPr>
        <p:spPr>
          <a:xfrm>
            <a:off x="1252728" y="1938528"/>
            <a:ext cx="237744" cy="0"/>
          </a:xfrm>
          <a:prstGeom prst="line">
            <a:avLst/>
          </a:prstGeom>
          <a:noFill/>
          <a:ln w="19050">
            <a:solidFill>
              <a:srgbClr val="CBD5E1"/>
            </a:solidFill>
            <a:prstDash val="solid"/>
          </a:ln>
        </p:spPr>
      </p:sp>
      <p:sp>
        <p:nvSpPr>
          <p:cNvPr id="8" name="Text 6"/>
          <p:cNvSpPr/>
          <p:nvPr/>
        </p:nvSpPr>
        <p:spPr>
          <a:xfrm>
            <a:off x="228600" y="2487168"/>
            <a:ext cx="1143000" cy="274320"/>
          </a:xfrm>
          <a:prstGeom prst="rect">
            <a:avLst/>
          </a:prstGeom>
          <a:noFill/>
          <a:ln/>
        </p:spPr>
        <p:txBody>
          <a:bodyPr wrap="square" rtlCol="0" anchor="ctr"/>
          <a:lstStyle/>
          <a:p>
            <a:pPr algn="ctr" indent="0" marL="0">
              <a:buNone/>
            </a:pPr>
            <a:r>
              <a:rPr lang="en-US" sz="800" b="1" dirty="0">
                <a:solidFill>
                  <a:srgbClr val="0A2540"/>
                </a:solidFill>
              </a:rPr>
              <a:t>Candidature</a:t>
            </a:r>
            <a:endParaRPr lang="en-US" sz="800" dirty="0"/>
          </a:p>
        </p:txBody>
      </p:sp>
      <p:sp>
        <p:nvSpPr>
          <p:cNvPr id="9" name="Text 7"/>
          <p:cNvSpPr/>
          <p:nvPr/>
        </p:nvSpPr>
        <p:spPr>
          <a:xfrm>
            <a:off x="228600" y="2743200"/>
            <a:ext cx="1143000" cy="228600"/>
          </a:xfrm>
          <a:prstGeom prst="rect">
            <a:avLst/>
          </a:prstGeom>
          <a:noFill/>
          <a:ln/>
        </p:spPr>
        <p:txBody>
          <a:bodyPr wrap="square" rtlCol="0" anchor="ctr"/>
          <a:lstStyle/>
          <a:p>
            <a:pPr algn="ctr" indent="0" marL="0">
              <a:buNone/>
            </a:pPr>
            <a:r>
              <a:rPr lang="en-US" sz="750" i="1" dirty="0">
                <a:solidFill>
                  <a:srgbClr val="64748B"/>
                </a:solidFill>
              </a:rPr>
              <a:t>Dépôt en ligne</a:t>
            </a:r>
            <a:endParaRPr lang="en-US" sz="750" dirty="0"/>
          </a:p>
        </p:txBody>
      </p:sp>
      <p:sp>
        <p:nvSpPr>
          <p:cNvPr id="10" name="Shape 8"/>
          <p:cNvSpPr/>
          <p:nvPr/>
        </p:nvSpPr>
        <p:spPr>
          <a:xfrm>
            <a:off x="1508760" y="1554480"/>
            <a:ext cx="868680" cy="868680"/>
          </a:xfrm>
          <a:prstGeom prst="ellipse">
            <a:avLst/>
          </a:prstGeom>
          <a:solidFill>
            <a:srgbClr val="8B5CF6"/>
          </a:solidFill>
          <a:ln w="12700">
            <a:solidFill>
              <a:srgbClr val="8B5CF6"/>
            </a:solidFill>
            <a:prstDash val="solid"/>
          </a:ln>
        </p:spPr>
      </p:sp>
      <p:sp>
        <p:nvSpPr>
          <p:cNvPr id="11" name="Text 9"/>
          <p:cNvSpPr/>
          <p:nvPr/>
        </p:nvSpPr>
        <p:spPr>
          <a:xfrm>
            <a:off x="1508760" y="1554480"/>
            <a:ext cx="868680" cy="868680"/>
          </a:xfrm>
          <a:prstGeom prst="rect">
            <a:avLst/>
          </a:prstGeom>
          <a:noFill/>
          <a:ln/>
        </p:spPr>
        <p:txBody>
          <a:bodyPr wrap="square" rtlCol="0" anchor="ctr"/>
          <a:lstStyle/>
          <a:p>
            <a:pPr algn="ctr" indent="0" marL="0">
              <a:buNone/>
            </a:pPr>
            <a:r>
              <a:rPr lang="en-US" sz="1400" b="1" dirty="0">
                <a:solidFill>
                  <a:srgbClr val="FFFFFF"/>
                </a:solidFill>
              </a:rPr>
              <a:t>02</a:t>
            </a:r>
            <a:endParaRPr lang="en-US" sz="1400" dirty="0"/>
          </a:p>
        </p:txBody>
      </p:sp>
      <p:sp>
        <p:nvSpPr>
          <p:cNvPr id="12" name="Shape 10"/>
          <p:cNvSpPr/>
          <p:nvPr/>
        </p:nvSpPr>
        <p:spPr>
          <a:xfrm>
            <a:off x="2395728" y="1938528"/>
            <a:ext cx="237744" cy="0"/>
          </a:xfrm>
          <a:prstGeom prst="line">
            <a:avLst/>
          </a:prstGeom>
          <a:noFill/>
          <a:ln w="19050">
            <a:solidFill>
              <a:srgbClr val="CBD5E1"/>
            </a:solidFill>
            <a:prstDash val="solid"/>
          </a:ln>
        </p:spPr>
      </p:sp>
      <p:sp>
        <p:nvSpPr>
          <p:cNvPr id="13" name="Text 11"/>
          <p:cNvSpPr/>
          <p:nvPr/>
        </p:nvSpPr>
        <p:spPr>
          <a:xfrm>
            <a:off x="1371600" y="2487168"/>
            <a:ext cx="1143000" cy="274320"/>
          </a:xfrm>
          <a:prstGeom prst="rect">
            <a:avLst/>
          </a:prstGeom>
          <a:noFill/>
          <a:ln/>
        </p:spPr>
        <p:txBody>
          <a:bodyPr wrap="square" rtlCol="0" anchor="ctr"/>
          <a:lstStyle/>
          <a:p>
            <a:pPr algn="ctr" indent="0" marL="0">
              <a:buNone/>
            </a:pPr>
            <a:r>
              <a:rPr lang="en-US" sz="800" b="1" dirty="0">
                <a:solidFill>
                  <a:srgbClr val="0A2540"/>
                </a:solidFill>
              </a:rPr>
              <a:t>Tests Tech.</a:t>
            </a:r>
            <a:endParaRPr lang="en-US" sz="800" dirty="0"/>
          </a:p>
        </p:txBody>
      </p:sp>
      <p:sp>
        <p:nvSpPr>
          <p:cNvPr id="14" name="Text 12"/>
          <p:cNvSpPr/>
          <p:nvPr/>
        </p:nvSpPr>
        <p:spPr>
          <a:xfrm>
            <a:off x="1371600" y="2743200"/>
            <a:ext cx="1143000" cy="228600"/>
          </a:xfrm>
          <a:prstGeom prst="rect">
            <a:avLst/>
          </a:prstGeom>
          <a:noFill/>
          <a:ln/>
        </p:spPr>
        <p:txBody>
          <a:bodyPr wrap="square" rtlCol="0" anchor="ctr"/>
          <a:lstStyle/>
          <a:p>
            <a:pPr algn="ctr" indent="0" marL="0">
              <a:buNone/>
            </a:pPr>
            <a:r>
              <a:rPr lang="en-US" sz="750" i="1" dirty="0">
                <a:solidFill>
                  <a:srgbClr val="64748B"/>
                </a:solidFill>
              </a:rPr>
              <a:t>Épreuves techniques</a:t>
            </a:r>
            <a:endParaRPr lang="en-US" sz="750" dirty="0"/>
          </a:p>
        </p:txBody>
      </p:sp>
      <p:sp>
        <p:nvSpPr>
          <p:cNvPr id="15" name="Shape 13"/>
          <p:cNvSpPr/>
          <p:nvPr/>
        </p:nvSpPr>
        <p:spPr>
          <a:xfrm>
            <a:off x="2651760" y="1554480"/>
            <a:ext cx="868680" cy="868680"/>
          </a:xfrm>
          <a:prstGeom prst="ellipse">
            <a:avLst/>
          </a:prstGeom>
          <a:solidFill>
            <a:srgbClr val="0EA5E9"/>
          </a:solidFill>
          <a:ln w="12700">
            <a:solidFill>
              <a:srgbClr val="0EA5E9"/>
            </a:solidFill>
            <a:prstDash val="solid"/>
          </a:ln>
        </p:spPr>
      </p:sp>
      <p:sp>
        <p:nvSpPr>
          <p:cNvPr id="16" name="Text 14"/>
          <p:cNvSpPr/>
          <p:nvPr/>
        </p:nvSpPr>
        <p:spPr>
          <a:xfrm>
            <a:off x="2651760" y="1554480"/>
            <a:ext cx="868680" cy="868680"/>
          </a:xfrm>
          <a:prstGeom prst="rect">
            <a:avLst/>
          </a:prstGeom>
          <a:noFill/>
          <a:ln/>
        </p:spPr>
        <p:txBody>
          <a:bodyPr wrap="square" rtlCol="0" anchor="ctr"/>
          <a:lstStyle/>
          <a:p>
            <a:pPr algn="ctr" indent="0" marL="0">
              <a:buNone/>
            </a:pPr>
            <a:r>
              <a:rPr lang="en-US" sz="1400" b="1" dirty="0">
                <a:solidFill>
                  <a:srgbClr val="FFFFFF"/>
                </a:solidFill>
              </a:rPr>
              <a:t>03</a:t>
            </a:r>
            <a:endParaRPr lang="en-US" sz="1400" dirty="0"/>
          </a:p>
        </p:txBody>
      </p:sp>
      <p:sp>
        <p:nvSpPr>
          <p:cNvPr id="17" name="Shape 15"/>
          <p:cNvSpPr/>
          <p:nvPr/>
        </p:nvSpPr>
        <p:spPr>
          <a:xfrm>
            <a:off x="3538728" y="1938528"/>
            <a:ext cx="237744" cy="0"/>
          </a:xfrm>
          <a:prstGeom prst="line">
            <a:avLst/>
          </a:prstGeom>
          <a:noFill/>
          <a:ln w="19050">
            <a:solidFill>
              <a:srgbClr val="CBD5E1"/>
            </a:solidFill>
            <a:prstDash val="solid"/>
          </a:ln>
        </p:spPr>
      </p:sp>
      <p:sp>
        <p:nvSpPr>
          <p:cNvPr id="18" name="Text 16"/>
          <p:cNvSpPr/>
          <p:nvPr/>
        </p:nvSpPr>
        <p:spPr>
          <a:xfrm>
            <a:off x="2514600" y="2487168"/>
            <a:ext cx="1143000" cy="274320"/>
          </a:xfrm>
          <a:prstGeom prst="rect">
            <a:avLst/>
          </a:prstGeom>
          <a:noFill/>
          <a:ln/>
        </p:spPr>
        <p:txBody>
          <a:bodyPr wrap="square" rtlCol="0" anchor="ctr"/>
          <a:lstStyle/>
          <a:p>
            <a:pPr algn="ctr" indent="0" marL="0">
              <a:buNone/>
            </a:pPr>
            <a:r>
              <a:rPr lang="en-US" sz="800" b="1" dirty="0">
                <a:solidFill>
                  <a:srgbClr val="0A2540"/>
                </a:solidFill>
              </a:rPr>
              <a:t>Entretien</a:t>
            </a:r>
            <a:endParaRPr lang="en-US" sz="800" dirty="0"/>
          </a:p>
        </p:txBody>
      </p:sp>
      <p:sp>
        <p:nvSpPr>
          <p:cNvPr id="19" name="Text 17"/>
          <p:cNvSpPr/>
          <p:nvPr/>
        </p:nvSpPr>
        <p:spPr>
          <a:xfrm>
            <a:off x="2514600" y="2743200"/>
            <a:ext cx="1143000" cy="228600"/>
          </a:xfrm>
          <a:prstGeom prst="rect">
            <a:avLst/>
          </a:prstGeom>
          <a:noFill/>
          <a:ln/>
        </p:spPr>
        <p:txBody>
          <a:bodyPr wrap="square" rtlCol="0" anchor="ctr"/>
          <a:lstStyle/>
          <a:p>
            <a:pPr algn="ctr" indent="0" marL="0">
              <a:buNone/>
            </a:pPr>
            <a:r>
              <a:rPr lang="en-US" sz="750" i="1" dirty="0">
                <a:solidFill>
                  <a:srgbClr val="64748B"/>
                </a:solidFill>
              </a:rPr>
              <a:t>Entretien RH/jury</a:t>
            </a:r>
            <a:endParaRPr lang="en-US" sz="750" dirty="0"/>
          </a:p>
        </p:txBody>
      </p:sp>
      <p:sp>
        <p:nvSpPr>
          <p:cNvPr id="20" name="Shape 18"/>
          <p:cNvSpPr/>
          <p:nvPr/>
        </p:nvSpPr>
        <p:spPr>
          <a:xfrm>
            <a:off x="3794760" y="1554480"/>
            <a:ext cx="868680" cy="868680"/>
          </a:xfrm>
          <a:prstGeom prst="ellipse">
            <a:avLst/>
          </a:prstGeom>
          <a:solidFill>
            <a:srgbClr val="F59E0B"/>
          </a:solidFill>
          <a:ln w="12700">
            <a:solidFill>
              <a:srgbClr val="F59E0B"/>
            </a:solidFill>
            <a:prstDash val="solid"/>
          </a:ln>
        </p:spPr>
      </p:sp>
      <p:sp>
        <p:nvSpPr>
          <p:cNvPr id="21" name="Text 19"/>
          <p:cNvSpPr/>
          <p:nvPr/>
        </p:nvSpPr>
        <p:spPr>
          <a:xfrm>
            <a:off x="3794760" y="1554480"/>
            <a:ext cx="868680" cy="868680"/>
          </a:xfrm>
          <a:prstGeom prst="rect">
            <a:avLst/>
          </a:prstGeom>
          <a:noFill/>
          <a:ln/>
        </p:spPr>
        <p:txBody>
          <a:bodyPr wrap="square" rtlCol="0" anchor="ctr"/>
          <a:lstStyle/>
          <a:p>
            <a:pPr algn="ctr" indent="0" marL="0">
              <a:buNone/>
            </a:pPr>
            <a:r>
              <a:rPr lang="en-US" sz="1400" b="1" dirty="0">
                <a:solidFill>
                  <a:srgbClr val="FFFFFF"/>
                </a:solidFill>
              </a:rPr>
              <a:t>04</a:t>
            </a:r>
            <a:endParaRPr lang="en-US" sz="1400" dirty="0"/>
          </a:p>
        </p:txBody>
      </p:sp>
      <p:sp>
        <p:nvSpPr>
          <p:cNvPr id="22" name="Shape 20"/>
          <p:cNvSpPr/>
          <p:nvPr/>
        </p:nvSpPr>
        <p:spPr>
          <a:xfrm>
            <a:off x="4681728" y="1938528"/>
            <a:ext cx="237744" cy="0"/>
          </a:xfrm>
          <a:prstGeom prst="line">
            <a:avLst/>
          </a:prstGeom>
          <a:noFill/>
          <a:ln w="19050">
            <a:solidFill>
              <a:srgbClr val="CBD5E1"/>
            </a:solidFill>
            <a:prstDash val="solid"/>
          </a:ln>
        </p:spPr>
      </p:sp>
      <p:sp>
        <p:nvSpPr>
          <p:cNvPr id="23" name="Text 21"/>
          <p:cNvSpPr/>
          <p:nvPr/>
        </p:nvSpPr>
        <p:spPr>
          <a:xfrm>
            <a:off x="3657600" y="2487168"/>
            <a:ext cx="1143000" cy="274320"/>
          </a:xfrm>
          <a:prstGeom prst="rect">
            <a:avLst/>
          </a:prstGeom>
          <a:noFill/>
          <a:ln/>
        </p:spPr>
        <p:txBody>
          <a:bodyPr wrap="square" rtlCol="0" anchor="ctr"/>
          <a:lstStyle/>
          <a:p>
            <a:pPr algn="ctr" indent="0" marL="0">
              <a:buNone/>
            </a:pPr>
            <a:r>
              <a:rPr lang="en-US" sz="800" b="1" dirty="0">
                <a:solidFill>
                  <a:srgbClr val="0A2540"/>
                </a:solidFill>
              </a:rPr>
              <a:t>Tests Psy.</a:t>
            </a:r>
            <a:endParaRPr lang="en-US" sz="800" dirty="0"/>
          </a:p>
        </p:txBody>
      </p:sp>
      <p:sp>
        <p:nvSpPr>
          <p:cNvPr id="24" name="Text 22"/>
          <p:cNvSpPr/>
          <p:nvPr/>
        </p:nvSpPr>
        <p:spPr>
          <a:xfrm>
            <a:off x="3657600" y="2743200"/>
            <a:ext cx="1143000" cy="228600"/>
          </a:xfrm>
          <a:prstGeom prst="rect">
            <a:avLst/>
          </a:prstGeom>
          <a:noFill/>
          <a:ln/>
        </p:spPr>
        <p:txBody>
          <a:bodyPr wrap="square" rtlCol="0" anchor="ctr"/>
          <a:lstStyle/>
          <a:p>
            <a:pPr algn="ctr" indent="0" marL="0">
              <a:buNone/>
            </a:pPr>
            <a:r>
              <a:rPr lang="en-US" sz="750" i="1" dirty="0">
                <a:solidFill>
                  <a:srgbClr val="64748B"/>
                </a:solidFill>
              </a:rPr>
              <a:t>Évaluation psycho</a:t>
            </a:r>
            <a:endParaRPr lang="en-US" sz="750" dirty="0"/>
          </a:p>
        </p:txBody>
      </p:sp>
      <p:sp>
        <p:nvSpPr>
          <p:cNvPr id="25" name="Shape 23"/>
          <p:cNvSpPr/>
          <p:nvPr/>
        </p:nvSpPr>
        <p:spPr>
          <a:xfrm>
            <a:off x="4937760" y="1554480"/>
            <a:ext cx="868680" cy="868680"/>
          </a:xfrm>
          <a:prstGeom prst="ellipse">
            <a:avLst/>
          </a:prstGeom>
          <a:solidFill>
            <a:srgbClr val="10B981"/>
          </a:solidFill>
          <a:ln w="12700">
            <a:solidFill>
              <a:srgbClr val="10B981"/>
            </a:solidFill>
            <a:prstDash val="solid"/>
          </a:ln>
        </p:spPr>
      </p:sp>
      <p:sp>
        <p:nvSpPr>
          <p:cNvPr id="26" name="Text 24"/>
          <p:cNvSpPr/>
          <p:nvPr/>
        </p:nvSpPr>
        <p:spPr>
          <a:xfrm>
            <a:off x="4937760" y="1554480"/>
            <a:ext cx="868680" cy="868680"/>
          </a:xfrm>
          <a:prstGeom prst="rect">
            <a:avLst/>
          </a:prstGeom>
          <a:noFill/>
          <a:ln/>
        </p:spPr>
        <p:txBody>
          <a:bodyPr wrap="square" rtlCol="0" anchor="ctr"/>
          <a:lstStyle/>
          <a:p>
            <a:pPr algn="ctr" indent="0" marL="0">
              <a:buNone/>
            </a:pPr>
            <a:r>
              <a:rPr lang="en-US" sz="1400" b="1" dirty="0">
                <a:solidFill>
                  <a:srgbClr val="FFFFFF"/>
                </a:solidFill>
              </a:rPr>
              <a:t>05</a:t>
            </a:r>
            <a:endParaRPr lang="en-US" sz="1400" dirty="0"/>
          </a:p>
        </p:txBody>
      </p:sp>
      <p:sp>
        <p:nvSpPr>
          <p:cNvPr id="27" name="Shape 25"/>
          <p:cNvSpPr/>
          <p:nvPr/>
        </p:nvSpPr>
        <p:spPr>
          <a:xfrm>
            <a:off x="5824728" y="1938528"/>
            <a:ext cx="237744" cy="0"/>
          </a:xfrm>
          <a:prstGeom prst="line">
            <a:avLst/>
          </a:prstGeom>
          <a:noFill/>
          <a:ln w="19050">
            <a:solidFill>
              <a:srgbClr val="CBD5E1"/>
            </a:solidFill>
            <a:prstDash val="solid"/>
          </a:ln>
        </p:spPr>
      </p:sp>
      <p:sp>
        <p:nvSpPr>
          <p:cNvPr id="28" name="Text 26"/>
          <p:cNvSpPr/>
          <p:nvPr/>
        </p:nvSpPr>
        <p:spPr>
          <a:xfrm>
            <a:off x="4800600" y="2487168"/>
            <a:ext cx="1143000" cy="274320"/>
          </a:xfrm>
          <a:prstGeom prst="rect">
            <a:avLst/>
          </a:prstGeom>
          <a:noFill/>
          <a:ln/>
        </p:spPr>
        <p:txBody>
          <a:bodyPr wrap="square" rtlCol="0" anchor="ctr"/>
          <a:lstStyle/>
          <a:p>
            <a:pPr algn="ctr" indent="0" marL="0">
              <a:buNone/>
            </a:pPr>
            <a:r>
              <a:rPr lang="en-US" sz="800" b="1" dirty="0">
                <a:solidFill>
                  <a:srgbClr val="0A2540"/>
                </a:solidFill>
              </a:rPr>
              <a:t>Visite Méd.</a:t>
            </a:r>
            <a:endParaRPr lang="en-US" sz="800" dirty="0"/>
          </a:p>
        </p:txBody>
      </p:sp>
      <p:sp>
        <p:nvSpPr>
          <p:cNvPr id="29" name="Text 27"/>
          <p:cNvSpPr/>
          <p:nvPr/>
        </p:nvSpPr>
        <p:spPr>
          <a:xfrm>
            <a:off x="4800600" y="2743200"/>
            <a:ext cx="1143000" cy="228600"/>
          </a:xfrm>
          <a:prstGeom prst="rect">
            <a:avLst/>
          </a:prstGeom>
          <a:noFill/>
          <a:ln/>
        </p:spPr>
        <p:txBody>
          <a:bodyPr wrap="square" rtlCol="0" anchor="ctr"/>
          <a:lstStyle/>
          <a:p>
            <a:pPr algn="ctr" indent="0" marL="0">
              <a:buNone/>
            </a:pPr>
            <a:r>
              <a:rPr lang="en-US" sz="750" i="1" dirty="0">
                <a:solidFill>
                  <a:srgbClr val="64748B"/>
                </a:solidFill>
              </a:rPr>
              <a:t>Aptitude médicale</a:t>
            </a:r>
            <a:endParaRPr lang="en-US" sz="750" dirty="0"/>
          </a:p>
        </p:txBody>
      </p:sp>
      <p:sp>
        <p:nvSpPr>
          <p:cNvPr id="30" name="Shape 28"/>
          <p:cNvSpPr/>
          <p:nvPr/>
        </p:nvSpPr>
        <p:spPr>
          <a:xfrm>
            <a:off x="6080760" y="1554480"/>
            <a:ext cx="868680" cy="868680"/>
          </a:xfrm>
          <a:prstGeom prst="ellipse">
            <a:avLst/>
          </a:prstGeom>
          <a:solidFill>
            <a:srgbClr val="EC4899"/>
          </a:solidFill>
          <a:ln w="12700">
            <a:solidFill>
              <a:srgbClr val="EC4899"/>
            </a:solidFill>
            <a:prstDash val="solid"/>
          </a:ln>
        </p:spPr>
      </p:sp>
      <p:sp>
        <p:nvSpPr>
          <p:cNvPr id="31" name="Text 29"/>
          <p:cNvSpPr/>
          <p:nvPr/>
        </p:nvSpPr>
        <p:spPr>
          <a:xfrm>
            <a:off x="6080760" y="1554480"/>
            <a:ext cx="868680" cy="868680"/>
          </a:xfrm>
          <a:prstGeom prst="rect">
            <a:avLst/>
          </a:prstGeom>
          <a:noFill/>
          <a:ln/>
        </p:spPr>
        <p:txBody>
          <a:bodyPr wrap="square" rtlCol="0" anchor="ctr"/>
          <a:lstStyle/>
          <a:p>
            <a:pPr algn="ctr" indent="0" marL="0">
              <a:buNone/>
            </a:pPr>
            <a:r>
              <a:rPr lang="en-US" sz="1400" b="1" dirty="0">
                <a:solidFill>
                  <a:srgbClr val="FFFFFF"/>
                </a:solidFill>
              </a:rPr>
              <a:t>06</a:t>
            </a:r>
            <a:endParaRPr lang="en-US" sz="1400" dirty="0"/>
          </a:p>
        </p:txBody>
      </p:sp>
      <p:sp>
        <p:nvSpPr>
          <p:cNvPr id="32" name="Shape 30"/>
          <p:cNvSpPr/>
          <p:nvPr/>
        </p:nvSpPr>
        <p:spPr>
          <a:xfrm>
            <a:off x="6967728" y="1938528"/>
            <a:ext cx="237744" cy="0"/>
          </a:xfrm>
          <a:prstGeom prst="line">
            <a:avLst/>
          </a:prstGeom>
          <a:noFill/>
          <a:ln w="19050">
            <a:solidFill>
              <a:srgbClr val="CBD5E1"/>
            </a:solidFill>
            <a:prstDash val="solid"/>
          </a:ln>
        </p:spPr>
      </p:sp>
      <p:sp>
        <p:nvSpPr>
          <p:cNvPr id="33" name="Text 31"/>
          <p:cNvSpPr/>
          <p:nvPr/>
        </p:nvSpPr>
        <p:spPr>
          <a:xfrm>
            <a:off x="5943600" y="2487168"/>
            <a:ext cx="1143000" cy="274320"/>
          </a:xfrm>
          <a:prstGeom prst="rect">
            <a:avLst/>
          </a:prstGeom>
          <a:noFill/>
          <a:ln/>
        </p:spPr>
        <p:txBody>
          <a:bodyPr wrap="square" rtlCol="0" anchor="ctr"/>
          <a:lstStyle/>
          <a:p>
            <a:pPr algn="ctr" indent="0" marL="0">
              <a:buNone/>
            </a:pPr>
            <a:r>
              <a:rPr lang="en-US" sz="800" b="1" dirty="0">
                <a:solidFill>
                  <a:srgbClr val="0A2540"/>
                </a:solidFill>
              </a:rPr>
              <a:t>Moralité</a:t>
            </a:r>
            <a:endParaRPr lang="en-US" sz="800" dirty="0"/>
          </a:p>
        </p:txBody>
      </p:sp>
      <p:sp>
        <p:nvSpPr>
          <p:cNvPr id="34" name="Text 32"/>
          <p:cNvSpPr/>
          <p:nvPr/>
        </p:nvSpPr>
        <p:spPr>
          <a:xfrm>
            <a:off x="5943600" y="2743200"/>
            <a:ext cx="1143000" cy="228600"/>
          </a:xfrm>
          <a:prstGeom prst="rect">
            <a:avLst/>
          </a:prstGeom>
          <a:noFill/>
          <a:ln/>
        </p:spPr>
        <p:txBody>
          <a:bodyPr wrap="square" rtlCol="0" anchor="ctr"/>
          <a:lstStyle/>
          <a:p>
            <a:pPr algn="ctr" indent="0" marL="0">
              <a:buNone/>
            </a:pPr>
            <a:r>
              <a:rPr lang="en-US" sz="750" i="1" dirty="0">
                <a:solidFill>
                  <a:srgbClr val="64748B"/>
                </a:solidFill>
              </a:rPr>
              <a:t>Enquête casier</a:t>
            </a:r>
            <a:endParaRPr lang="en-US" sz="750" dirty="0"/>
          </a:p>
        </p:txBody>
      </p:sp>
      <p:sp>
        <p:nvSpPr>
          <p:cNvPr id="35" name="Shape 33"/>
          <p:cNvSpPr/>
          <p:nvPr/>
        </p:nvSpPr>
        <p:spPr>
          <a:xfrm>
            <a:off x="7223760" y="1554480"/>
            <a:ext cx="868680" cy="868680"/>
          </a:xfrm>
          <a:prstGeom prst="ellipse">
            <a:avLst/>
          </a:prstGeom>
          <a:solidFill>
            <a:srgbClr val="6366F1"/>
          </a:solidFill>
          <a:ln w="12700">
            <a:solidFill>
              <a:srgbClr val="6366F1"/>
            </a:solidFill>
            <a:prstDash val="solid"/>
          </a:ln>
        </p:spPr>
      </p:sp>
      <p:sp>
        <p:nvSpPr>
          <p:cNvPr id="36" name="Text 34"/>
          <p:cNvSpPr/>
          <p:nvPr/>
        </p:nvSpPr>
        <p:spPr>
          <a:xfrm>
            <a:off x="7223760" y="1554480"/>
            <a:ext cx="868680" cy="868680"/>
          </a:xfrm>
          <a:prstGeom prst="rect">
            <a:avLst/>
          </a:prstGeom>
          <a:noFill/>
          <a:ln/>
        </p:spPr>
        <p:txBody>
          <a:bodyPr wrap="square" rtlCol="0" anchor="ctr"/>
          <a:lstStyle/>
          <a:p>
            <a:pPr algn="ctr" indent="0" marL="0">
              <a:buNone/>
            </a:pPr>
            <a:r>
              <a:rPr lang="en-US" sz="1400" b="1" dirty="0">
                <a:solidFill>
                  <a:srgbClr val="FFFFFF"/>
                </a:solidFill>
              </a:rPr>
              <a:t>07</a:t>
            </a:r>
            <a:endParaRPr lang="en-US" sz="1400" dirty="0"/>
          </a:p>
        </p:txBody>
      </p:sp>
      <p:sp>
        <p:nvSpPr>
          <p:cNvPr id="37" name="Shape 35"/>
          <p:cNvSpPr/>
          <p:nvPr/>
        </p:nvSpPr>
        <p:spPr>
          <a:xfrm>
            <a:off x="8110728" y="1938528"/>
            <a:ext cx="237744" cy="0"/>
          </a:xfrm>
          <a:prstGeom prst="line">
            <a:avLst/>
          </a:prstGeom>
          <a:noFill/>
          <a:ln w="19050">
            <a:solidFill>
              <a:srgbClr val="CBD5E1"/>
            </a:solidFill>
            <a:prstDash val="solid"/>
          </a:ln>
        </p:spPr>
      </p:sp>
      <p:sp>
        <p:nvSpPr>
          <p:cNvPr id="38" name="Text 36"/>
          <p:cNvSpPr/>
          <p:nvPr/>
        </p:nvSpPr>
        <p:spPr>
          <a:xfrm>
            <a:off x="7086600" y="2487168"/>
            <a:ext cx="1143000" cy="274320"/>
          </a:xfrm>
          <a:prstGeom prst="rect">
            <a:avLst/>
          </a:prstGeom>
          <a:noFill/>
          <a:ln/>
        </p:spPr>
        <p:txBody>
          <a:bodyPr wrap="square" rtlCol="0" anchor="ctr"/>
          <a:lstStyle/>
          <a:p>
            <a:pPr algn="ctr" indent="0" marL="0">
              <a:buNone/>
            </a:pPr>
            <a:r>
              <a:rPr lang="en-US" sz="800" b="1" dirty="0">
                <a:solidFill>
                  <a:srgbClr val="0A2540"/>
                </a:solidFill>
              </a:rPr>
              <a:t>Diplômes</a:t>
            </a:r>
            <a:endParaRPr lang="en-US" sz="800" dirty="0"/>
          </a:p>
        </p:txBody>
      </p:sp>
      <p:sp>
        <p:nvSpPr>
          <p:cNvPr id="39" name="Text 37"/>
          <p:cNvSpPr/>
          <p:nvPr/>
        </p:nvSpPr>
        <p:spPr>
          <a:xfrm>
            <a:off x="7086600" y="2743200"/>
            <a:ext cx="1143000" cy="228600"/>
          </a:xfrm>
          <a:prstGeom prst="rect">
            <a:avLst/>
          </a:prstGeom>
          <a:noFill/>
          <a:ln/>
        </p:spPr>
        <p:txBody>
          <a:bodyPr wrap="square" rtlCol="0" anchor="ctr"/>
          <a:lstStyle/>
          <a:p>
            <a:pPr algn="ctr" indent="0" marL="0">
              <a:buNone/>
            </a:pPr>
            <a:r>
              <a:rPr lang="en-US" sz="750" i="1" dirty="0">
                <a:solidFill>
                  <a:srgbClr val="64748B"/>
                </a:solidFill>
              </a:rPr>
              <a:t>Authentification</a:t>
            </a:r>
            <a:endParaRPr lang="en-US" sz="750" dirty="0"/>
          </a:p>
        </p:txBody>
      </p:sp>
      <p:sp>
        <p:nvSpPr>
          <p:cNvPr id="40" name="Shape 38"/>
          <p:cNvSpPr/>
          <p:nvPr/>
        </p:nvSpPr>
        <p:spPr>
          <a:xfrm>
            <a:off x="8366760" y="1554480"/>
            <a:ext cx="868680" cy="868680"/>
          </a:xfrm>
          <a:prstGeom prst="ellipse">
            <a:avLst/>
          </a:prstGeom>
          <a:solidFill>
            <a:srgbClr val="F97316"/>
          </a:solidFill>
          <a:ln w="12700">
            <a:solidFill>
              <a:srgbClr val="F97316"/>
            </a:solidFill>
            <a:prstDash val="solid"/>
          </a:ln>
        </p:spPr>
      </p:sp>
      <p:sp>
        <p:nvSpPr>
          <p:cNvPr id="41" name="Text 39"/>
          <p:cNvSpPr/>
          <p:nvPr/>
        </p:nvSpPr>
        <p:spPr>
          <a:xfrm>
            <a:off x="8366760" y="1554480"/>
            <a:ext cx="868680" cy="868680"/>
          </a:xfrm>
          <a:prstGeom prst="rect">
            <a:avLst/>
          </a:prstGeom>
          <a:noFill/>
          <a:ln/>
        </p:spPr>
        <p:txBody>
          <a:bodyPr wrap="square" rtlCol="0" anchor="ctr"/>
          <a:lstStyle/>
          <a:p>
            <a:pPr algn="ctr" indent="0" marL="0">
              <a:buNone/>
            </a:pPr>
            <a:r>
              <a:rPr lang="en-US" sz="1400" b="1" dirty="0">
                <a:solidFill>
                  <a:srgbClr val="FFFFFF"/>
                </a:solidFill>
              </a:rPr>
              <a:t>08</a:t>
            </a:r>
            <a:endParaRPr lang="en-US" sz="1400" dirty="0"/>
          </a:p>
        </p:txBody>
      </p:sp>
      <p:sp>
        <p:nvSpPr>
          <p:cNvPr id="42" name="Shape 40"/>
          <p:cNvSpPr/>
          <p:nvPr/>
        </p:nvSpPr>
        <p:spPr>
          <a:xfrm>
            <a:off x="9253728" y="1938528"/>
            <a:ext cx="237744" cy="0"/>
          </a:xfrm>
          <a:prstGeom prst="line">
            <a:avLst/>
          </a:prstGeom>
          <a:noFill/>
          <a:ln w="19050">
            <a:solidFill>
              <a:srgbClr val="CBD5E1"/>
            </a:solidFill>
            <a:prstDash val="solid"/>
          </a:ln>
        </p:spPr>
      </p:sp>
      <p:sp>
        <p:nvSpPr>
          <p:cNvPr id="43" name="Text 41"/>
          <p:cNvSpPr/>
          <p:nvPr/>
        </p:nvSpPr>
        <p:spPr>
          <a:xfrm>
            <a:off x="8229600" y="2487168"/>
            <a:ext cx="1143000" cy="274320"/>
          </a:xfrm>
          <a:prstGeom prst="rect">
            <a:avLst/>
          </a:prstGeom>
          <a:noFill/>
          <a:ln/>
        </p:spPr>
        <p:txBody>
          <a:bodyPr wrap="square" rtlCol="0" anchor="ctr"/>
          <a:lstStyle/>
          <a:p>
            <a:pPr algn="ctr" indent="0" marL="0">
              <a:buNone/>
            </a:pPr>
            <a:r>
              <a:rPr lang="en-US" sz="800" b="1" dirty="0">
                <a:solidFill>
                  <a:srgbClr val="0A2540"/>
                </a:solidFill>
              </a:rPr>
              <a:t>Essai</a:t>
            </a:r>
            <a:endParaRPr lang="en-US" sz="800" dirty="0"/>
          </a:p>
        </p:txBody>
      </p:sp>
      <p:sp>
        <p:nvSpPr>
          <p:cNvPr id="44" name="Text 42"/>
          <p:cNvSpPr/>
          <p:nvPr/>
        </p:nvSpPr>
        <p:spPr>
          <a:xfrm>
            <a:off x="8229600" y="2743200"/>
            <a:ext cx="1143000" cy="228600"/>
          </a:xfrm>
          <a:prstGeom prst="rect">
            <a:avLst/>
          </a:prstGeom>
          <a:noFill/>
          <a:ln/>
        </p:spPr>
        <p:txBody>
          <a:bodyPr wrap="square" rtlCol="0" anchor="ctr"/>
          <a:lstStyle/>
          <a:p>
            <a:pPr algn="ctr" indent="0" marL="0">
              <a:buNone/>
            </a:pPr>
            <a:r>
              <a:rPr lang="en-US" sz="750" i="1" dirty="0">
                <a:solidFill>
                  <a:srgbClr val="64748B"/>
                </a:solidFill>
              </a:rPr>
              <a:t>Période d'essai</a:t>
            </a:r>
            <a:endParaRPr lang="en-US" sz="750" dirty="0"/>
          </a:p>
        </p:txBody>
      </p:sp>
      <p:sp>
        <p:nvSpPr>
          <p:cNvPr id="45" name="Shape 43"/>
          <p:cNvSpPr/>
          <p:nvPr/>
        </p:nvSpPr>
        <p:spPr>
          <a:xfrm>
            <a:off x="9509760" y="1554480"/>
            <a:ext cx="868680" cy="868680"/>
          </a:xfrm>
          <a:prstGeom prst="ellipse">
            <a:avLst/>
          </a:prstGeom>
          <a:solidFill>
            <a:srgbClr val="14B8A6"/>
          </a:solidFill>
          <a:ln w="12700">
            <a:solidFill>
              <a:srgbClr val="14B8A6"/>
            </a:solidFill>
            <a:prstDash val="solid"/>
          </a:ln>
        </p:spPr>
      </p:sp>
      <p:sp>
        <p:nvSpPr>
          <p:cNvPr id="46" name="Text 44"/>
          <p:cNvSpPr/>
          <p:nvPr/>
        </p:nvSpPr>
        <p:spPr>
          <a:xfrm>
            <a:off x="9509760" y="1554480"/>
            <a:ext cx="868680" cy="868680"/>
          </a:xfrm>
          <a:prstGeom prst="rect">
            <a:avLst/>
          </a:prstGeom>
          <a:noFill/>
          <a:ln/>
        </p:spPr>
        <p:txBody>
          <a:bodyPr wrap="square" rtlCol="0" anchor="ctr"/>
          <a:lstStyle/>
          <a:p>
            <a:pPr algn="ctr" indent="0" marL="0">
              <a:buNone/>
            </a:pPr>
            <a:r>
              <a:rPr lang="en-US" sz="1400" b="1" dirty="0">
                <a:solidFill>
                  <a:srgbClr val="FFFFFF"/>
                </a:solidFill>
              </a:rPr>
              <a:t>09</a:t>
            </a:r>
            <a:endParaRPr lang="en-US" sz="1400" dirty="0"/>
          </a:p>
        </p:txBody>
      </p:sp>
      <p:sp>
        <p:nvSpPr>
          <p:cNvPr id="47" name="Shape 45"/>
          <p:cNvSpPr/>
          <p:nvPr/>
        </p:nvSpPr>
        <p:spPr>
          <a:xfrm>
            <a:off x="10396728" y="1938528"/>
            <a:ext cx="237744" cy="0"/>
          </a:xfrm>
          <a:prstGeom prst="line">
            <a:avLst/>
          </a:prstGeom>
          <a:noFill/>
          <a:ln w="19050">
            <a:solidFill>
              <a:srgbClr val="CBD5E1"/>
            </a:solidFill>
            <a:prstDash val="solid"/>
          </a:ln>
        </p:spPr>
      </p:sp>
      <p:sp>
        <p:nvSpPr>
          <p:cNvPr id="48" name="Text 46"/>
          <p:cNvSpPr/>
          <p:nvPr/>
        </p:nvSpPr>
        <p:spPr>
          <a:xfrm>
            <a:off x="9372600" y="2487168"/>
            <a:ext cx="1143000" cy="274320"/>
          </a:xfrm>
          <a:prstGeom prst="rect">
            <a:avLst/>
          </a:prstGeom>
          <a:noFill/>
          <a:ln/>
        </p:spPr>
        <p:txBody>
          <a:bodyPr wrap="square" rtlCol="0" anchor="ctr"/>
          <a:lstStyle/>
          <a:p>
            <a:pPr algn="ctr" indent="0" marL="0">
              <a:buNone/>
            </a:pPr>
            <a:r>
              <a:rPr lang="en-US" sz="800" b="1" dirty="0">
                <a:solidFill>
                  <a:srgbClr val="0A2540"/>
                </a:solidFill>
              </a:rPr>
              <a:t>Affectation</a:t>
            </a:r>
            <a:endParaRPr lang="en-US" sz="800" dirty="0"/>
          </a:p>
        </p:txBody>
      </p:sp>
      <p:sp>
        <p:nvSpPr>
          <p:cNvPr id="49" name="Text 47"/>
          <p:cNvSpPr/>
          <p:nvPr/>
        </p:nvSpPr>
        <p:spPr>
          <a:xfrm>
            <a:off x="9372600" y="2743200"/>
            <a:ext cx="1143000" cy="228600"/>
          </a:xfrm>
          <a:prstGeom prst="rect">
            <a:avLst/>
          </a:prstGeom>
          <a:noFill/>
          <a:ln/>
        </p:spPr>
        <p:txBody>
          <a:bodyPr wrap="square" rtlCol="0" anchor="ctr"/>
          <a:lstStyle/>
          <a:p>
            <a:pPr algn="ctr" indent="0" marL="0">
              <a:buNone/>
            </a:pPr>
            <a:r>
              <a:rPr lang="en-US" sz="750" i="1" dirty="0">
                <a:solidFill>
                  <a:srgbClr val="64748B"/>
                </a:solidFill>
              </a:rPr>
              <a:t>Prise de poste</a:t>
            </a:r>
            <a:endParaRPr lang="en-US" sz="750" dirty="0"/>
          </a:p>
        </p:txBody>
      </p:sp>
      <p:sp>
        <p:nvSpPr>
          <p:cNvPr id="50" name="Shape 48"/>
          <p:cNvSpPr/>
          <p:nvPr/>
        </p:nvSpPr>
        <p:spPr>
          <a:xfrm>
            <a:off x="10652760" y="1554480"/>
            <a:ext cx="868680" cy="868680"/>
          </a:xfrm>
          <a:prstGeom prst="ellipse">
            <a:avLst/>
          </a:prstGeom>
          <a:solidFill>
            <a:srgbClr val="16A34A"/>
          </a:solidFill>
          <a:ln w="12700">
            <a:solidFill>
              <a:srgbClr val="16A34A"/>
            </a:solidFill>
            <a:prstDash val="solid"/>
          </a:ln>
        </p:spPr>
      </p:sp>
      <p:sp>
        <p:nvSpPr>
          <p:cNvPr id="51" name="Text 49"/>
          <p:cNvSpPr/>
          <p:nvPr/>
        </p:nvSpPr>
        <p:spPr>
          <a:xfrm>
            <a:off x="10652760" y="1554480"/>
            <a:ext cx="868680" cy="868680"/>
          </a:xfrm>
          <a:prstGeom prst="rect">
            <a:avLst/>
          </a:prstGeom>
          <a:noFill/>
          <a:ln/>
        </p:spPr>
        <p:txBody>
          <a:bodyPr wrap="square" rtlCol="0" anchor="ctr"/>
          <a:lstStyle/>
          <a:p>
            <a:pPr algn="ctr" indent="0" marL="0">
              <a:buNone/>
            </a:pPr>
            <a:r>
              <a:rPr lang="en-US" sz="1400" b="1" dirty="0">
                <a:solidFill>
                  <a:srgbClr val="FFFFFF"/>
                </a:solidFill>
              </a:rPr>
              <a:t>10</a:t>
            </a:r>
            <a:endParaRPr lang="en-US" sz="1400" dirty="0"/>
          </a:p>
        </p:txBody>
      </p:sp>
      <p:sp>
        <p:nvSpPr>
          <p:cNvPr id="52" name="Text 50"/>
          <p:cNvSpPr/>
          <p:nvPr/>
        </p:nvSpPr>
        <p:spPr>
          <a:xfrm>
            <a:off x="10515600" y="2487168"/>
            <a:ext cx="1143000" cy="274320"/>
          </a:xfrm>
          <a:prstGeom prst="rect">
            <a:avLst/>
          </a:prstGeom>
          <a:noFill/>
          <a:ln/>
        </p:spPr>
        <p:txBody>
          <a:bodyPr wrap="square" rtlCol="0" anchor="ctr"/>
          <a:lstStyle/>
          <a:p>
            <a:pPr algn="ctr" indent="0" marL="0">
              <a:buNone/>
            </a:pPr>
            <a:r>
              <a:rPr lang="en-US" sz="800" b="1" dirty="0">
                <a:solidFill>
                  <a:srgbClr val="0A2540"/>
                </a:solidFill>
              </a:rPr>
              <a:t>Titularisé(e)</a:t>
            </a:r>
            <a:endParaRPr lang="en-US" sz="800" dirty="0"/>
          </a:p>
        </p:txBody>
      </p:sp>
      <p:sp>
        <p:nvSpPr>
          <p:cNvPr id="53" name="Text 51"/>
          <p:cNvSpPr/>
          <p:nvPr/>
        </p:nvSpPr>
        <p:spPr>
          <a:xfrm>
            <a:off x="10515600" y="2743200"/>
            <a:ext cx="1143000" cy="228600"/>
          </a:xfrm>
          <a:prstGeom prst="rect">
            <a:avLst/>
          </a:prstGeom>
          <a:noFill/>
          <a:ln/>
        </p:spPr>
        <p:txBody>
          <a:bodyPr wrap="square" rtlCol="0" anchor="ctr"/>
          <a:lstStyle/>
          <a:p>
            <a:pPr algn="ctr" indent="0" marL="0">
              <a:buNone/>
            </a:pPr>
            <a:r>
              <a:rPr lang="en-US" sz="750" i="1" dirty="0">
                <a:solidFill>
                  <a:srgbClr val="64748B"/>
                </a:solidFill>
              </a:rPr>
              <a:t>Intégration finale</a:t>
            </a:r>
            <a:endParaRPr lang="en-US" sz="750" dirty="0"/>
          </a:p>
        </p:txBody>
      </p:sp>
      <p:sp>
        <p:nvSpPr>
          <p:cNvPr id="54" name="Text 52"/>
          <p:cNvSpPr/>
          <p:nvPr/>
        </p:nvSpPr>
        <p:spPr>
          <a:xfrm>
            <a:off x="457200" y="3246120"/>
            <a:ext cx="10972800" cy="274320"/>
          </a:xfrm>
          <a:prstGeom prst="rect">
            <a:avLst/>
          </a:prstGeom>
          <a:noFill/>
          <a:ln/>
        </p:spPr>
        <p:txBody>
          <a:bodyPr wrap="square" rtlCol="0" anchor="ctr"/>
          <a:lstStyle/>
          <a:p>
            <a:pPr indent="0" marL="0">
              <a:buNone/>
            </a:pPr>
            <a:r>
              <a:rPr lang="en-US" sz="900" b="1" spc="150" kern="0" dirty="0">
                <a:solidFill>
                  <a:srgbClr val="1B6CA8"/>
                </a:solidFill>
              </a:rPr>
              <a:t>STATUTS DISPONIBLES À CHAQUE ÉTAPE</a:t>
            </a:r>
            <a:endParaRPr lang="en-US" sz="900" dirty="0"/>
          </a:p>
        </p:txBody>
      </p:sp>
      <p:sp>
        <p:nvSpPr>
          <p:cNvPr id="55" name="Shape 53"/>
          <p:cNvSpPr/>
          <p:nvPr/>
        </p:nvSpPr>
        <p:spPr>
          <a:xfrm>
            <a:off x="365760" y="3611880"/>
            <a:ext cx="1828800" cy="347472"/>
          </a:xfrm>
          <a:prstGeom prst="roundRect">
            <a:avLst>
              <a:gd name="adj" fmla="val 15789"/>
            </a:avLst>
          </a:prstGeom>
          <a:solidFill>
            <a:srgbClr val="3B82F6"/>
          </a:solidFill>
          <a:ln w="12700">
            <a:solidFill>
              <a:srgbClr val="3B82F6"/>
            </a:solidFill>
            <a:prstDash val="solid"/>
          </a:ln>
        </p:spPr>
      </p:sp>
      <p:sp>
        <p:nvSpPr>
          <p:cNvPr id="56" name="Text 54"/>
          <p:cNvSpPr/>
          <p:nvPr/>
        </p:nvSpPr>
        <p:spPr>
          <a:xfrm>
            <a:off x="365760" y="3611880"/>
            <a:ext cx="1828800" cy="347472"/>
          </a:xfrm>
          <a:prstGeom prst="rect">
            <a:avLst/>
          </a:prstGeom>
          <a:noFill/>
          <a:ln/>
        </p:spPr>
        <p:txBody>
          <a:bodyPr wrap="square" rtlCol="0" anchor="ctr"/>
          <a:lstStyle/>
          <a:p>
            <a:pPr algn="ctr" indent="0" marL="0">
              <a:buNone/>
            </a:pPr>
            <a:r>
              <a:rPr lang="en-US" sz="900" b="1" dirty="0">
                <a:solidFill>
                  <a:srgbClr val="FFFFFF"/>
                </a:solidFill>
              </a:rPr>
              <a:t>En cours</a:t>
            </a:r>
            <a:endParaRPr lang="en-US" sz="900" dirty="0"/>
          </a:p>
        </p:txBody>
      </p:sp>
      <p:sp>
        <p:nvSpPr>
          <p:cNvPr id="57" name="Text 55"/>
          <p:cNvSpPr/>
          <p:nvPr/>
        </p:nvSpPr>
        <p:spPr>
          <a:xfrm>
            <a:off x="365760" y="4005072"/>
            <a:ext cx="1828800" cy="256032"/>
          </a:xfrm>
          <a:prstGeom prst="rect">
            <a:avLst/>
          </a:prstGeom>
          <a:noFill/>
          <a:ln/>
        </p:spPr>
        <p:txBody>
          <a:bodyPr wrap="square" rtlCol="0" anchor="ctr"/>
          <a:lstStyle/>
          <a:p>
            <a:pPr algn="ctr" indent="0" marL="0">
              <a:buNone/>
            </a:pPr>
            <a:r>
              <a:rPr lang="en-US" sz="750" i="1" dirty="0">
                <a:solidFill>
                  <a:srgbClr val="64748B"/>
                </a:solidFill>
              </a:rPr>
              <a:t>Actif dans cette phase</a:t>
            </a:r>
            <a:endParaRPr lang="en-US" sz="750" dirty="0"/>
          </a:p>
        </p:txBody>
      </p:sp>
      <p:sp>
        <p:nvSpPr>
          <p:cNvPr id="58" name="Shape 56"/>
          <p:cNvSpPr/>
          <p:nvPr/>
        </p:nvSpPr>
        <p:spPr>
          <a:xfrm>
            <a:off x="2331720" y="3611880"/>
            <a:ext cx="1828800" cy="347472"/>
          </a:xfrm>
          <a:prstGeom prst="roundRect">
            <a:avLst>
              <a:gd name="adj" fmla="val 15789"/>
            </a:avLst>
          </a:prstGeom>
          <a:solidFill>
            <a:srgbClr val="16A34A"/>
          </a:solidFill>
          <a:ln w="12700">
            <a:solidFill>
              <a:srgbClr val="16A34A"/>
            </a:solidFill>
            <a:prstDash val="solid"/>
          </a:ln>
        </p:spPr>
      </p:sp>
      <p:sp>
        <p:nvSpPr>
          <p:cNvPr id="59" name="Text 57"/>
          <p:cNvSpPr/>
          <p:nvPr/>
        </p:nvSpPr>
        <p:spPr>
          <a:xfrm>
            <a:off x="2331720" y="3611880"/>
            <a:ext cx="1828800" cy="347472"/>
          </a:xfrm>
          <a:prstGeom prst="rect">
            <a:avLst/>
          </a:prstGeom>
          <a:noFill/>
          <a:ln/>
        </p:spPr>
        <p:txBody>
          <a:bodyPr wrap="square" rtlCol="0" anchor="ctr"/>
          <a:lstStyle/>
          <a:p>
            <a:pPr algn="ctr" indent="0" marL="0">
              <a:buNone/>
            </a:pPr>
            <a:r>
              <a:rPr lang="en-US" sz="900" b="1" dirty="0">
                <a:solidFill>
                  <a:srgbClr val="FFFFFF"/>
                </a:solidFill>
              </a:rPr>
              <a:t>Validé</a:t>
            </a:r>
            <a:endParaRPr lang="en-US" sz="900" dirty="0"/>
          </a:p>
        </p:txBody>
      </p:sp>
      <p:sp>
        <p:nvSpPr>
          <p:cNvPr id="60" name="Text 58"/>
          <p:cNvSpPr/>
          <p:nvPr/>
        </p:nvSpPr>
        <p:spPr>
          <a:xfrm>
            <a:off x="2331720" y="4005072"/>
            <a:ext cx="1828800" cy="256032"/>
          </a:xfrm>
          <a:prstGeom prst="rect">
            <a:avLst/>
          </a:prstGeom>
          <a:noFill/>
          <a:ln/>
        </p:spPr>
        <p:txBody>
          <a:bodyPr wrap="square" rtlCol="0" anchor="ctr"/>
          <a:lstStyle/>
          <a:p>
            <a:pPr algn="ctr" indent="0" marL="0">
              <a:buNone/>
            </a:pPr>
            <a:r>
              <a:rPr lang="en-US" sz="750" i="1" dirty="0">
                <a:solidFill>
                  <a:srgbClr val="64748B"/>
                </a:solidFill>
              </a:rPr>
              <a:t>Passage à la phase suivante</a:t>
            </a:r>
            <a:endParaRPr lang="en-US" sz="750" dirty="0"/>
          </a:p>
        </p:txBody>
      </p:sp>
      <p:sp>
        <p:nvSpPr>
          <p:cNvPr id="61" name="Shape 59"/>
          <p:cNvSpPr/>
          <p:nvPr/>
        </p:nvSpPr>
        <p:spPr>
          <a:xfrm>
            <a:off x="4297680" y="3611880"/>
            <a:ext cx="1828800" cy="347472"/>
          </a:xfrm>
          <a:prstGeom prst="roundRect">
            <a:avLst>
              <a:gd name="adj" fmla="val 15789"/>
            </a:avLst>
          </a:prstGeom>
          <a:solidFill>
            <a:srgbClr val="DC2626"/>
          </a:solidFill>
          <a:ln w="12700">
            <a:solidFill>
              <a:srgbClr val="DC2626"/>
            </a:solidFill>
            <a:prstDash val="solid"/>
          </a:ln>
        </p:spPr>
      </p:sp>
      <p:sp>
        <p:nvSpPr>
          <p:cNvPr id="62" name="Text 60"/>
          <p:cNvSpPr/>
          <p:nvPr/>
        </p:nvSpPr>
        <p:spPr>
          <a:xfrm>
            <a:off x="4297680" y="3611880"/>
            <a:ext cx="1828800" cy="347472"/>
          </a:xfrm>
          <a:prstGeom prst="rect">
            <a:avLst/>
          </a:prstGeom>
          <a:noFill/>
          <a:ln/>
        </p:spPr>
        <p:txBody>
          <a:bodyPr wrap="square" rtlCol="0" anchor="ctr"/>
          <a:lstStyle/>
          <a:p>
            <a:pPr algn="ctr" indent="0" marL="0">
              <a:buNone/>
            </a:pPr>
            <a:r>
              <a:rPr lang="en-US" sz="900" b="1" dirty="0">
                <a:solidFill>
                  <a:srgbClr val="FFFFFF"/>
                </a:solidFill>
              </a:rPr>
              <a:t>Refusé(e)</a:t>
            </a:r>
            <a:endParaRPr lang="en-US" sz="900" dirty="0"/>
          </a:p>
        </p:txBody>
      </p:sp>
      <p:sp>
        <p:nvSpPr>
          <p:cNvPr id="63" name="Text 61"/>
          <p:cNvSpPr/>
          <p:nvPr/>
        </p:nvSpPr>
        <p:spPr>
          <a:xfrm>
            <a:off x="4297680" y="4005072"/>
            <a:ext cx="1828800" cy="256032"/>
          </a:xfrm>
          <a:prstGeom prst="rect">
            <a:avLst/>
          </a:prstGeom>
          <a:noFill/>
          <a:ln/>
        </p:spPr>
        <p:txBody>
          <a:bodyPr wrap="square" rtlCol="0" anchor="ctr"/>
          <a:lstStyle/>
          <a:p>
            <a:pPr algn="ctr" indent="0" marL="0">
              <a:buNone/>
            </a:pPr>
            <a:r>
              <a:rPr lang="en-US" sz="750" i="1" dirty="0">
                <a:solidFill>
                  <a:srgbClr val="64748B"/>
                </a:solidFill>
              </a:rPr>
              <a:t>Éliminé du processus</a:t>
            </a:r>
            <a:endParaRPr lang="en-US" sz="750" dirty="0"/>
          </a:p>
        </p:txBody>
      </p:sp>
      <p:sp>
        <p:nvSpPr>
          <p:cNvPr id="64" name="Shape 62"/>
          <p:cNvSpPr/>
          <p:nvPr/>
        </p:nvSpPr>
        <p:spPr>
          <a:xfrm>
            <a:off x="6263640" y="3611880"/>
            <a:ext cx="1828800" cy="347472"/>
          </a:xfrm>
          <a:prstGeom prst="roundRect">
            <a:avLst>
              <a:gd name="adj" fmla="val 15789"/>
            </a:avLst>
          </a:prstGeom>
          <a:solidFill>
            <a:srgbClr val="D97706"/>
          </a:solidFill>
          <a:ln w="12700">
            <a:solidFill>
              <a:srgbClr val="D97706"/>
            </a:solidFill>
            <a:prstDash val="solid"/>
          </a:ln>
        </p:spPr>
      </p:sp>
      <p:sp>
        <p:nvSpPr>
          <p:cNvPr id="65" name="Text 63"/>
          <p:cNvSpPr/>
          <p:nvPr/>
        </p:nvSpPr>
        <p:spPr>
          <a:xfrm>
            <a:off x="6263640" y="3611880"/>
            <a:ext cx="1828800" cy="347472"/>
          </a:xfrm>
          <a:prstGeom prst="rect">
            <a:avLst/>
          </a:prstGeom>
          <a:noFill/>
          <a:ln/>
        </p:spPr>
        <p:txBody>
          <a:bodyPr wrap="square" rtlCol="0" anchor="ctr"/>
          <a:lstStyle/>
          <a:p>
            <a:pPr algn="ctr" indent="0" marL="0">
              <a:buNone/>
            </a:pPr>
            <a:r>
              <a:rPr lang="en-US" sz="900" b="1" dirty="0">
                <a:solidFill>
                  <a:srgbClr val="FFFFFF"/>
                </a:solidFill>
              </a:rPr>
              <a:t>En attente</a:t>
            </a:r>
            <a:endParaRPr lang="en-US" sz="900" dirty="0"/>
          </a:p>
        </p:txBody>
      </p:sp>
      <p:sp>
        <p:nvSpPr>
          <p:cNvPr id="66" name="Text 64"/>
          <p:cNvSpPr/>
          <p:nvPr/>
        </p:nvSpPr>
        <p:spPr>
          <a:xfrm>
            <a:off x="6263640" y="4005072"/>
            <a:ext cx="1828800" cy="256032"/>
          </a:xfrm>
          <a:prstGeom prst="rect">
            <a:avLst/>
          </a:prstGeom>
          <a:noFill/>
          <a:ln/>
        </p:spPr>
        <p:txBody>
          <a:bodyPr wrap="square" rtlCol="0" anchor="ctr"/>
          <a:lstStyle/>
          <a:p>
            <a:pPr algn="ctr" indent="0" marL="0">
              <a:buNone/>
            </a:pPr>
            <a:r>
              <a:rPr lang="en-US" sz="750" i="1" dirty="0">
                <a:solidFill>
                  <a:srgbClr val="64748B"/>
                </a:solidFill>
              </a:rPr>
              <a:t>Décision en cours</a:t>
            </a:r>
            <a:endParaRPr lang="en-US" sz="750" dirty="0"/>
          </a:p>
        </p:txBody>
      </p:sp>
      <p:sp>
        <p:nvSpPr>
          <p:cNvPr id="67" name="Shape 65"/>
          <p:cNvSpPr/>
          <p:nvPr/>
        </p:nvSpPr>
        <p:spPr>
          <a:xfrm>
            <a:off x="8229600" y="3611880"/>
            <a:ext cx="1828800" cy="347472"/>
          </a:xfrm>
          <a:prstGeom prst="roundRect">
            <a:avLst>
              <a:gd name="adj" fmla="val 15789"/>
            </a:avLst>
          </a:prstGeom>
          <a:solidFill>
            <a:srgbClr val="6366F1"/>
          </a:solidFill>
          <a:ln w="12700">
            <a:solidFill>
              <a:srgbClr val="6366F1"/>
            </a:solidFill>
            <a:prstDash val="solid"/>
          </a:ln>
        </p:spPr>
      </p:sp>
      <p:sp>
        <p:nvSpPr>
          <p:cNvPr id="68" name="Text 66"/>
          <p:cNvSpPr/>
          <p:nvPr/>
        </p:nvSpPr>
        <p:spPr>
          <a:xfrm>
            <a:off x="8229600" y="3611880"/>
            <a:ext cx="1828800" cy="347472"/>
          </a:xfrm>
          <a:prstGeom prst="rect">
            <a:avLst/>
          </a:prstGeom>
          <a:noFill/>
          <a:ln/>
        </p:spPr>
        <p:txBody>
          <a:bodyPr wrap="square" rtlCol="0" anchor="ctr"/>
          <a:lstStyle/>
          <a:p>
            <a:pPr algn="ctr" indent="0" marL="0">
              <a:buNone/>
            </a:pPr>
            <a:r>
              <a:rPr lang="en-US" sz="900" b="1" dirty="0">
                <a:solidFill>
                  <a:srgbClr val="FFFFFF"/>
                </a:solidFill>
              </a:rPr>
              <a:t>Différé</a:t>
            </a:r>
            <a:endParaRPr lang="en-US" sz="900" dirty="0"/>
          </a:p>
        </p:txBody>
      </p:sp>
      <p:sp>
        <p:nvSpPr>
          <p:cNvPr id="69" name="Text 67"/>
          <p:cNvSpPr/>
          <p:nvPr/>
        </p:nvSpPr>
        <p:spPr>
          <a:xfrm>
            <a:off x="8229600" y="4005072"/>
            <a:ext cx="1828800" cy="256032"/>
          </a:xfrm>
          <a:prstGeom prst="rect">
            <a:avLst/>
          </a:prstGeom>
          <a:noFill/>
          <a:ln/>
        </p:spPr>
        <p:txBody>
          <a:bodyPr wrap="square" rtlCol="0" anchor="ctr"/>
          <a:lstStyle/>
          <a:p>
            <a:pPr algn="ctr" indent="0" marL="0">
              <a:buNone/>
            </a:pPr>
            <a:r>
              <a:rPr lang="en-US" sz="750" i="1" dirty="0">
                <a:solidFill>
                  <a:srgbClr val="64748B"/>
                </a:solidFill>
              </a:rPr>
              <a:t>Report de l'évaluation</a:t>
            </a:r>
            <a:endParaRPr lang="en-US" sz="750" dirty="0"/>
          </a:p>
        </p:txBody>
      </p:sp>
      <p:sp>
        <p:nvSpPr>
          <p:cNvPr id="70" name="Shape 68"/>
          <p:cNvSpPr/>
          <p:nvPr/>
        </p:nvSpPr>
        <p:spPr>
          <a:xfrm>
            <a:off x="10195560" y="3611880"/>
            <a:ext cx="1828800" cy="347472"/>
          </a:xfrm>
          <a:prstGeom prst="roundRect">
            <a:avLst>
              <a:gd name="adj" fmla="val 15789"/>
            </a:avLst>
          </a:prstGeom>
          <a:solidFill>
            <a:srgbClr val="64748B"/>
          </a:solidFill>
          <a:ln w="12700">
            <a:solidFill>
              <a:srgbClr val="64748B"/>
            </a:solidFill>
            <a:prstDash val="solid"/>
          </a:ln>
        </p:spPr>
      </p:sp>
      <p:sp>
        <p:nvSpPr>
          <p:cNvPr id="71" name="Text 69"/>
          <p:cNvSpPr/>
          <p:nvPr/>
        </p:nvSpPr>
        <p:spPr>
          <a:xfrm>
            <a:off x="10195560" y="3611880"/>
            <a:ext cx="1828800" cy="347472"/>
          </a:xfrm>
          <a:prstGeom prst="rect">
            <a:avLst/>
          </a:prstGeom>
          <a:noFill/>
          <a:ln/>
        </p:spPr>
        <p:txBody>
          <a:bodyPr wrap="square" rtlCol="0" anchor="ctr"/>
          <a:lstStyle/>
          <a:p>
            <a:pPr algn="ctr" indent="0" marL="0">
              <a:buNone/>
            </a:pPr>
            <a:r>
              <a:rPr lang="en-US" sz="900" b="1" dirty="0">
                <a:solidFill>
                  <a:srgbClr val="FFFFFF"/>
                </a:solidFill>
              </a:rPr>
              <a:t>Non présenté</a:t>
            </a:r>
            <a:endParaRPr lang="en-US" sz="900" dirty="0"/>
          </a:p>
        </p:txBody>
      </p:sp>
      <p:sp>
        <p:nvSpPr>
          <p:cNvPr id="72" name="Text 70"/>
          <p:cNvSpPr/>
          <p:nvPr/>
        </p:nvSpPr>
        <p:spPr>
          <a:xfrm>
            <a:off x="10195560" y="4005072"/>
            <a:ext cx="1828800" cy="256032"/>
          </a:xfrm>
          <a:prstGeom prst="rect">
            <a:avLst/>
          </a:prstGeom>
          <a:noFill/>
          <a:ln/>
        </p:spPr>
        <p:txBody>
          <a:bodyPr wrap="square" rtlCol="0" anchor="ctr"/>
          <a:lstStyle/>
          <a:p>
            <a:pPr algn="ctr" indent="0" marL="0">
              <a:buNone/>
            </a:pPr>
            <a:r>
              <a:rPr lang="en-US" sz="750" i="1" dirty="0">
                <a:solidFill>
                  <a:srgbClr val="64748B"/>
                </a:solidFill>
              </a:rPr>
              <a:t>Absent à l'épreuve</a:t>
            </a:r>
            <a:endParaRPr lang="en-US" sz="750" dirty="0"/>
          </a:p>
        </p:txBody>
      </p:sp>
      <p:sp>
        <p:nvSpPr>
          <p:cNvPr id="73" name="Shape 71"/>
          <p:cNvSpPr/>
          <p:nvPr/>
        </p:nvSpPr>
        <p:spPr>
          <a:xfrm>
            <a:off x="365760" y="4434840"/>
            <a:ext cx="11430000" cy="1554480"/>
          </a:xfrm>
          <a:prstGeom prst="rect">
            <a:avLst/>
          </a:prstGeom>
          <a:solidFill>
            <a:srgbClr val="EFF6FF"/>
          </a:solidFill>
          <a:ln w="12700">
            <a:solidFill>
              <a:srgbClr val="BFDBFE"/>
            </a:solidFill>
            <a:prstDash val="solid"/>
          </a:ln>
        </p:spPr>
      </p:sp>
      <p:sp>
        <p:nvSpPr>
          <p:cNvPr id="74" name="Text 72"/>
          <p:cNvSpPr/>
          <p:nvPr/>
        </p:nvSpPr>
        <p:spPr>
          <a:xfrm>
            <a:off x="548640" y="4526280"/>
            <a:ext cx="10972800" cy="274320"/>
          </a:xfrm>
          <a:prstGeom prst="rect">
            <a:avLst/>
          </a:prstGeom>
          <a:noFill/>
          <a:ln/>
        </p:spPr>
        <p:txBody>
          <a:bodyPr wrap="square" rtlCol="0" anchor="ctr"/>
          <a:lstStyle/>
          <a:p>
            <a:pPr indent="0" marL="0">
              <a:buNone/>
            </a:pPr>
            <a:r>
              <a:rPr lang="en-US" sz="900" b="1" spc="100" kern="0" dirty="0">
                <a:solidFill>
                  <a:srgbClr val="1B6CA8"/>
                </a:solidFill>
              </a:rPr>
              <a:t>ÉVALUATION JURY — FORMULAIRE STRUCTURÉ</a:t>
            </a:r>
            <a:endParaRPr lang="en-US" sz="900" dirty="0"/>
          </a:p>
        </p:txBody>
      </p:sp>
      <p:sp>
        <p:nvSpPr>
          <p:cNvPr id="75" name="Text 73"/>
          <p:cNvSpPr/>
          <p:nvPr/>
        </p:nvSpPr>
        <p:spPr>
          <a:xfrm>
            <a:off x="548640" y="4864608"/>
            <a:ext cx="2697480" cy="256032"/>
          </a:xfrm>
          <a:prstGeom prst="rect">
            <a:avLst/>
          </a:prstGeom>
          <a:noFill/>
          <a:ln/>
        </p:spPr>
        <p:txBody>
          <a:bodyPr wrap="square" rtlCol="0" anchor="ctr"/>
          <a:lstStyle/>
          <a:p>
            <a:pPr indent="0" marL="0">
              <a:buNone/>
            </a:pPr>
            <a:r>
              <a:rPr lang="en-US" sz="850" dirty="0">
                <a:solidFill>
                  <a:srgbClr val="0A2540"/>
                </a:solidFill>
              </a:rPr>
              <a:t>• Aptitudes techniques</a:t>
            </a:r>
            <a:endParaRPr lang="en-US" sz="850" dirty="0"/>
          </a:p>
        </p:txBody>
      </p:sp>
      <p:sp>
        <p:nvSpPr>
          <p:cNvPr id="76" name="Text 74"/>
          <p:cNvSpPr/>
          <p:nvPr/>
        </p:nvSpPr>
        <p:spPr>
          <a:xfrm>
            <a:off x="3383280" y="4864608"/>
            <a:ext cx="2697480" cy="256032"/>
          </a:xfrm>
          <a:prstGeom prst="rect">
            <a:avLst/>
          </a:prstGeom>
          <a:noFill/>
          <a:ln/>
        </p:spPr>
        <p:txBody>
          <a:bodyPr wrap="square" rtlCol="0" anchor="ctr"/>
          <a:lstStyle/>
          <a:p>
            <a:pPr indent="0" marL="0">
              <a:buNone/>
            </a:pPr>
            <a:r>
              <a:rPr lang="en-US" sz="850" dirty="0">
                <a:solidFill>
                  <a:srgbClr val="0A2540"/>
                </a:solidFill>
              </a:rPr>
              <a:t>• Comportement &amp; soft skills</a:t>
            </a:r>
            <a:endParaRPr lang="en-US" sz="850" dirty="0"/>
          </a:p>
        </p:txBody>
      </p:sp>
      <p:sp>
        <p:nvSpPr>
          <p:cNvPr id="77" name="Text 75"/>
          <p:cNvSpPr/>
          <p:nvPr/>
        </p:nvSpPr>
        <p:spPr>
          <a:xfrm>
            <a:off x="6217920" y="4864608"/>
            <a:ext cx="2697480" cy="256032"/>
          </a:xfrm>
          <a:prstGeom prst="rect">
            <a:avLst/>
          </a:prstGeom>
          <a:noFill/>
          <a:ln/>
        </p:spPr>
        <p:txBody>
          <a:bodyPr wrap="square" rtlCol="0" anchor="ctr"/>
          <a:lstStyle/>
          <a:p>
            <a:pPr indent="0" marL="0">
              <a:buNone/>
            </a:pPr>
            <a:r>
              <a:rPr lang="en-US" sz="850" dirty="0">
                <a:solidFill>
                  <a:srgbClr val="0A2540"/>
                </a:solidFill>
              </a:rPr>
              <a:t>• Expression orale</a:t>
            </a:r>
            <a:endParaRPr lang="en-US" sz="850" dirty="0"/>
          </a:p>
        </p:txBody>
      </p:sp>
      <p:sp>
        <p:nvSpPr>
          <p:cNvPr id="78" name="Text 76"/>
          <p:cNvSpPr/>
          <p:nvPr/>
        </p:nvSpPr>
        <p:spPr>
          <a:xfrm>
            <a:off x="9052560" y="4864608"/>
            <a:ext cx="2697480" cy="256032"/>
          </a:xfrm>
          <a:prstGeom prst="rect">
            <a:avLst/>
          </a:prstGeom>
          <a:noFill/>
          <a:ln/>
        </p:spPr>
        <p:txBody>
          <a:bodyPr wrap="square" rtlCol="0" anchor="ctr"/>
          <a:lstStyle/>
          <a:p>
            <a:pPr indent="0" marL="0">
              <a:buNone/>
            </a:pPr>
            <a:r>
              <a:rPr lang="en-US" sz="850" dirty="0">
                <a:solidFill>
                  <a:srgbClr val="0A2540"/>
                </a:solidFill>
              </a:rPr>
              <a:t>• Motivation &amp; projet pro.</a:t>
            </a:r>
            <a:endParaRPr lang="en-US" sz="850" dirty="0"/>
          </a:p>
        </p:txBody>
      </p:sp>
      <p:sp>
        <p:nvSpPr>
          <p:cNvPr id="79" name="Text 77"/>
          <p:cNvSpPr/>
          <p:nvPr/>
        </p:nvSpPr>
        <p:spPr>
          <a:xfrm>
            <a:off x="548640" y="5120640"/>
            <a:ext cx="2697480" cy="256032"/>
          </a:xfrm>
          <a:prstGeom prst="rect">
            <a:avLst/>
          </a:prstGeom>
          <a:noFill/>
          <a:ln/>
        </p:spPr>
        <p:txBody>
          <a:bodyPr wrap="square" rtlCol="0" anchor="ctr"/>
          <a:lstStyle/>
          <a:p>
            <a:pPr indent="0" marL="0">
              <a:buNone/>
            </a:pPr>
            <a:r>
              <a:rPr lang="en-US" sz="850" dirty="0">
                <a:solidFill>
                  <a:srgbClr val="0A2540"/>
                </a:solidFill>
              </a:rPr>
              <a:t>• Score jury (0-100)</a:t>
            </a:r>
            <a:endParaRPr lang="en-US" sz="850" dirty="0"/>
          </a:p>
        </p:txBody>
      </p:sp>
      <p:sp>
        <p:nvSpPr>
          <p:cNvPr id="80" name="Text 78"/>
          <p:cNvSpPr/>
          <p:nvPr/>
        </p:nvSpPr>
        <p:spPr>
          <a:xfrm>
            <a:off x="3383280" y="5120640"/>
            <a:ext cx="2697480" cy="256032"/>
          </a:xfrm>
          <a:prstGeom prst="rect">
            <a:avLst/>
          </a:prstGeom>
          <a:noFill/>
          <a:ln/>
        </p:spPr>
        <p:txBody>
          <a:bodyPr wrap="square" rtlCol="0" anchor="ctr"/>
          <a:lstStyle/>
          <a:p>
            <a:pPr indent="0" marL="0">
              <a:buNone/>
            </a:pPr>
            <a:r>
              <a:rPr lang="en-US" sz="850" dirty="0">
                <a:solidFill>
                  <a:srgbClr val="0A2540"/>
                </a:solidFill>
              </a:rPr>
              <a:t>• Avis : Admis / Refusé / Liste d'attente</a:t>
            </a:r>
            <a:endParaRPr lang="en-US" sz="850" dirty="0"/>
          </a:p>
        </p:txBody>
      </p:sp>
      <p:sp>
        <p:nvSpPr>
          <p:cNvPr id="81" name="Text 79"/>
          <p:cNvSpPr/>
          <p:nvPr/>
        </p:nvSpPr>
        <p:spPr>
          <a:xfrm>
            <a:off x="6217920" y="5120640"/>
            <a:ext cx="2697480" cy="256032"/>
          </a:xfrm>
          <a:prstGeom prst="rect">
            <a:avLst/>
          </a:prstGeom>
          <a:noFill/>
          <a:ln/>
        </p:spPr>
        <p:txBody>
          <a:bodyPr wrap="square" rtlCol="0" anchor="ctr"/>
          <a:lstStyle/>
          <a:p>
            <a:pPr indent="0" marL="0">
              <a:buNone/>
            </a:pPr>
            <a:r>
              <a:rPr lang="en-US" sz="850" dirty="0">
                <a:solidFill>
                  <a:srgbClr val="0A2540"/>
                </a:solidFill>
              </a:rPr>
              <a:t>• Commentaire libre du jury</a:t>
            </a:r>
            <a:endParaRPr lang="en-US" sz="850" dirty="0"/>
          </a:p>
        </p:txBody>
      </p:sp>
      <p:sp>
        <p:nvSpPr>
          <p:cNvPr id="82" name="Text 80"/>
          <p:cNvSpPr/>
          <p:nvPr/>
        </p:nvSpPr>
        <p:spPr>
          <a:xfrm>
            <a:off x="365760" y="6583680"/>
            <a:ext cx="11430000" cy="274320"/>
          </a:xfrm>
          <a:prstGeom prst="rect">
            <a:avLst/>
          </a:prstGeom>
          <a:noFill/>
          <a:ln/>
        </p:spPr>
        <p:txBody>
          <a:bodyPr wrap="square" rtlCol="0" anchor="ctr"/>
          <a:lstStyle/>
          <a:p>
            <a:pPr algn="ctr" indent="0" marL="0">
              <a:buNone/>
            </a:pPr>
            <a:r>
              <a:rPr lang="en-US" sz="800" dirty="0">
                <a:solidFill>
                  <a:srgbClr val="64748B"/>
                </a:solidFill>
              </a:rPr>
              <a:t>SNH – Présentation Directoire  |  Confidentiel  |  8 / 12</a:t>
            </a:r>
            <a:endParaRPr lang="en-US" sz="800" dirty="0"/>
          </a:p>
        </p:txBody>
      </p:sp>
      <p:sp>
        <p:nvSpPr>
          <p:cNvPr id="83" name="Shape 81"/>
          <p:cNvSpPr/>
          <p:nvPr/>
        </p:nvSpPr>
        <p:spPr>
          <a:xfrm>
            <a:off x="0" y="6492240"/>
            <a:ext cx="12188952" cy="27432"/>
          </a:xfrm>
          <a:prstGeom prst="rect">
            <a:avLst/>
          </a:prstGeom>
          <a:solidFill>
            <a:srgbClr val="1B6CA8"/>
          </a:solidFill>
          <a:ln w="12700">
            <a:solidFill>
              <a:srgbClr val="1B6CA8"/>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1247120" cy="73152"/>
          </a:xfrm>
          <a:prstGeom prst="rect">
            <a:avLst/>
          </a:prstGeom>
          <a:solidFill>
            <a:srgbClr val="1B6CA8"/>
          </a:solidFill>
          <a:ln w="12700">
            <a:solidFill>
              <a:srgbClr val="1B6CA8"/>
            </a:solidFill>
            <a:prstDash val="solid"/>
          </a:ln>
        </p:spPr>
      </p:sp>
      <p:sp>
        <p:nvSpPr>
          <p:cNvPr id="3" name="Text 1"/>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07 – TABLEAUX DE BORD &amp; RAPPORTS</a:t>
            </a:r>
            <a:endParaRPr lang="en-US" sz="1000" dirty="0"/>
          </a:p>
        </p:txBody>
      </p:sp>
      <p:sp>
        <p:nvSpPr>
          <p:cNvPr id="4" name="Text 2"/>
          <p:cNvSpPr/>
          <p:nvPr/>
        </p:nvSpPr>
        <p:spPr>
          <a:xfrm>
            <a:off x="457200" y="685800"/>
            <a:ext cx="10972800" cy="502920"/>
          </a:xfrm>
          <a:prstGeom prst="rect">
            <a:avLst/>
          </a:prstGeom>
          <a:noFill/>
          <a:ln/>
        </p:spPr>
        <p:txBody>
          <a:bodyPr wrap="square" rtlCol="0" anchor="ctr"/>
          <a:lstStyle/>
          <a:p>
            <a:pPr indent="0" marL="0">
              <a:buNone/>
            </a:pPr>
            <a:r>
              <a:rPr lang="en-US" sz="2200" b="1" dirty="0">
                <a:solidFill>
                  <a:srgbClr val="0A2540"/>
                </a:solidFill>
              </a:rPr>
              <a:t>Pilotage du Recrutement en Temps Réel</a:t>
            </a:r>
            <a:endParaRPr lang="en-US" sz="2200" dirty="0"/>
          </a:p>
        </p:txBody>
      </p:sp>
      <p:sp>
        <p:nvSpPr>
          <p:cNvPr id="5" name="Shape 3"/>
          <p:cNvSpPr/>
          <p:nvPr/>
        </p:nvSpPr>
        <p:spPr>
          <a:xfrm>
            <a:off x="365760" y="1417320"/>
            <a:ext cx="2606040" cy="1005840"/>
          </a:xfrm>
          <a:prstGeom prst="rect">
            <a:avLst/>
          </a:prstGeom>
          <a:solidFill>
            <a:srgbClr val="1B6CA8"/>
          </a:solidFill>
          <a:ln w="12700">
            <a:solidFill>
              <a:srgbClr val="1B6CA8"/>
            </a:solidFill>
            <a:prstDash val="solid"/>
          </a:ln>
        </p:spPr>
      </p:sp>
      <p:sp>
        <p:nvSpPr>
          <p:cNvPr id="6" name="Text 4"/>
          <p:cNvSpPr/>
          <p:nvPr/>
        </p:nvSpPr>
        <p:spPr>
          <a:xfrm>
            <a:off x="365760" y="1463040"/>
            <a:ext cx="2606040" cy="594360"/>
          </a:xfrm>
          <a:prstGeom prst="rect">
            <a:avLst/>
          </a:prstGeom>
          <a:noFill/>
          <a:ln/>
        </p:spPr>
        <p:txBody>
          <a:bodyPr wrap="square" rtlCol="0" anchor="ctr"/>
          <a:lstStyle/>
          <a:p>
            <a:pPr algn="ctr" indent="0" marL="0">
              <a:buNone/>
            </a:pPr>
            <a:r>
              <a:rPr lang="en-US" sz="3200" b="1" dirty="0">
                <a:solidFill>
                  <a:srgbClr val="FFFFFF"/>
                </a:solidFill>
              </a:rPr>
              <a:t>70+</a:t>
            </a:r>
            <a:endParaRPr lang="en-US" sz="3200" dirty="0"/>
          </a:p>
        </p:txBody>
      </p:sp>
      <p:sp>
        <p:nvSpPr>
          <p:cNvPr id="7" name="Text 5"/>
          <p:cNvSpPr/>
          <p:nvPr/>
        </p:nvSpPr>
        <p:spPr>
          <a:xfrm>
            <a:off x="365760" y="2057400"/>
            <a:ext cx="2606040" cy="320040"/>
          </a:xfrm>
          <a:prstGeom prst="rect">
            <a:avLst/>
          </a:prstGeom>
          <a:noFill/>
          <a:ln/>
        </p:spPr>
        <p:txBody>
          <a:bodyPr wrap="square" rtlCol="0" anchor="ctr"/>
          <a:lstStyle/>
          <a:p>
            <a:pPr algn="ctr" indent="0" marL="0">
              <a:buNone/>
            </a:pPr>
            <a:r>
              <a:rPr lang="en-US" sz="850" dirty="0">
                <a:solidFill>
                  <a:srgbClr val="FFFFFF"/>
                </a:solidFill>
              </a:rPr>
              <a:t>Candidatures reçues</a:t>
            </a:r>
            <a:endParaRPr lang="en-US" sz="850" dirty="0"/>
          </a:p>
        </p:txBody>
      </p:sp>
      <p:sp>
        <p:nvSpPr>
          <p:cNvPr id="8" name="Shape 6"/>
          <p:cNvSpPr/>
          <p:nvPr/>
        </p:nvSpPr>
        <p:spPr>
          <a:xfrm>
            <a:off x="3200400" y="1417320"/>
            <a:ext cx="2606040" cy="1005840"/>
          </a:xfrm>
          <a:prstGeom prst="rect">
            <a:avLst/>
          </a:prstGeom>
          <a:solidFill>
            <a:srgbClr val="16A34A"/>
          </a:solidFill>
          <a:ln w="12700">
            <a:solidFill>
              <a:srgbClr val="16A34A"/>
            </a:solidFill>
            <a:prstDash val="solid"/>
          </a:ln>
        </p:spPr>
      </p:sp>
      <p:sp>
        <p:nvSpPr>
          <p:cNvPr id="9" name="Text 7"/>
          <p:cNvSpPr/>
          <p:nvPr/>
        </p:nvSpPr>
        <p:spPr>
          <a:xfrm>
            <a:off x="3200400" y="1463040"/>
            <a:ext cx="2606040" cy="594360"/>
          </a:xfrm>
          <a:prstGeom prst="rect">
            <a:avLst/>
          </a:prstGeom>
          <a:noFill/>
          <a:ln/>
        </p:spPr>
        <p:txBody>
          <a:bodyPr wrap="square" rtlCol="0" anchor="ctr"/>
          <a:lstStyle/>
          <a:p>
            <a:pPr algn="ctr" indent="0" marL="0">
              <a:buNone/>
            </a:pPr>
            <a:r>
              <a:rPr lang="en-US" sz="3200" b="1" dirty="0">
                <a:solidFill>
                  <a:srgbClr val="FFFFFF"/>
                </a:solidFill>
              </a:rPr>
              <a:t>27+</a:t>
            </a:r>
            <a:endParaRPr lang="en-US" sz="3200" dirty="0"/>
          </a:p>
        </p:txBody>
      </p:sp>
      <p:sp>
        <p:nvSpPr>
          <p:cNvPr id="10" name="Text 8"/>
          <p:cNvSpPr/>
          <p:nvPr/>
        </p:nvSpPr>
        <p:spPr>
          <a:xfrm>
            <a:off x="3200400" y="2057400"/>
            <a:ext cx="2606040" cy="320040"/>
          </a:xfrm>
          <a:prstGeom prst="rect">
            <a:avLst/>
          </a:prstGeom>
          <a:noFill/>
          <a:ln/>
        </p:spPr>
        <p:txBody>
          <a:bodyPr wrap="square" rtlCol="0" anchor="ctr"/>
          <a:lstStyle/>
          <a:p>
            <a:pPr algn="ctr" indent="0" marL="0">
              <a:buNone/>
            </a:pPr>
            <a:r>
              <a:rPr lang="en-US" sz="850" dirty="0">
                <a:solidFill>
                  <a:srgbClr val="FFFFFF"/>
                </a:solidFill>
              </a:rPr>
              <a:t>Candidats uniques</a:t>
            </a:r>
            <a:endParaRPr lang="en-US" sz="850" dirty="0"/>
          </a:p>
        </p:txBody>
      </p:sp>
      <p:sp>
        <p:nvSpPr>
          <p:cNvPr id="11" name="Shape 9"/>
          <p:cNvSpPr/>
          <p:nvPr/>
        </p:nvSpPr>
        <p:spPr>
          <a:xfrm>
            <a:off x="6035040" y="1417320"/>
            <a:ext cx="2606040" cy="1005840"/>
          </a:xfrm>
          <a:prstGeom prst="rect">
            <a:avLst/>
          </a:prstGeom>
          <a:solidFill>
            <a:srgbClr val="D97706"/>
          </a:solidFill>
          <a:ln w="12700">
            <a:solidFill>
              <a:srgbClr val="D97706"/>
            </a:solidFill>
            <a:prstDash val="solid"/>
          </a:ln>
        </p:spPr>
      </p:sp>
      <p:sp>
        <p:nvSpPr>
          <p:cNvPr id="12" name="Text 10"/>
          <p:cNvSpPr/>
          <p:nvPr/>
        </p:nvSpPr>
        <p:spPr>
          <a:xfrm>
            <a:off x="6035040" y="1463040"/>
            <a:ext cx="2606040" cy="594360"/>
          </a:xfrm>
          <a:prstGeom prst="rect">
            <a:avLst/>
          </a:prstGeom>
          <a:noFill/>
          <a:ln/>
        </p:spPr>
        <p:txBody>
          <a:bodyPr wrap="square" rtlCol="0" anchor="ctr"/>
          <a:lstStyle/>
          <a:p>
            <a:pPr algn="ctr" indent="0" marL="0">
              <a:buNone/>
            </a:pPr>
            <a:r>
              <a:rPr lang="en-US" sz="3200" b="1" dirty="0">
                <a:solidFill>
                  <a:srgbClr val="FFFFFF"/>
                </a:solidFill>
              </a:rPr>
              <a:t>62</a:t>
            </a:r>
            <a:endParaRPr lang="en-US" sz="3200" dirty="0"/>
          </a:p>
        </p:txBody>
      </p:sp>
      <p:sp>
        <p:nvSpPr>
          <p:cNvPr id="13" name="Text 11"/>
          <p:cNvSpPr/>
          <p:nvPr/>
        </p:nvSpPr>
        <p:spPr>
          <a:xfrm>
            <a:off x="6035040" y="2057400"/>
            <a:ext cx="2606040" cy="320040"/>
          </a:xfrm>
          <a:prstGeom prst="rect">
            <a:avLst/>
          </a:prstGeom>
          <a:noFill/>
          <a:ln/>
        </p:spPr>
        <p:txBody>
          <a:bodyPr wrap="square" rtlCol="0" anchor="ctr"/>
          <a:lstStyle/>
          <a:p>
            <a:pPr algn="ctr" indent="0" marL="0">
              <a:buNone/>
            </a:pPr>
            <a:r>
              <a:rPr lang="en-US" sz="850" dirty="0">
                <a:solidFill>
                  <a:srgbClr val="FFFFFF"/>
                </a:solidFill>
              </a:rPr>
              <a:t>En cours de traitement</a:t>
            </a:r>
            <a:endParaRPr lang="en-US" sz="850" dirty="0"/>
          </a:p>
        </p:txBody>
      </p:sp>
      <p:sp>
        <p:nvSpPr>
          <p:cNvPr id="14" name="Shape 12"/>
          <p:cNvSpPr/>
          <p:nvPr/>
        </p:nvSpPr>
        <p:spPr>
          <a:xfrm>
            <a:off x="8869680" y="1417320"/>
            <a:ext cx="2606040" cy="1005840"/>
          </a:xfrm>
          <a:prstGeom prst="rect">
            <a:avLst/>
          </a:prstGeom>
          <a:solidFill>
            <a:srgbClr val="7C3AED"/>
          </a:solidFill>
          <a:ln w="12700">
            <a:solidFill>
              <a:srgbClr val="7C3AED"/>
            </a:solidFill>
            <a:prstDash val="solid"/>
          </a:ln>
        </p:spPr>
      </p:sp>
      <p:sp>
        <p:nvSpPr>
          <p:cNvPr id="15" name="Text 13"/>
          <p:cNvSpPr/>
          <p:nvPr/>
        </p:nvSpPr>
        <p:spPr>
          <a:xfrm>
            <a:off x="8869680" y="1463040"/>
            <a:ext cx="2606040" cy="594360"/>
          </a:xfrm>
          <a:prstGeom prst="rect">
            <a:avLst/>
          </a:prstGeom>
          <a:noFill/>
          <a:ln/>
        </p:spPr>
        <p:txBody>
          <a:bodyPr wrap="square" rtlCol="0" anchor="ctr"/>
          <a:lstStyle/>
          <a:p>
            <a:pPr algn="ctr" indent="0" marL="0">
              <a:buNone/>
            </a:pPr>
            <a:r>
              <a:rPr lang="en-US" sz="3200" b="1" dirty="0">
                <a:solidFill>
                  <a:srgbClr val="FFFFFF"/>
                </a:solidFill>
              </a:rPr>
              <a:t>10</a:t>
            </a:r>
            <a:endParaRPr lang="en-US" sz="3200" dirty="0"/>
          </a:p>
        </p:txBody>
      </p:sp>
      <p:sp>
        <p:nvSpPr>
          <p:cNvPr id="16" name="Text 14"/>
          <p:cNvSpPr/>
          <p:nvPr/>
        </p:nvSpPr>
        <p:spPr>
          <a:xfrm>
            <a:off x="8869680" y="2057400"/>
            <a:ext cx="2606040" cy="320040"/>
          </a:xfrm>
          <a:prstGeom prst="rect">
            <a:avLst/>
          </a:prstGeom>
          <a:noFill/>
          <a:ln/>
        </p:spPr>
        <p:txBody>
          <a:bodyPr wrap="square" rtlCol="0" anchor="ctr"/>
          <a:lstStyle/>
          <a:p>
            <a:pPr algn="ctr" indent="0" marL="0">
              <a:buNone/>
            </a:pPr>
            <a:r>
              <a:rPr lang="en-US" sz="850" dirty="0">
                <a:solidFill>
                  <a:srgbClr val="FFFFFF"/>
                </a:solidFill>
              </a:rPr>
              <a:t>Offres actives</a:t>
            </a:r>
            <a:endParaRPr lang="en-US" sz="850" dirty="0"/>
          </a:p>
        </p:txBody>
      </p:sp>
      <p:sp>
        <p:nvSpPr>
          <p:cNvPr id="17" name="Text 15"/>
          <p:cNvSpPr/>
          <p:nvPr/>
        </p:nvSpPr>
        <p:spPr>
          <a:xfrm>
            <a:off x="457200" y="2606040"/>
            <a:ext cx="10972800" cy="320040"/>
          </a:xfrm>
          <a:prstGeom prst="rect">
            <a:avLst/>
          </a:prstGeom>
          <a:noFill/>
          <a:ln/>
        </p:spPr>
        <p:txBody>
          <a:bodyPr wrap="square" rtlCol="0" anchor="ctr"/>
          <a:lstStyle/>
          <a:p>
            <a:pPr indent="0" marL="0">
              <a:buNone/>
            </a:pPr>
            <a:r>
              <a:rPr lang="en-US" sz="900" b="1" spc="150" kern="0" dirty="0">
                <a:solidFill>
                  <a:srgbClr val="1B6CA8"/>
                </a:solidFill>
              </a:rPr>
              <a:t>6 MODÈLES DE RAPPORTS DISPONIBLES</a:t>
            </a:r>
            <a:endParaRPr lang="en-US" sz="900" dirty="0"/>
          </a:p>
        </p:txBody>
      </p:sp>
      <p:sp>
        <p:nvSpPr>
          <p:cNvPr id="18" name="Shape 16"/>
          <p:cNvSpPr/>
          <p:nvPr/>
        </p:nvSpPr>
        <p:spPr>
          <a:xfrm>
            <a:off x="365760" y="3063240"/>
            <a:ext cx="3566160" cy="329184"/>
          </a:xfrm>
          <a:prstGeom prst="rect">
            <a:avLst/>
          </a:prstGeom>
          <a:solidFill>
            <a:srgbClr val="1B6CA8"/>
          </a:solidFill>
          <a:ln w="12700">
            <a:solidFill>
              <a:srgbClr val="1B6CA8"/>
            </a:solidFill>
            <a:prstDash val="solid"/>
          </a:ln>
        </p:spPr>
      </p:sp>
      <p:sp>
        <p:nvSpPr>
          <p:cNvPr id="19" name="Text 17"/>
          <p:cNvSpPr/>
          <p:nvPr/>
        </p:nvSpPr>
        <p:spPr>
          <a:xfrm>
            <a:off x="438912" y="3063240"/>
            <a:ext cx="3383280" cy="329184"/>
          </a:xfrm>
          <a:prstGeom prst="rect">
            <a:avLst/>
          </a:prstGeom>
          <a:noFill/>
          <a:ln/>
        </p:spPr>
        <p:txBody>
          <a:bodyPr wrap="square" rtlCol="0" anchor="ctr"/>
          <a:lstStyle/>
          <a:p>
            <a:pPr indent="0" marL="0">
              <a:buNone/>
            </a:pPr>
            <a:r>
              <a:rPr lang="en-US" sz="900" b="1" dirty="0">
                <a:solidFill>
                  <a:srgbClr val="FFFFFF"/>
                </a:solidFill>
              </a:rPr>
              <a:t>R1  Récapitulatif des candidatures</a:t>
            </a:r>
            <a:endParaRPr lang="en-US" sz="900" dirty="0"/>
          </a:p>
        </p:txBody>
      </p:sp>
      <p:sp>
        <p:nvSpPr>
          <p:cNvPr id="20" name="Shape 18"/>
          <p:cNvSpPr/>
          <p:nvPr/>
        </p:nvSpPr>
        <p:spPr>
          <a:xfrm>
            <a:off x="365760" y="3392424"/>
            <a:ext cx="3566160" cy="1143000"/>
          </a:xfrm>
          <a:prstGeom prst="rect">
            <a:avLst/>
          </a:prstGeom>
          <a:solidFill>
            <a:srgbClr val="F1F5F9"/>
          </a:solidFill>
          <a:ln w="12700">
            <a:solidFill>
              <a:srgbClr val="E2E8F0"/>
            </a:solidFill>
            <a:prstDash val="solid"/>
          </a:ln>
        </p:spPr>
      </p:sp>
      <p:sp>
        <p:nvSpPr>
          <p:cNvPr id="21" name="Text 19"/>
          <p:cNvSpPr/>
          <p:nvPr/>
        </p:nvSpPr>
        <p:spPr>
          <a:xfrm>
            <a:off x="457200" y="3483864"/>
            <a:ext cx="3383280" cy="960120"/>
          </a:xfrm>
          <a:prstGeom prst="rect">
            <a:avLst/>
          </a:prstGeom>
          <a:noFill/>
          <a:ln/>
        </p:spPr>
        <p:txBody>
          <a:bodyPr wrap="square" rtlCol="0" anchor="ctr"/>
          <a:lstStyle/>
          <a:p>
            <a:pPr indent="0" marL="0">
              <a:lnSpc>
                <a:spcPct val="130000"/>
              </a:lnSpc>
              <a:buNone/>
            </a:pPr>
            <a:r>
              <a:rPr lang="en-US" sz="900" dirty="0">
                <a:solidFill>
                  <a:srgbClr val="0A2540"/>
                </a:solidFill>
              </a:rPr>
              <a:t>Vue globale de toutes les candidatures sur une période donnée avec répartition par statut et par offre.</a:t>
            </a:r>
            <a:endParaRPr lang="en-US" sz="900" dirty="0"/>
          </a:p>
        </p:txBody>
      </p:sp>
      <p:sp>
        <p:nvSpPr>
          <p:cNvPr id="22" name="Shape 20"/>
          <p:cNvSpPr/>
          <p:nvPr/>
        </p:nvSpPr>
        <p:spPr>
          <a:xfrm>
            <a:off x="4251960" y="3063240"/>
            <a:ext cx="3566160" cy="329184"/>
          </a:xfrm>
          <a:prstGeom prst="rect">
            <a:avLst/>
          </a:prstGeom>
          <a:solidFill>
            <a:srgbClr val="1B6CA8"/>
          </a:solidFill>
          <a:ln w="12700">
            <a:solidFill>
              <a:srgbClr val="1B6CA8"/>
            </a:solidFill>
            <a:prstDash val="solid"/>
          </a:ln>
        </p:spPr>
      </p:sp>
      <p:sp>
        <p:nvSpPr>
          <p:cNvPr id="23" name="Text 21"/>
          <p:cNvSpPr/>
          <p:nvPr/>
        </p:nvSpPr>
        <p:spPr>
          <a:xfrm>
            <a:off x="4325112" y="3063240"/>
            <a:ext cx="3383280" cy="329184"/>
          </a:xfrm>
          <a:prstGeom prst="rect">
            <a:avLst/>
          </a:prstGeom>
          <a:noFill/>
          <a:ln/>
        </p:spPr>
        <p:txBody>
          <a:bodyPr wrap="square" rtlCol="0" anchor="ctr"/>
          <a:lstStyle/>
          <a:p>
            <a:pPr indent="0" marL="0">
              <a:buNone/>
            </a:pPr>
            <a:r>
              <a:rPr lang="en-US" sz="900" b="1" dirty="0">
                <a:solidFill>
                  <a:srgbClr val="FFFFFF"/>
                </a:solidFill>
              </a:rPr>
              <a:t>R2  Candidatures par type</a:t>
            </a:r>
            <a:endParaRPr lang="en-US" sz="900" dirty="0"/>
          </a:p>
        </p:txBody>
      </p:sp>
      <p:sp>
        <p:nvSpPr>
          <p:cNvPr id="24" name="Shape 22"/>
          <p:cNvSpPr/>
          <p:nvPr/>
        </p:nvSpPr>
        <p:spPr>
          <a:xfrm>
            <a:off x="4251960" y="3392424"/>
            <a:ext cx="3566160" cy="1143000"/>
          </a:xfrm>
          <a:prstGeom prst="rect">
            <a:avLst/>
          </a:prstGeom>
          <a:solidFill>
            <a:srgbClr val="F1F5F9"/>
          </a:solidFill>
          <a:ln w="12700">
            <a:solidFill>
              <a:srgbClr val="E2E8F0"/>
            </a:solidFill>
            <a:prstDash val="solid"/>
          </a:ln>
        </p:spPr>
      </p:sp>
      <p:sp>
        <p:nvSpPr>
          <p:cNvPr id="25" name="Text 23"/>
          <p:cNvSpPr/>
          <p:nvPr/>
        </p:nvSpPr>
        <p:spPr>
          <a:xfrm>
            <a:off x="4343400" y="3483864"/>
            <a:ext cx="3383280" cy="960120"/>
          </a:xfrm>
          <a:prstGeom prst="rect">
            <a:avLst/>
          </a:prstGeom>
          <a:noFill/>
          <a:ln/>
        </p:spPr>
        <p:txBody>
          <a:bodyPr wrap="square" rtlCol="0" anchor="ctr"/>
          <a:lstStyle/>
          <a:p>
            <a:pPr indent="0" marL="0">
              <a:lnSpc>
                <a:spcPct val="130000"/>
              </a:lnSpc>
              <a:buNone/>
            </a:pPr>
            <a:r>
              <a:rPr lang="en-US" sz="900" dirty="0">
                <a:solidFill>
                  <a:srgbClr val="0A2540"/>
                </a:solidFill>
              </a:rPr>
              <a:t>Analyse comparative entre candidatures spontanées, sur offre, internes et externes.</a:t>
            </a:r>
            <a:endParaRPr lang="en-US" sz="900" dirty="0"/>
          </a:p>
        </p:txBody>
      </p:sp>
      <p:sp>
        <p:nvSpPr>
          <p:cNvPr id="26" name="Shape 24"/>
          <p:cNvSpPr/>
          <p:nvPr/>
        </p:nvSpPr>
        <p:spPr>
          <a:xfrm>
            <a:off x="8138160" y="3063240"/>
            <a:ext cx="3566160" cy="329184"/>
          </a:xfrm>
          <a:prstGeom prst="rect">
            <a:avLst/>
          </a:prstGeom>
          <a:solidFill>
            <a:srgbClr val="1B6CA8"/>
          </a:solidFill>
          <a:ln w="12700">
            <a:solidFill>
              <a:srgbClr val="1B6CA8"/>
            </a:solidFill>
            <a:prstDash val="solid"/>
          </a:ln>
        </p:spPr>
      </p:sp>
      <p:sp>
        <p:nvSpPr>
          <p:cNvPr id="27" name="Text 25"/>
          <p:cNvSpPr/>
          <p:nvPr/>
        </p:nvSpPr>
        <p:spPr>
          <a:xfrm>
            <a:off x="8211312" y="3063240"/>
            <a:ext cx="3383280" cy="329184"/>
          </a:xfrm>
          <a:prstGeom prst="rect">
            <a:avLst/>
          </a:prstGeom>
          <a:noFill/>
          <a:ln/>
        </p:spPr>
        <p:txBody>
          <a:bodyPr wrap="square" rtlCol="0" anchor="ctr"/>
          <a:lstStyle/>
          <a:p>
            <a:pPr indent="0" marL="0">
              <a:buNone/>
            </a:pPr>
            <a:r>
              <a:rPr lang="en-US" sz="900" b="1" dirty="0">
                <a:solidFill>
                  <a:srgbClr val="FFFFFF"/>
                </a:solidFill>
              </a:rPr>
              <a:t>R3  Rapport d'une offre précise</a:t>
            </a:r>
            <a:endParaRPr lang="en-US" sz="900" dirty="0"/>
          </a:p>
        </p:txBody>
      </p:sp>
      <p:sp>
        <p:nvSpPr>
          <p:cNvPr id="28" name="Shape 26"/>
          <p:cNvSpPr/>
          <p:nvPr/>
        </p:nvSpPr>
        <p:spPr>
          <a:xfrm>
            <a:off x="8138160" y="3392424"/>
            <a:ext cx="3566160" cy="1143000"/>
          </a:xfrm>
          <a:prstGeom prst="rect">
            <a:avLst/>
          </a:prstGeom>
          <a:solidFill>
            <a:srgbClr val="F1F5F9"/>
          </a:solidFill>
          <a:ln w="12700">
            <a:solidFill>
              <a:srgbClr val="E2E8F0"/>
            </a:solidFill>
            <a:prstDash val="solid"/>
          </a:ln>
        </p:spPr>
      </p:sp>
      <p:sp>
        <p:nvSpPr>
          <p:cNvPr id="29" name="Text 27"/>
          <p:cNvSpPr/>
          <p:nvPr/>
        </p:nvSpPr>
        <p:spPr>
          <a:xfrm>
            <a:off x="8229600" y="3483864"/>
            <a:ext cx="3383280" cy="960120"/>
          </a:xfrm>
          <a:prstGeom prst="rect">
            <a:avLst/>
          </a:prstGeom>
          <a:noFill/>
          <a:ln/>
        </p:spPr>
        <p:txBody>
          <a:bodyPr wrap="square" rtlCol="0" anchor="ctr"/>
          <a:lstStyle/>
          <a:p>
            <a:pPr indent="0" marL="0">
              <a:lnSpc>
                <a:spcPct val="130000"/>
              </a:lnSpc>
              <a:buNone/>
            </a:pPr>
            <a:r>
              <a:rPr lang="en-US" sz="900" dirty="0">
                <a:solidFill>
                  <a:srgbClr val="0A2540"/>
                </a:solidFill>
              </a:rPr>
              <a:t>Détail complet d'une offre : nombre de postulants, taux de passage par phase, score moyen.</a:t>
            </a:r>
            <a:endParaRPr lang="en-US" sz="900" dirty="0"/>
          </a:p>
        </p:txBody>
      </p:sp>
      <p:sp>
        <p:nvSpPr>
          <p:cNvPr id="30" name="Shape 28"/>
          <p:cNvSpPr/>
          <p:nvPr/>
        </p:nvSpPr>
        <p:spPr>
          <a:xfrm>
            <a:off x="365760" y="4636008"/>
            <a:ext cx="3566160" cy="329184"/>
          </a:xfrm>
          <a:prstGeom prst="rect">
            <a:avLst/>
          </a:prstGeom>
          <a:solidFill>
            <a:srgbClr val="1B6CA8"/>
          </a:solidFill>
          <a:ln w="12700">
            <a:solidFill>
              <a:srgbClr val="1B6CA8"/>
            </a:solidFill>
            <a:prstDash val="solid"/>
          </a:ln>
        </p:spPr>
      </p:sp>
      <p:sp>
        <p:nvSpPr>
          <p:cNvPr id="31" name="Text 29"/>
          <p:cNvSpPr/>
          <p:nvPr/>
        </p:nvSpPr>
        <p:spPr>
          <a:xfrm>
            <a:off x="438912" y="4636008"/>
            <a:ext cx="3383280" cy="329184"/>
          </a:xfrm>
          <a:prstGeom prst="rect">
            <a:avLst/>
          </a:prstGeom>
          <a:noFill/>
          <a:ln/>
        </p:spPr>
        <p:txBody>
          <a:bodyPr wrap="square" rtlCol="0" anchor="ctr"/>
          <a:lstStyle/>
          <a:p>
            <a:pPr indent="0" marL="0">
              <a:buNone/>
            </a:pPr>
            <a:r>
              <a:rPr lang="en-US" sz="900" b="1" dirty="0">
                <a:solidFill>
                  <a:srgbClr val="FFFFFF"/>
                </a:solidFill>
              </a:rPr>
              <a:t>R4  Liste des candidats par phase</a:t>
            </a:r>
            <a:endParaRPr lang="en-US" sz="900" dirty="0"/>
          </a:p>
        </p:txBody>
      </p:sp>
      <p:sp>
        <p:nvSpPr>
          <p:cNvPr id="32" name="Shape 30"/>
          <p:cNvSpPr/>
          <p:nvPr/>
        </p:nvSpPr>
        <p:spPr>
          <a:xfrm>
            <a:off x="365760" y="4965192"/>
            <a:ext cx="3566160" cy="1143000"/>
          </a:xfrm>
          <a:prstGeom prst="rect">
            <a:avLst/>
          </a:prstGeom>
          <a:solidFill>
            <a:srgbClr val="F1F5F9"/>
          </a:solidFill>
          <a:ln w="12700">
            <a:solidFill>
              <a:srgbClr val="E2E8F0"/>
            </a:solidFill>
            <a:prstDash val="solid"/>
          </a:ln>
        </p:spPr>
      </p:sp>
      <p:sp>
        <p:nvSpPr>
          <p:cNvPr id="33" name="Text 31"/>
          <p:cNvSpPr/>
          <p:nvPr/>
        </p:nvSpPr>
        <p:spPr>
          <a:xfrm>
            <a:off x="457200" y="5056632"/>
            <a:ext cx="3383280" cy="960120"/>
          </a:xfrm>
          <a:prstGeom prst="rect">
            <a:avLst/>
          </a:prstGeom>
          <a:noFill/>
          <a:ln/>
        </p:spPr>
        <p:txBody>
          <a:bodyPr wrap="square" rtlCol="0" anchor="ctr"/>
          <a:lstStyle/>
          <a:p>
            <a:pPr indent="0" marL="0">
              <a:lnSpc>
                <a:spcPct val="130000"/>
              </a:lnSpc>
              <a:buNone/>
            </a:pPr>
            <a:r>
              <a:rPr lang="en-US" sz="900" dirty="0">
                <a:solidFill>
                  <a:srgbClr val="0A2540"/>
                </a:solidFill>
              </a:rPr>
              <a:t>Extraction des candidats pour une offre et une étape précise du pipeline de sélection.</a:t>
            </a:r>
            <a:endParaRPr lang="en-US" sz="900" dirty="0"/>
          </a:p>
        </p:txBody>
      </p:sp>
      <p:sp>
        <p:nvSpPr>
          <p:cNvPr id="34" name="Shape 32"/>
          <p:cNvSpPr/>
          <p:nvPr/>
        </p:nvSpPr>
        <p:spPr>
          <a:xfrm>
            <a:off x="4251960" y="4636008"/>
            <a:ext cx="3566160" cy="329184"/>
          </a:xfrm>
          <a:prstGeom prst="rect">
            <a:avLst/>
          </a:prstGeom>
          <a:solidFill>
            <a:srgbClr val="1B6CA8"/>
          </a:solidFill>
          <a:ln w="12700">
            <a:solidFill>
              <a:srgbClr val="1B6CA8"/>
            </a:solidFill>
            <a:prstDash val="solid"/>
          </a:ln>
        </p:spPr>
      </p:sp>
      <p:sp>
        <p:nvSpPr>
          <p:cNvPr id="35" name="Text 33"/>
          <p:cNvSpPr/>
          <p:nvPr/>
        </p:nvSpPr>
        <p:spPr>
          <a:xfrm>
            <a:off x="4325112" y="4636008"/>
            <a:ext cx="3383280" cy="329184"/>
          </a:xfrm>
          <a:prstGeom prst="rect">
            <a:avLst/>
          </a:prstGeom>
          <a:noFill/>
          <a:ln/>
        </p:spPr>
        <p:txBody>
          <a:bodyPr wrap="square" rtlCol="0" anchor="ctr"/>
          <a:lstStyle/>
          <a:p>
            <a:pPr indent="0" marL="0">
              <a:buNone/>
            </a:pPr>
            <a:r>
              <a:rPr lang="en-US" sz="900" b="1" dirty="0">
                <a:solidFill>
                  <a:srgbClr val="FFFFFF"/>
                </a:solidFill>
              </a:rPr>
              <a:t>R5  Fiche de synthèse recrue</a:t>
            </a:r>
            <a:endParaRPr lang="en-US" sz="900" dirty="0"/>
          </a:p>
        </p:txBody>
      </p:sp>
      <p:sp>
        <p:nvSpPr>
          <p:cNvPr id="36" name="Shape 34"/>
          <p:cNvSpPr/>
          <p:nvPr/>
        </p:nvSpPr>
        <p:spPr>
          <a:xfrm>
            <a:off x="4251960" y="4965192"/>
            <a:ext cx="3566160" cy="1143000"/>
          </a:xfrm>
          <a:prstGeom prst="rect">
            <a:avLst/>
          </a:prstGeom>
          <a:solidFill>
            <a:srgbClr val="F1F5F9"/>
          </a:solidFill>
          <a:ln w="12700">
            <a:solidFill>
              <a:srgbClr val="E2E8F0"/>
            </a:solidFill>
            <a:prstDash val="solid"/>
          </a:ln>
        </p:spPr>
      </p:sp>
      <p:sp>
        <p:nvSpPr>
          <p:cNvPr id="37" name="Text 35"/>
          <p:cNvSpPr/>
          <p:nvPr/>
        </p:nvSpPr>
        <p:spPr>
          <a:xfrm>
            <a:off x="4343400" y="5056632"/>
            <a:ext cx="3383280" cy="960120"/>
          </a:xfrm>
          <a:prstGeom prst="rect">
            <a:avLst/>
          </a:prstGeom>
          <a:noFill/>
          <a:ln/>
        </p:spPr>
        <p:txBody>
          <a:bodyPr wrap="square" rtlCol="0" anchor="ctr"/>
          <a:lstStyle/>
          <a:p>
            <a:pPr indent="0" marL="0">
              <a:lnSpc>
                <a:spcPct val="130000"/>
              </a:lnSpc>
              <a:buNone/>
            </a:pPr>
            <a:r>
              <a:rPr lang="en-US" sz="900" dirty="0">
                <a:solidFill>
                  <a:srgbClr val="0A2540"/>
                </a:solidFill>
              </a:rPr>
              <a:t>Document complet du candidat retenu : profil, scores, évaluations jury et décisions.</a:t>
            </a:r>
            <a:endParaRPr lang="en-US" sz="900" dirty="0"/>
          </a:p>
        </p:txBody>
      </p:sp>
      <p:sp>
        <p:nvSpPr>
          <p:cNvPr id="38" name="Shape 36"/>
          <p:cNvSpPr/>
          <p:nvPr/>
        </p:nvSpPr>
        <p:spPr>
          <a:xfrm>
            <a:off x="8138160" y="4636008"/>
            <a:ext cx="3566160" cy="329184"/>
          </a:xfrm>
          <a:prstGeom prst="rect">
            <a:avLst/>
          </a:prstGeom>
          <a:solidFill>
            <a:srgbClr val="1B6CA8"/>
          </a:solidFill>
          <a:ln w="12700">
            <a:solidFill>
              <a:srgbClr val="1B6CA8"/>
            </a:solidFill>
            <a:prstDash val="solid"/>
          </a:ln>
        </p:spPr>
      </p:sp>
      <p:sp>
        <p:nvSpPr>
          <p:cNvPr id="39" name="Text 37"/>
          <p:cNvSpPr/>
          <p:nvPr/>
        </p:nvSpPr>
        <p:spPr>
          <a:xfrm>
            <a:off x="8211312" y="4636008"/>
            <a:ext cx="3383280" cy="329184"/>
          </a:xfrm>
          <a:prstGeom prst="rect">
            <a:avLst/>
          </a:prstGeom>
          <a:noFill/>
          <a:ln/>
        </p:spPr>
        <p:txBody>
          <a:bodyPr wrap="square" rtlCol="0" anchor="ctr"/>
          <a:lstStyle/>
          <a:p>
            <a:pPr indent="0" marL="0">
              <a:buNone/>
            </a:pPr>
            <a:r>
              <a:rPr lang="en-US" sz="900" b="1" dirty="0">
                <a:solidFill>
                  <a:srgbClr val="FFFFFF"/>
                </a:solidFill>
              </a:rPr>
              <a:t>R6  Lettre d'engagement</a:t>
            </a:r>
            <a:endParaRPr lang="en-US" sz="900" dirty="0"/>
          </a:p>
        </p:txBody>
      </p:sp>
      <p:sp>
        <p:nvSpPr>
          <p:cNvPr id="40" name="Shape 38"/>
          <p:cNvSpPr/>
          <p:nvPr/>
        </p:nvSpPr>
        <p:spPr>
          <a:xfrm>
            <a:off x="8138160" y="4965192"/>
            <a:ext cx="3566160" cy="1143000"/>
          </a:xfrm>
          <a:prstGeom prst="rect">
            <a:avLst/>
          </a:prstGeom>
          <a:solidFill>
            <a:srgbClr val="F1F5F9"/>
          </a:solidFill>
          <a:ln w="12700">
            <a:solidFill>
              <a:srgbClr val="E2E8F0"/>
            </a:solidFill>
            <a:prstDash val="solid"/>
          </a:ln>
        </p:spPr>
      </p:sp>
      <p:sp>
        <p:nvSpPr>
          <p:cNvPr id="41" name="Text 39"/>
          <p:cNvSpPr/>
          <p:nvPr/>
        </p:nvSpPr>
        <p:spPr>
          <a:xfrm>
            <a:off x="8229600" y="5056632"/>
            <a:ext cx="3383280" cy="960120"/>
          </a:xfrm>
          <a:prstGeom prst="rect">
            <a:avLst/>
          </a:prstGeom>
          <a:noFill/>
          <a:ln/>
        </p:spPr>
        <p:txBody>
          <a:bodyPr wrap="square" rtlCol="0" anchor="ctr"/>
          <a:lstStyle/>
          <a:p>
            <a:pPr indent="0" marL="0">
              <a:lnSpc>
                <a:spcPct val="130000"/>
              </a:lnSpc>
              <a:buNone/>
            </a:pPr>
            <a:r>
              <a:rPr lang="en-US" sz="900" dirty="0">
                <a:solidFill>
                  <a:srgbClr val="0A2540"/>
                </a:solidFill>
              </a:rPr>
              <a:t>Génération automatique de la lettre d'engagement personnalisée avec les données du candidat.</a:t>
            </a:r>
            <a:endParaRPr lang="en-US" sz="900" dirty="0"/>
          </a:p>
        </p:txBody>
      </p:sp>
      <p:sp>
        <p:nvSpPr>
          <p:cNvPr id="42" name="Text 40"/>
          <p:cNvSpPr/>
          <p:nvPr/>
        </p:nvSpPr>
        <p:spPr>
          <a:xfrm>
            <a:off x="365760" y="6583680"/>
            <a:ext cx="11430000" cy="274320"/>
          </a:xfrm>
          <a:prstGeom prst="rect">
            <a:avLst/>
          </a:prstGeom>
          <a:noFill/>
          <a:ln/>
        </p:spPr>
        <p:txBody>
          <a:bodyPr wrap="square" rtlCol="0" anchor="ctr"/>
          <a:lstStyle/>
          <a:p>
            <a:pPr algn="ctr" indent="0" marL="0">
              <a:buNone/>
            </a:pPr>
            <a:r>
              <a:rPr lang="en-US" sz="800" dirty="0">
                <a:solidFill>
                  <a:srgbClr val="64748B"/>
                </a:solidFill>
              </a:rPr>
              <a:t>SNH – Présentation Directoire  |  Confidentiel  |  9 / 12</a:t>
            </a:r>
            <a:endParaRPr lang="en-US" sz="800" dirty="0"/>
          </a:p>
        </p:txBody>
      </p:sp>
      <p:sp>
        <p:nvSpPr>
          <p:cNvPr id="43" name="Shape 41"/>
          <p:cNvSpPr/>
          <p:nvPr/>
        </p:nvSpPr>
        <p:spPr>
          <a:xfrm>
            <a:off x="0" y="6492240"/>
            <a:ext cx="12188952" cy="27432"/>
          </a:xfrm>
          <a:prstGeom prst="rect">
            <a:avLst/>
          </a:prstGeom>
          <a:solidFill>
            <a:srgbClr val="1B6CA8"/>
          </a:solidFill>
          <a:ln w="12700">
            <a:solidFill>
              <a:srgbClr val="1B6CA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1247120" cy="73152"/>
          </a:xfrm>
          <a:prstGeom prst="rect">
            <a:avLst/>
          </a:prstGeom>
          <a:solidFill>
            <a:srgbClr val="1B6CA8"/>
          </a:solidFill>
          <a:ln w="12700">
            <a:solidFill>
              <a:srgbClr val="1B6CA8"/>
            </a:solidFill>
            <a:prstDash val="solid"/>
          </a:ln>
        </p:spPr>
      </p:sp>
      <p:sp>
        <p:nvSpPr>
          <p:cNvPr id="3" name="Text 1"/>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08 – SÉCURITÉ &amp; CONFORMITÉ</a:t>
            </a:r>
            <a:endParaRPr lang="en-US" sz="1000" dirty="0"/>
          </a:p>
        </p:txBody>
      </p:sp>
      <p:sp>
        <p:nvSpPr>
          <p:cNvPr id="4" name="Text 2"/>
          <p:cNvSpPr/>
          <p:nvPr/>
        </p:nvSpPr>
        <p:spPr>
          <a:xfrm>
            <a:off x="457200" y="685800"/>
            <a:ext cx="10972800" cy="502920"/>
          </a:xfrm>
          <a:prstGeom prst="rect">
            <a:avLst/>
          </a:prstGeom>
          <a:noFill/>
          <a:ln/>
        </p:spPr>
        <p:txBody>
          <a:bodyPr wrap="square" rtlCol="0" anchor="ctr"/>
          <a:lstStyle/>
          <a:p>
            <a:pPr indent="0" marL="0">
              <a:buNone/>
            </a:pPr>
            <a:r>
              <a:rPr lang="en-US" sz="2200" b="1" dirty="0">
                <a:solidFill>
                  <a:srgbClr val="0A2540"/>
                </a:solidFill>
              </a:rPr>
              <a:t>Traçabilité Complète et Contrôle d'Accès Granulaire</a:t>
            </a:r>
            <a:endParaRPr lang="en-US" sz="2200" dirty="0"/>
          </a:p>
        </p:txBody>
      </p:sp>
      <p:sp>
        <p:nvSpPr>
          <p:cNvPr id="5" name="Shape 3"/>
          <p:cNvSpPr/>
          <p:nvPr/>
        </p:nvSpPr>
        <p:spPr>
          <a:xfrm>
            <a:off x="365760" y="1417320"/>
            <a:ext cx="5486400" cy="411480"/>
          </a:xfrm>
          <a:prstGeom prst="rect">
            <a:avLst/>
          </a:prstGeom>
          <a:solidFill>
            <a:srgbClr val="1B6CA8"/>
          </a:solidFill>
          <a:ln w="12700">
            <a:solidFill>
              <a:srgbClr val="1B6CA8"/>
            </a:solidFill>
            <a:prstDash val="solid"/>
          </a:ln>
        </p:spPr>
      </p:sp>
      <p:sp>
        <p:nvSpPr>
          <p:cNvPr id="6" name="Text 4"/>
          <p:cNvSpPr/>
          <p:nvPr/>
        </p:nvSpPr>
        <p:spPr>
          <a:xfrm>
            <a:off x="475488" y="1417320"/>
            <a:ext cx="5303520" cy="411480"/>
          </a:xfrm>
          <a:prstGeom prst="rect">
            <a:avLst/>
          </a:prstGeom>
          <a:noFill/>
          <a:ln/>
        </p:spPr>
        <p:txBody>
          <a:bodyPr wrap="square" rtlCol="0" anchor="ctr"/>
          <a:lstStyle/>
          <a:p>
            <a:pPr indent="0" marL="0">
              <a:buNone/>
            </a:pPr>
            <a:r>
              <a:rPr lang="en-US" sz="1100" b="1" dirty="0">
                <a:solidFill>
                  <a:srgbClr val="FFFFFF"/>
                </a:solidFill>
              </a:rPr>
              <a:t>Authentification Sécurisée</a:t>
            </a:r>
            <a:endParaRPr lang="en-US" sz="1100" dirty="0"/>
          </a:p>
        </p:txBody>
      </p:sp>
      <p:sp>
        <p:nvSpPr>
          <p:cNvPr id="7" name="Shape 5"/>
          <p:cNvSpPr/>
          <p:nvPr/>
        </p:nvSpPr>
        <p:spPr>
          <a:xfrm>
            <a:off x="365760" y="1828800"/>
            <a:ext cx="5486400" cy="1874520"/>
          </a:xfrm>
          <a:prstGeom prst="rect">
            <a:avLst/>
          </a:prstGeom>
          <a:solidFill>
            <a:srgbClr val="F1F5F9"/>
          </a:solidFill>
          <a:ln w="12700">
            <a:solidFill>
              <a:srgbClr val="E2E8F0"/>
            </a:solidFill>
            <a:prstDash val="solid"/>
          </a:ln>
        </p:spPr>
      </p:sp>
      <p:sp>
        <p:nvSpPr>
          <p:cNvPr id="8" name="Text 6"/>
          <p:cNvSpPr/>
          <p:nvPr/>
        </p:nvSpPr>
        <p:spPr>
          <a:xfrm>
            <a:off x="548640" y="1929384"/>
            <a:ext cx="5120640" cy="347472"/>
          </a:xfrm>
          <a:prstGeom prst="rect">
            <a:avLst/>
          </a:prstGeom>
          <a:noFill/>
          <a:ln/>
        </p:spPr>
        <p:txBody>
          <a:bodyPr wrap="square" rtlCol="0" anchor="ctr"/>
          <a:lstStyle/>
          <a:p>
            <a:pPr indent="0" marL="0">
              <a:buNone/>
            </a:pPr>
            <a:r>
              <a:rPr lang="en-US" sz="950" dirty="0">
                <a:solidFill>
                  <a:srgbClr val="0A2540"/>
                </a:solidFill>
              </a:rPr>
              <a:t>•  JWT (JSON Web Tokens) avec expiration</a:t>
            </a:r>
            <a:endParaRPr lang="en-US" sz="950" dirty="0"/>
          </a:p>
        </p:txBody>
      </p:sp>
      <p:sp>
        <p:nvSpPr>
          <p:cNvPr id="9" name="Text 7"/>
          <p:cNvSpPr/>
          <p:nvPr/>
        </p:nvSpPr>
        <p:spPr>
          <a:xfrm>
            <a:off x="548640" y="2350008"/>
            <a:ext cx="5120640" cy="347472"/>
          </a:xfrm>
          <a:prstGeom prst="rect">
            <a:avLst/>
          </a:prstGeom>
          <a:noFill/>
          <a:ln/>
        </p:spPr>
        <p:txBody>
          <a:bodyPr wrap="square" rtlCol="0" anchor="ctr"/>
          <a:lstStyle/>
          <a:p>
            <a:pPr indent="0" marL="0">
              <a:buNone/>
            </a:pPr>
            <a:r>
              <a:rPr lang="en-US" sz="950" dirty="0">
                <a:solidFill>
                  <a:srgbClr val="0A2540"/>
                </a:solidFill>
              </a:rPr>
              <a:t>•  Sessions Supabase Auth</a:t>
            </a:r>
            <a:endParaRPr lang="en-US" sz="950" dirty="0"/>
          </a:p>
        </p:txBody>
      </p:sp>
      <p:sp>
        <p:nvSpPr>
          <p:cNvPr id="10" name="Text 8"/>
          <p:cNvSpPr/>
          <p:nvPr/>
        </p:nvSpPr>
        <p:spPr>
          <a:xfrm>
            <a:off x="548640" y="2770632"/>
            <a:ext cx="5120640" cy="347472"/>
          </a:xfrm>
          <a:prstGeom prst="rect">
            <a:avLst/>
          </a:prstGeom>
          <a:noFill/>
          <a:ln/>
        </p:spPr>
        <p:txBody>
          <a:bodyPr wrap="square" rtlCol="0" anchor="ctr"/>
          <a:lstStyle/>
          <a:p>
            <a:pPr indent="0" marL="0">
              <a:buNone/>
            </a:pPr>
            <a:r>
              <a:rPr lang="en-US" sz="950" dirty="0">
                <a:solidFill>
                  <a:srgbClr val="0A2540"/>
                </a:solidFill>
              </a:rPr>
              <a:t>•  Changement de mot de passe obligatoire à la 1ère connexion</a:t>
            </a:r>
            <a:endParaRPr lang="en-US" sz="950" dirty="0"/>
          </a:p>
        </p:txBody>
      </p:sp>
      <p:sp>
        <p:nvSpPr>
          <p:cNvPr id="11" name="Text 9"/>
          <p:cNvSpPr/>
          <p:nvPr/>
        </p:nvSpPr>
        <p:spPr>
          <a:xfrm>
            <a:off x="548640" y="3191256"/>
            <a:ext cx="5120640" cy="347472"/>
          </a:xfrm>
          <a:prstGeom prst="rect">
            <a:avLst/>
          </a:prstGeom>
          <a:noFill/>
          <a:ln/>
        </p:spPr>
        <p:txBody>
          <a:bodyPr wrap="square" rtlCol="0" anchor="ctr"/>
          <a:lstStyle/>
          <a:p>
            <a:pPr indent="0" marL="0">
              <a:buNone/>
            </a:pPr>
            <a:r>
              <a:rPr lang="en-US" sz="950" dirty="0">
                <a:solidFill>
                  <a:srgbClr val="0A2540"/>
                </a:solidFill>
              </a:rPr>
              <a:t>•  Déconnexion automatique en cas d'inactivité</a:t>
            </a:r>
            <a:endParaRPr lang="en-US" sz="950" dirty="0"/>
          </a:p>
        </p:txBody>
      </p:sp>
      <p:sp>
        <p:nvSpPr>
          <p:cNvPr id="12" name="Shape 10"/>
          <p:cNvSpPr/>
          <p:nvPr/>
        </p:nvSpPr>
        <p:spPr>
          <a:xfrm>
            <a:off x="6263640" y="1417320"/>
            <a:ext cx="5486400" cy="411480"/>
          </a:xfrm>
          <a:prstGeom prst="rect">
            <a:avLst/>
          </a:prstGeom>
          <a:solidFill>
            <a:srgbClr val="16A34A"/>
          </a:solidFill>
          <a:ln w="12700">
            <a:solidFill>
              <a:srgbClr val="16A34A"/>
            </a:solidFill>
            <a:prstDash val="solid"/>
          </a:ln>
        </p:spPr>
      </p:sp>
      <p:sp>
        <p:nvSpPr>
          <p:cNvPr id="13" name="Text 11"/>
          <p:cNvSpPr/>
          <p:nvPr/>
        </p:nvSpPr>
        <p:spPr>
          <a:xfrm>
            <a:off x="6373368" y="1417320"/>
            <a:ext cx="5303520" cy="411480"/>
          </a:xfrm>
          <a:prstGeom prst="rect">
            <a:avLst/>
          </a:prstGeom>
          <a:noFill/>
          <a:ln/>
        </p:spPr>
        <p:txBody>
          <a:bodyPr wrap="square" rtlCol="0" anchor="ctr"/>
          <a:lstStyle/>
          <a:p>
            <a:pPr indent="0" marL="0">
              <a:buNone/>
            </a:pPr>
            <a:r>
              <a:rPr lang="en-US" sz="1100" b="1" dirty="0">
                <a:solidFill>
                  <a:srgbClr val="FFFFFF"/>
                </a:solidFill>
              </a:rPr>
              <a:t>Row Level Security (RLS)</a:t>
            </a:r>
            <a:endParaRPr lang="en-US" sz="1100" dirty="0"/>
          </a:p>
        </p:txBody>
      </p:sp>
      <p:sp>
        <p:nvSpPr>
          <p:cNvPr id="14" name="Shape 12"/>
          <p:cNvSpPr/>
          <p:nvPr/>
        </p:nvSpPr>
        <p:spPr>
          <a:xfrm>
            <a:off x="6263640" y="1828800"/>
            <a:ext cx="5486400" cy="1874520"/>
          </a:xfrm>
          <a:prstGeom prst="rect">
            <a:avLst/>
          </a:prstGeom>
          <a:solidFill>
            <a:srgbClr val="F1F5F9"/>
          </a:solidFill>
          <a:ln w="12700">
            <a:solidFill>
              <a:srgbClr val="E2E8F0"/>
            </a:solidFill>
            <a:prstDash val="solid"/>
          </a:ln>
        </p:spPr>
      </p:sp>
      <p:sp>
        <p:nvSpPr>
          <p:cNvPr id="15" name="Text 13"/>
          <p:cNvSpPr/>
          <p:nvPr/>
        </p:nvSpPr>
        <p:spPr>
          <a:xfrm>
            <a:off x="6446520" y="1929384"/>
            <a:ext cx="5120640" cy="347472"/>
          </a:xfrm>
          <a:prstGeom prst="rect">
            <a:avLst/>
          </a:prstGeom>
          <a:noFill/>
          <a:ln/>
        </p:spPr>
        <p:txBody>
          <a:bodyPr wrap="square" rtlCol="0" anchor="ctr"/>
          <a:lstStyle/>
          <a:p>
            <a:pPr indent="0" marL="0">
              <a:buNone/>
            </a:pPr>
            <a:r>
              <a:rPr lang="en-US" sz="950" dirty="0">
                <a:solidFill>
                  <a:srgbClr val="0A2540"/>
                </a:solidFill>
              </a:rPr>
              <a:t>•  Chaque rôle ne voit que ses données autorisées</a:t>
            </a:r>
            <a:endParaRPr lang="en-US" sz="950" dirty="0"/>
          </a:p>
        </p:txBody>
      </p:sp>
      <p:sp>
        <p:nvSpPr>
          <p:cNvPr id="16" name="Text 14"/>
          <p:cNvSpPr/>
          <p:nvPr/>
        </p:nvSpPr>
        <p:spPr>
          <a:xfrm>
            <a:off x="6446520" y="2350008"/>
            <a:ext cx="5120640" cy="347472"/>
          </a:xfrm>
          <a:prstGeom prst="rect">
            <a:avLst/>
          </a:prstGeom>
          <a:noFill/>
          <a:ln/>
        </p:spPr>
        <p:txBody>
          <a:bodyPr wrap="square" rtlCol="0" anchor="ctr"/>
          <a:lstStyle/>
          <a:p>
            <a:pPr indent="0" marL="0">
              <a:buNone/>
            </a:pPr>
            <a:r>
              <a:rPr lang="en-US" sz="950" dirty="0">
                <a:solidFill>
                  <a:srgbClr val="0A2540"/>
                </a:solidFill>
              </a:rPr>
              <a:t>•  4 politiques CRUD distinctes par table</a:t>
            </a:r>
            <a:endParaRPr lang="en-US" sz="950" dirty="0"/>
          </a:p>
        </p:txBody>
      </p:sp>
      <p:sp>
        <p:nvSpPr>
          <p:cNvPr id="17" name="Text 15"/>
          <p:cNvSpPr/>
          <p:nvPr/>
        </p:nvSpPr>
        <p:spPr>
          <a:xfrm>
            <a:off x="6446520" y="2770632"/>
            <a:ext cx="5120640" cy="347472"/>
          </a:xfrm>
          <a:prstGeom prst="rect">
            <a:avLst/>
          </a:prstGeom>
          <a:noFill/>
          <a:ln/>
        </p:spPr>
        <p:txBody>
          <a:bodyPr wrap="square" rtlCol="0" anchor="ctr"/>
          <a:lstStyle/>
          <a:p>
            <a:pPr indent="0" marL="0">
              <a:buNone/>
            </a:pPr>
            <a:r>
              <a:rPr lang="en-US" sz="950" dirty="0">
                <a:solidFill>
                  <a:srgbClr val="0A2540"/>
                </a:solidFill>
              </a:rPr>
              <a:t>•  Isolation des données entre entités</a:t>
            </a:r>
            <a:endParaRPr lang="en-US" sz="950" dirty="0"/>
          </a:p>
        </p:txBody>
      </p:sp>
      <p:sp>
        <p:nvSpPr>
          <p:cNvPr id="18" name="Text 16"/>
          <p:cNvSpPr/>
          <p:nvPr/>
        </p:nvSpPr>
        <p:spPr>
          <a:xfrm>
            <a:off x="6446520" y="3191256"/>
            <a:ext cx="5120640" cy="347472"/>
          </a:xfrm>
          <a:prstGeom prst="rect">
            <a:avLst/>
          </a:prstGeom>
          <a:noFill/>
          <a:ln/>
        </p:spPr>
        <p:txBody>
          <a:bodyPr wrap="square" rtlCol="0" anchor="ctr"/>
          <a:lstStyle/>
          <a:p>
            <a:pPr indent="0" marL="0">
              <a:buNone/>
            </a:pPr>
            <a:r>
              <a:rPr lang="en-US" sz="950" dirty="0">
                <a:solidFill>
                  <a:srgbClr val="0A2540"/>
                </a:solidFill>
              </a:rPr>
              <a:t>•  Candidats : accès à leurs seuls dossiers</a:t>
            </a:r>
            <a:endParaRPr lang="en-US" sz="950" dirty="0"/>
          </a:p>
        </p:txBody>
      </p:sp>
      <p:sp>
        <p:nvSpPr>
          <p:cNvPr id="19" name="Shape 17"/>
          <p:cNvSpPr/>
          <p:nvPr/>
        </p:nvSpPr>
        <p:spPr>
          <a:xfrm>
            <a:off x="365760" y="3794760"/>
            <a:ext cx="5486400" cy="411480"/>
          </a:xfrm>
          <a:prstGeom prst="rect">
            <a:avLst/>
          </a:prstGeom>
          <a:solidFill>
            <a:srgbClr val="D97706"/>
          </a:solidFill>
          <a:ln w="12700">
            <a:solidFill>
              <a:srgbClr val="D97706"/>
            </a:solidFill>
            <a:prstDash val="solid"/>
          </a:ln>
        </p:spPr>
      </p:sp>
      <p:sp>
        <p:nvSpPr>
          <p:cNvPr id="20" name="Text 18"/>
          <p:cNvSpPr/>
          <p:nvPr/>
        </p:nvSpPr>
        <p:spPr>
          <a:xfrm>
            <a:off x="475488" y="3794760"/>
            <a:ext cx="5303520" cy="411480"/>
          </a:xfrm>
          <a:prstGeom prst="rect">
            <a:avLst/>
          </a:prstGeom>
          <a:noFill/>
          <a:ln/>
        </p:spPr>
        <p:txBody>
          <a:bodyPr wrap="square" rtlCol="0" anchor="ctr"/>
          <a:lstStyle/>
          <a:p>
            <a:pPr indent="0" marL="0">
              <a:buNone/>
            </a:pPr>
            <a:r>
              <a:rPr lang="en-US" sz="1100" b="1" dirty="0">
                <a:solidFill>
                  <a:srgbClr val="FFFFFF"/>
                </a:solidFill>
              </a:rPr>
              <a:t>Audit Log &amp; Traçabilité</a:t>
            </a:r>
            <a:endParaRPr lang="en-US" sz="1100" dirty="0"/>
          </a:p>
        </p:txBody>
      </p:sp>
      <p:sp>
        <p:nvSpPr>
          <p:cNvPr id="21" name="Shape 19"/>
          <p:cNvSpPr/>
          <p:nvPr/>
        </p:nvSpPr>
        <p:spPr>
          <a:xfrm>
            <a:off x="365760" y="4206240"/>
            <a:ext cx="5486400" cy="1874520"/>
          </a:xfrm>
          <a:prstGeom prst="rect">
            <a:avLst/>
          </a:prstGeom>
          <a:solidFill>
            <a:srgbClr val="F1F5F9"/>
          </a:solidFill>
          <a:ln w="12700">
            <a:solidFill>
              <a:srgbClr val="E2E8F0"/>
            </a:solidFill>
            <a:prstDash val="solid"/>
          </a:ln>
        </p:spPr>
      </p:sp>
      <p:sp>
        <p:nvSpPr>
          <p:cNvPr id="22" name="Text 20"/>
          <p:cNvSpPr/>
          <p:nvPr/>
        </p:nvSpPr>
        <p:spPr>
          <a:xfrm>
            <a:off x="548640" y="4306824"/>
            <a:ext cx="5120640" cy="347472"/>
          </a:xfrm>
          <a:prstGeom prst="rect">
            <a:avLst/>
          </a:prstGeom>
          <a:noFill/>
          <a:ln/>
        </p:spPr>
        <p:txBody>
          <a:bodyPr wrap="square" rtlCol="0" anchor="ctr"/>
          <a:lstStyle/>
          <a:p>
            <a:pPr indent="0" marL="0">
              <a:buNone/>
            </a:pPr>
            <a:r>
              <a:rPr lang="en-US" sz="950" dirty="0">
                <a:solidFill>
                  <a:srgbClr val="0A2540"/>
                </a:solidFill>
              </a:rPr>
              <a:t>•  Horodatage de chaque action (création, modification, suppression)</a:t>
            </a:r>
            <a:endParaRPr lang="en-US" sz="950" dirty="0"/>
          </a:p>
        </p:txBody>
      </p:sp>
      <p:sp>
        <p:nvSpPr>
          <p:cNvPr id="23" name="Text 21"/>
          <p:cNvSpPr/>
          <p:nvPr/>
        </p:nvSpPr>
        <p:spPr>
          <a:xfrm>
            <a:off x="548640" y="4727448"/>
            <a:ext cx="5120640" cy="347472"/>
          </a:xfrm>
          <a:prstGeom prst="rect">
            <a:avLst/>
          </a:prstGeom>
          <a:noFill/>
          <a:ln/>
        </p:spPr>
        <p:txBody>
          <a:bodyPr wrap="square" rtlCol="0" anchor="ctr"/>
          <a:lstStyle/>
          <a:p>
            <a:pPr indent="0" marL="0">
              <a:buNone/>
            </a:pPr>
            <a:r>
              <a:rPr lang="en-US" sz="950" dirty="0">
                <a:solidFill>
                  <a:srgbClr val="0A2540"/>
                </a:solidFill>
              </a:rPr>
              <a:t>•  Journalisation des connexions et tentatives échouées</a:t>
            </a:r>
            <a:endParaRPr lang="en-US" sz="950" dirty="0"/>
          </a:p>
        </p:txBody>
      </p:sp>
      <p:sp>
        <p:nvSpPr>
          <p:cNvPr id="24" name="Text 22"/>
          <p:cNvSpPr/>
          <p:nvPr/>
        </p:nvSpPr>
        <p:spPr>
          <a:xfrm>
            <a:off x="548640" y="5148072"/>
            <a:ext cx="5120640" cy="347472"/>
          </a:xfrm>
          <a:prstGeom prst="rect">
            <a:avLst/>
          </a:prstGeom>
          <a:noFill/>
          <a:ln/>
        </p:spPr>
        <p:txBody>
          <a:bodyPr wrap="square" rtlCol="0" anchor="ctr"/>
          <a:lstStyle/>
          <a:p>
            <a:pPr indent="0" marL="0">
              <a:buNone/>
            </a:pPr>
            <a:r>
              <a:rPr lang="en-US" sz="950" dirty="0">
                <a:solidFill>
                  <a:srgbClr val="0A2540"/>
                </a:solidFill>
              </a:rPr>
              <a:t>•  Adresse IP locale enregistrée</a:t>
            </a:r>
            <a:endParaRPr lang="en-US" sz="950" dirty="0"/>
          </a:p>
        </p:txBody>
      </p:sp>
      <p:sp>
        <p:nvSpPr>
          <p:cNvPr id="25" name="Text 23"/>
          <p:cNvSpPr/>
          <p:nvPr/>
        </p:nvSpPr>
        <p:spPr>
          <a:xfrm>
            <a:off x="548640" y="5568696"/>
            <a:ext cx="5120640" cy="347472"/>
          </a:xfrm>
          <a:prstGeom prst="rect">
            <a:avLst/>
          </a:prstGeom>
          <a:noFill/>
          <a:ln/>
        </p:spPr>
        <p:txBody>
          <a:bodyPr wrap="square" rtlCol="0" anchor="ctr"/>
          <a:lstStyle/>
          <a:p>
            <a:pPr indent="0" marL="0">
              <a:buNone/>
            </a:pPr>
            <a:r>
              <a:rPr lang="en-US" sz="950" dirty="0">
                <a:solidFill>
                  <a:srgbClr val="0A2540"/>
                </a:solidFill>
              </a:rPr>
              <a:t>•  Conservation des événements de sécurité</a:t>
            </a:r>
            <a:endParaRPr lang="en-US" sz="950" dirty="0"/>
          </a:p>
        </p:txBody>
      </p:sp>
      <p:sp>
        <p:nvSpPr>
          <p:cNvPr id="26" name="Shape 24"/>
          <p:cNvSpPr/>
          <p:nvPr/>
        </p:nvSpPr>
        <p:spPr>
          <a:xfrm>
            <a:off x="6263640" y="3794760"/>
            <a:ext cx="5486400" cy="411480"/>
          </a:xfrm>
          <a:prstGeom prst="rect">
            <a:avLst/>
          </a:prstGeom>
          <a:solidFill>
            <a:srgbClr val="7C3AED"/>
          </a:solidFill>
          <a:ln w="12700">
            <a:solidFill>
              <a:srgbClr val="7C3AED"/>
            </a:solidFill>
            <a:prstDash val="solid"/>
          </a:ln>
        </p:spPr>
      </p:sp>
      <p:sp>
        <p:nvSpPr>
          <p:cNvPr id="27" name="Text 25"/>
          <p:cNvSpPr/>
          <p:nvPr/>
        </p:nvSpPr>
        <p:spPr>
          <a:xfrm>
            <a:off x="6373368" y="3794760"/>
            <a:ext cx="5303520" cy="411480"/>
          </a:xfrm>
          <a:prstGeom prst="rect">
            <a:avLst/>
          </a:prstGeom>
          <a:noFill/>
          <a:ln/>
        </p:spPr>
        <p:txBody>
          <a:bodyPr wrap="square" rtlCol="0" anchor="ctr"/>
          <a:lstStyle/>
          <a:p>
            <a:pPr indent="0" marL="0">
              <a:buNone/>
            </a:pPr>
            <a:r>
              <a:rPr lang="en-US" sz="1100" b="1" dirty="0">
                <a:solidFill>
                  <a:srgbClr val="FFFFFF"/>
                </a:solidFill>
              </a:rPr>
              <a:t>Stockage Documents Sécurisé</a:t>
            </a:r>
            <a:endParaRPr lang="en-US" sz="1100" dirty="0"/>
          </a:p>
        </p:txBody>
      </p:sp>
      <p:sp>
        <p:nvSpPr>
          <p:cNvPr id="28" name="Shape 26"/>
          <p:cNvSpPr/>
          <p:nvPr/>
        </p:nvSpPr>
        <p:spPr>
          <a:xfrm>
            <a:off x="6263640" y="4206240"/>
            <a:ext cx="5486400" cy="1874520"/>
          </a:xfrm>
          <a:prstGeom prst="rect">
            <a:avLst/>
          </a:prstGeom>
          <a:solidFill>
            <a:srgbClr val="F1F5F9"/>
          </a:solidFill>
          <a:ln w="12700">
            <a:solidFill>
              <a:srgbClr val="E2E8F0"/>
            </a:solidFill>
            <a:prstDash val="solid"/>
          </a:ln>
        </p:spPr>
      </p:sp>
      <p:sp>
        <p:nvSpPr>
          <p:cNvPr id="29" name="Text 27"/>
          <p:cNvSpPr/>
          <p:nvPr/>
        </p:nvSpPr>
        <p:spPr>
          <a:xfrm>
            <a:off x="6446520" y="4306824"/>
            <a:ext cx="5120640" cy="347472"/>
          </a:xfrm>
          <a:prstGeom prst="rect">
            <a:avLst/>
          </a:prstGeom>
          <a:noFill/>
          <a:ln/>
        </p:spPr>
        <p:txBody>
          <a:bodyPr wrap="square" rtlCol="0" anchor="ctr"/>
          <a:lstStyle/>
          <a:p>
            <a:pPr indent="0" marL="0">
              <a:buNone/>
            </a:pPr>
            <a:r>
              <a:rPr lang="en-US" sz="950" dirty="0">
                <a:solidFill>
                  <a:srgbClr val="0A2540"/>
                </a:solidFill>
              </a:rPr>
              <a:t>•  Supabase Storage avec buckets dédiés</a:t>
            </a:r>
            <a:endParaRPr lang="en-US" sz="950" dirty="0"/>
          </a:p>
        </p:txBody>
      </p:sp>
      <p:sp>
        <p:nvSpPr>
          <p:cNvPr id="30" name="Text 28"/>
          <p:cNvSpPr/>
          <p:nvPr/>
        </p:nvSpPr>
        <p:spPr>
          <a:xfrm>
            <a:off x="6446520" y="4727448"/>
            <a:ext cx="5120640" cy="347472"/>
          </a:xfrm>
          <a:prstGeom prst="rect">
            <a:avLst/>
          </a:prstGeom>
          <a:noFill/>
          <a:ln/>
        </p:spPr>
        <p:txBody>
          <a:bodyPr wrap="square" rtlCol="0" anchor="ctr"/>
          <a:lstStyle/>
          <a:p>
            <a:pPr indent="0" marL="0">
              <a:buNone/>
            </a:pPr>
            <a:r>
              <a:rPr lang="en-US" sz="950" dirty="0">
                <a:solidFill>
                  <a:srgbClr val="0A2540"/>
                </a:solidFill>
              </a:rPr>
              <a:t>•  Signed URLs à durée limitée pour accès temporaire</a:t>
            </a:r>
            <a:endParaRPr lang="en-US" sz="950" dirty="0"/>
          </a:p>
        </p:txBody>
      </p:sp>
      <p:sp>
        <p:nvSpPr>
          <p:cNvPr id="31" name="Text 29"/>
          <p:cNvSpPr/>
          <p:nvPr/>
        </p:nvSpPr>
        <p:spPr>
          <a:xfrm>
            <a:off x="6446520" y="5148072"/>
            <a:ext cx="5120640" cy="347472"/>
          </a:xfrm>
          <a:prstGeom prst="rect">
            <a:avLst/>
          </a:prstGeom>
          <a:noFill/>
          <a:ln/>
        </p:spPr>
        <p:txBody>
          <a:bodyPr wrap="square" rtlCol="0" anchor="ctr"/>
          <a:lstStyle/>
          <a:p>
            <a:pPr indent="0" marL="0">
              <a:buNone/>
            </a:pPr>
            <a:r>
              <a:rPr lang="en-US" sz="950" dirty="0">
                <a:solidFill>
                  <a:srgbClr val="0A2540"/>
                </a:solidFill>
              </a:rPr>
              <a:t>•  Politique d'accès par ownership</a:t>
            </a:r>
            <a:endParaRPr lang="en-US" sz="950" dirty="0"/>
          </a:p>
        </p:txBody>
      </p:sp>
      <p:sp>
        <p:nvSpPr>
          <p:cNvPr id="32" name="Text 30"/>
          <p:cNvSpPr/>
          <p:nvPr/>
        </p:nvSpPr>
        <p:spPr>
          <a:xfrm>
            <a:off x="6446520" y="5568696"/>
            <a:ext cx="5120640" cy="347472"/>
          </a:xfrm>
          <a:prstGeom prst="rect">
            <a:avLst/>
          </a:prstGeom>
          <a:noFill/>
          <a:ln/>
        </p:spPr>
        <p:txBody>
          <a:bodyPr wrap="square" rtlCol="0" anchor="ctr"/>
          <a:lstStyle/>
          <a:p>
            <a:pPr indent="0" marL="0">
              <a:buNone/>
            </a:pPr>
            <a:r>
              <a:rPr lang="en-US" sz="950" dirty="0">
                <a:solidFill>
                  <a:srgbClr val="0A2540"/>
                </a:solidFill>
              </a:rPr>
              <a:t>•  Séparation des buckets candidats / employés</a:t>
            </a:r>
            <a:endParaRPr lang="en-US" sz="950" dirty="0"/>
          </a:p>
        </p:txBody>
      </p:sp>
      <p:sp>
        <p:nvSpPr>
          <p:cNvPr id="33" name="Text 31"/>
          <p:cNvSpPr/>
          <p:nvPr/>
        </p:nvSpPr>
        <p:spPr>
          <a:xfrm>
            <a:off x="365760" y="6583680"/>
            <a:ext cx="11430000" cy="274320"/>
          </a:xfrm>
          <a:prstGeom prst="rect">
            <a:avLst/>
          </a:prstGeom>
          <a:noFill/>
          <a:ln/>
        </p:spPr>
        <p:txBody>
          <a:bodyPr wrap="square" rtlCol="0" anchor="ctr"/>
          <a:lstStyle/>
          <a:p>
            <a:pPr algn="ctr" indent="0" marL="0">
              <a:buNone/>
            </a:pPr>
            <a:r>
              <a:rPr lang="en-US" sz="800" dirty="0">
                <a:solidFill>
                  <a:srgbClr val="64748B"/>
                </a:solidFill>
              </a:rPr>
              <a:t>SNH – Présentation Directoire  |  Confidentiel  |  10 / 12</a:t>
            </a:r>
            <a:endParaRPr lang="en-US" sz="800" dirty="0"/>
          </a:p>
        </p:txBody>
      </p:sp>
      <p:sp>
        <p:nvSpPr>
          <p:cNvPr id="34" name="Shape 32"/>
          <p:cNvSpPr/>
          <p:nvPr/>
        </p:nvSpPr>
        <p:spPr>
          <a:xfrm>
            <a:off x="0" y="6492240"/>
            <a:ext cx="12188952" cy="27432"/>
          </a:xfrm>
          <a:prstGeom prst="rect">
            <a:avLst/>
          </a:prstGeom>
          <a:solidFill>
            <a:srgbClr val="1B6CA8"/>
          </a:solidFill>
          <a:ln w="12700">
            <a:solidFill>
              <a:srgbClr val="1B6CA8"/>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11247120" cy="73152"/>
          </a:xfrm>
          <a:prstGeom prst="rect">
            <a:avLst/>
          </a:prstGeom>
          <a:solidFill>
            <a:srgbClr val="1B6CA8"/>
          </a:solidFill>
          <a:ln w="12700">
            <a:solidFill>
              <a:srgbClr val="1B6CA8"/>
            </a:solidFill>
            <a:prstDash val="solid"/>
          </a:ln>
        </p:spPr>
      </p:sp>
      <p:sp>
        <p:nvSpPr>
          <p:cNvPr id="3" name="Text 1"/>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09 – BÉNÉFICES &amp; ROI</a:t>
            </a:r>
            <a:endParaRPr lang="en-US" sz="1000" dirty="0"/>
          </a:p>
        </p:txBody>
      </p:sp>
      <p:sp>
        <p:nvSpPr>
          <p:cNvPr id="4" name="Text 2"/>
          <p:cNvSpPr/>
          <p:nvPr/>
        </p:nvSpPr>
        <p:spPr>
          <a:xfrm>
            <a:off x="457200" y="685800"/>
            <a:ext cx="10972800" cy="502920"/>
          </a:xfrm>
          <a:prstGeom prst="rect">
            <a:avLst/>
          </a:prstGeom>
          <a:noFill/>
          <a:ln/>
        </p:spPr>
        <p:txBody>
          <a:bodyPr wrap="square" rtlCol="0" anchor="ctr"/>
          <a:lstStyle/>
          <a:p>
            <a:pPr indent="0" marL="0">
              <a:buNone/>
            </a:pPr>
            <a:r>
              <a:rPr lang="en-US" sz="2200" b="1" dirty="0">
                <a:solidFill>
                  <a:srgbClr val="0A2540"/>
                </a:solidFill>
              </a:rPr>
              <a:t>Gains Opérationnels Attendus</a:t>
            </a:r>
            <a:endParaRPr lang="en-US" sz="2200" dirty="0"/>
          </a:p>
        </p:txBody>
      </p:sp>
      <p:sp>
        <p:nvSpPr>
          <p:cNvPr id="5" name="Shape 3"/>
          <p:cNvSpPr/>
          <p:nvPr/>
        </p:nvSpPr>
        <p:spPr>
          <a:xfrm>
            <a:off x="365760" y="1371600"/>
            <a:ext cx="2606040" cy="2606040"/>
          </a:xfrm>
          <a:prstGeom prst="ellipse">
            <a:avLst/>
          </a:prstGeom>
          <a:solidFill>
            <a:srgbClr val="16A34A"/>
          </a:solidFill>
          <a:ln w="12700">
            <a:solidFill>
              <a:srgbClr val="16A34A"/>
            </a:solidFill>
            <a:prstDash val="solid"/>
          </a:ln>
        </p:spPr>
      </p:sp>
      <p:sp>
        <p:nvSpPr>
          <p:cNvPr id="6" name="Text 4"/>
          <p:cNvSpPr/>
          <p:nvPr/>
        </p:nvSpPr>
        <p:spPr>
          <a:xfrm>
            <a:off x="365760" y="1463040"/>
            <a:ext cx="2606040" cy="1371600"/>
          </a:xfrm>
          <a:prstGeom prst="rect">
            <a:avLst/>
          </a:prstGeom>
          <a:noFill/>
          <a:ln/>
        </p:spPr>
        <p:txBody>
          <a:bodyPr wrap="square" rtlCol="0" anchor="ctr"/>
          <a:lstStyle/>
          <a:p>
            <a:pPr algn="ctr" indent="0" marL="0">
              <a:buNone/>
            </a:pPr>
            <a:r>
              <a:rPr lang="en-US" sz="3400" b="1" dirty="0">
                <a:solidFill>
                  <a:srgbClr val="FFFFFF"/>
                </a:solidFill>
              </a:rPr>
              <a:t>−70%</a:t>
            </a:r>
            <a:endParaRPr lang="en-US" sz="3400" dirty="0"/>
          </a:p>
        </p:txBody>
      </p:sp>
      <p:sp>
        <p:nvSpPr>
          <p:cNvPr id="7" name="Text 5"/>
          <p:cNvSpPr/>
          <p:nvPr/>
        </p:nvSpPr>
        <p:spPr>
          <a:xfrm>
            <a:off x="365760" y="2834640"/>
            <a:ext cx="2606040" cy="594360"/>
          </a:xfrm>
          <a:prstGeom prst="rect">
            <a:avLst/>
          </a:prstGeom>
          <a:noFill/>
          <a:ln/>
        </p:spPr>
        <p:txBody>
          <a:bodyPr wrap="square" rtlCol="0" anchor="ctr"/>
          <a:lstStyle/>
          <a:p>
            <a:pPr algn="ctr" indent="0" marL="0">
              <a:lnSpc>
                <a:spcPct val="130000"/>
              </a:lnSpc>
              <a:buNone/>
            </a:pPr>
            <a:r>
              <a:rPr lang="en-US" sz="900" dirty="0">
                <a:solidFill>
                  <a:srgbClr val="FFFFFF"/>
                </a:solidFill>
              </a:rPr>
              <a:t>Temps de traitement</a:t>
            </a:r>
            <a:endParaRPr lang="en-US" sz="900" dirty="0"/>
          </a:p>
          <a:p>
            <a:pPr algn="ctr" indent="0" marL="0">
              <a:lnSpc>
                <a:spcPct val="130000"/>
              </a:lnSpc>
              <a:buNone/>
            </a:pPr>
            <a:r>
              <a:rPr lang="en-US" sz="900" dirty="0">
                <a:solidFill>
                  <a:srgbClr val="FFFFFF"/>
                </a:solidFill>
              </a:rPr>
              <a:t>des dossiers</a:t>
            </a:r>
            <a:endParaRPr lang="en-US" sz="900" dirty="0"/>
          </a:p>
        </p:txBody>
      </p:sp>
      <p:sp>
        <p:nvSpPr>
          <p:cNvPr id="8" name="Shape 6"/>
          <p:cNvSpPr/>
          <p:nvPr/>
        </p:nvSpPr>
        <p:spPr>
          <a:xfrm>
            <a:off x="3200400" y="1371600"/>
            <a:ext cx="2606040" cy="2606040"/>
          </a:xfrm>
          <a:prstGeom prst="ellipse">
            <a:avLst/>
          </a:prstGeom>
          <a:solidFill>
            <a:srgbClr val="1B6CA8"/>
          </a:solidFill>
          <a:ln w="12700">
            <a:solidFill>
              <a:srgbClr val="1B6CA8"/>
            </a:solidFill>
            <a:prstDash val="solid"/>
          </a:ln>
        </p:spPr>
      </p:sp>
      <p:sp>
        <p:nvSpPr>
          <p:cNvPr id="9" name="Text 7"/>
          <p:cNvSpPr/>
          <p:nvPr/>
        </p:nvSpPr>
        <p:spPr>
          <a:xfrm>
            <a:off x="3200400" y="1463040"/>
            <a:ext cx="2606040" cy="1371600"/>
          </a:xfrm>
          <a:prstGeom prst="rect">
            <a:avLst/>
          </a:prstGeom>
          <a:noFill/>
          <a:ln/>
        </p:spPr>
        <p:txBody>
          <a:bodyPr wrap="square" rtlCol="0" anchor="ctr"/>
          <a:lstStyle/>
          <a:p>
            <a:pPr algn="ctr" indent="0" marL="0">
              <a:buNone/>
            </a:pPr>
            <a:r>
              <a:rPr lang="en-US" sz="3400" b="1" dirty="0">
                <a:solidFill>
                  <a:srgbClr val="FFFFFF"/>
                </a:solidFill>
              </a:rPr>
              <a:t>−85%</a:t>
            </a:r>
            <a:endParaRPr lang="en-US" sz="3400" dirty="0"/>
          </a:p>
        </p:txBody>
      </p:sp>
      <p:sp>
        <p:nvSpPr>
          <p:cNvPr id="10" name="Text 8"/>
          <p:cNvSpPr/>
          <p:nvPr/>
        </p:nvSpPr>
        <p:spPr>
          <a:xfrm>
            <a:off x="3200400" y="2834640"/>
            <a:ext cx="2606040" cy="594360"/>
          </a:xfrm>
          <a:prstGeom prst="rect">
            <a:avLst/>
          </a:prstGeom>
          <a:noFill/>
          <a:ln/>
        </p:spPr>
        <p:txBody>
          <a:bodyPr wrap="square" rtlCol="0" anchor="ctr"/>
          <a:lstStyle/>
          <a:p>
            <a:pPr algn="ctr" indent="0" marL="0">
              <a:lnSpc>
                <a:spcPct val="130000"/>
              </a:lnSpc>
              <a:buNone/>
            </a:pPr>
            <a:r>
              <a:rPr lang="en-US" sz="900" dirty="0">
                <a:solidFill>
                  <a:srgbClr val="FFFFFF"/>
                </a:solidFill>
              </a:rPr>
              <a:t>Risque d'erreur</a:t>
            </a:r>
            <a:endParaRPr lang="en-US" sz="900" dirty="0"/>
          </a:p>
          <a:p>
            <a:pPr algn="ctr" indent="0" marL="0">
              <a:lnSpc>
                <a:spcPct val="130000"/>
              </a:lnSpc>
              <a:buNone/>
            </a:pPr>
            <a:r>
              <a:rPr lang="en-US" sz="900" dirty="0">
                <a:solidFill>
                  <a:srgbClr val="FFFFFF"/>
                </a:solidFill>
              </a:rPr>
              <a:t>et de perte</a:t>
            </a:r>
            <a:endParaRPr lang="en-US" sz="900" dirty="0"/>
          </a:p>
        </p:txBody>
      </p:sp>
      <p:sp>
        <p:nvSpPr>
          <p:cNvPr id="11" name="Shape 9"/>
          <p:cNvSpPr/>
          <p:nvPr/>
        </p:nvSpPr>
        <p:spPr>
          <a:xfrm>
            <a:off x="6035040" y="1371600"/>
            <a:ext cx="2606040" cy="2606040"/>
          </a:xfrm>
          <a:prstGeom prst="ellipse">
            <a:avLst/>
          </a:prstGeom>
          <a:solidFill>
            <a:srgbClr val="D97706"/>
          </a:solidFill>
          <a:ln w="12700">
            <a:solidFill>
              <a:srgbClr val="D97706"/>
            </a:solidFill>
            <a:prstDash val="solid"/>
          </a:ln>
        </p:spPr>
      </p:sp>
      <p:sp>
        <p:nvSpPr>
          <p:cNvPr id="12" name="Text 10"/>
          <p:cNvSpPr/>
          <p:nvPr/>
        </p:nvSpPr>
        <p:spPr>
          <a:xfrm>
            <a:off x="6035040" y="1463040"/>
            <a:ext cx="2606040" cy="1371600"/>
          </a:xfrm>
          <a:prstGeom prst="rect">
            <a:avLst/>
          </a:prstGeom>
          <a:noFill/>
          <a:ln/>
        </p:spPr>
        <p:txBody>
          <a:bodyPr wrap="square" rtlCol="0" anchor="ctr"/>
          <a:lstStyle/>
          <a:p>
            <a:pPr algn="ctr" indent="0" marL="0">
              <a:buNone/>
            </a:pPr>
            <a:r>
              <a:rPr lang="en-US" sz="3400" b="1" dirty="0">
                <a:solidFill>
                  <a:srgbClr val="FFFFFF"/>
                </a:solidFill>
              </a:rPr>
              <a:t>3×</a:t>
            </a:r>
            <a:endParaRPr lang="en-US" sz="3400" dirty="0"/>
          </a:p>
        </p:txBody>
      </p:sp>
      <p:sp>
        <p:nvSpPr>
          <p:cNvPr id="13" name="Text 11"/>
          <p:cNvSpPr/>
          <p:nvPr/>
        </p:nvSpPr>
        <p:spPr>
          <a:xfrm>
            <a:off x="6035040" y="2834640"/>
            <a:ext cx="2606040" cy="594360"/>
          </a:xfrm>
          <a:prstGeom prst="rect">
            <a:avLst/>
          </a:prstGeom>
          <a:noFill/>
          <a:ln/>
        </p:spPr>
        <p:txBody>
          <a:bodyPr wrap="square" rtlCol="0" anchor="ctr"/>
          <a:lstStyle/>
          <a:p>
            <a:pPr algn="ctr" indent="0" marL="0">
              <a:lnSpc>
                <a:spcPct val="130000"/>
              </a:lnSpc>
              <a:buNone/>
            </a:pPr>
            <a:r>
              <a:rPr lang="en-US" sz="900" dirty="0">
                <a:solidFill>
                  <a:srgbClr val="FFFFFF"/>
                </a:solidFill>
              </a:rPr>
              <a:t>Rapidité du</a:t>
            </a:r>
            <a:endParaRPr lang="en-US" sz="900" dirty="0"/>
          </a:p>
          <a:p>
            <a:pPr algn="ctr" indent="0" marL="0">
              <a:lnSpc>
                <a:spcPct val="130000"/>
              </a:lnSpc>
              <a:buNone/>
            </a:pPr>
            <a:r>
              <a:rPr lang="en-US" sz="900" dirty="0">
                <a:solidFill>
                  <a:srgbClr val="FFFFFF"/>
                </a:solidFill>
              </a:rPr>
              <a:t>pipeline</a:t>
            </a:r>
            <a:endParaRPr lang="en-US" sz="900" dirty="0"/>
          </a:p>
        </p:txBody>
      </p:sp>
      <p:sp>
        <p:nvSpPr>
          <p:cNvPr id="14" name="Shape 12"/>
          <p:cNvSpPr/>
          <p:nvPr/>
        </p:nvSpPr>
        <p:spPr>
          <a:xfrm>
            <a:off x="8869680" y="1371600"/>
            <a:ext cx="2606040" cy="2606040"/>
          </a:xfrm>
          <a:prstGeom prst="ellipse">
            <a:avLst/>
          </a:prstGeom>
          <a:solidFill>
            <a:srgbClr val="7C3AED"/>
          </a:solidFill>
          <a:ln w="12700">
            <a:solidFill>
              <a:srgbClr val="7C3AED"/>
            </a:solidFill>
            <a:prstDash val="solid"/>
          </a:ln>
        </p:spPr>
      </p:sp>
      <p:sp>
        <p:nvSpPr>
          <p:cNvPr id="15" name="Text 13"/>
          <p:cNvSpPr/>
          <p:nvPr/>
        </p:nvSpPr>
        <p:spPr>
          <a:xfrm>
            <a:off x="8869680" y="1463040"/>
            <a:ext cx="2606040" cy="1371600"/>
          </a:xfrm>
          <a:prstGeom prst="rect">
            <a:avLst/>
          </a:prstGeom>
          <a:noFill/>
          <a:ln/>
        </p:spPr>
        <p:txBody>
          <a:bodyPr wrap="square" rtlCol="0" anchor="ctr"/>
          <a:lstStyle/>
          <a:p>
            <a:pPr algn="ctr" indent="0" marL="0">
              <a:buNone/>
            </a:pPr>
            <a:r>
              <a:rPr lang="en-US" sz="3400" b="1" dirty="0">
                <a:solidFill>
                  <a:srgbClr val="FFFFFF"/>
                </a:solidFill>
              </a:rPr>
              <a:t>100%</a:t>
            </a:r>
            <a:endParaRPr lang="en-US" sz="3400" dirty="0"/>
          </a:p>
        </p:txBody>
      </p:sp>
      <p:sp>
        <p:nvSpPr>
          <p:cNvPr id="16" name="Text 14"/>
          <p:cNvSpPr/>
          <p:nvPr/>
        </p:nvSpPr>
        <p:spPr>
          <a:xfrm>
            <a:off x="8869680" y="2834640"/>
            <a:ext cx="2606040" cy="594360"/>
          </a:xfrm>
          <a:prstGeom prst="rect">
            <a:avLst/>
          </a:prstGeom>
          <a:noFill/>
          <a:ln/>
        </p:spPr>
        <p:txBody>
          <a:bodyPr wrap="square" rtlCol="0" anchor="ctr"/>
          <a:lstStyle/>
          <a:p>
            <a:pPr algn="ctr" indent="0" marL="0">
              <a:lnSpc>
                <a:spcPct val="130000"/>
              </a:lnSpc>
              <a:buNone/>
            </a:pPr>
            <a:r>
              <a:rPr lang="en-US" sz="900" dirty="0">
                <a:solidFill>
                  <a:srgbClr val="FFFFFF"/>
                </a:solidFill>
              </a:rPr>
              <a:t>Traçabilité</a:t>
            </a:r>
            <a:endParaRPr lang="en-US" sz="900" dirty="0"/>
          </a:p>
          <a:p>
            <a:pPr algn="ctr" indent="0" marL="0">
              <a:lnSpc>
                <a:spcPct val="130000"/>
              </a:lnSpc>
              <a:buNone/>
            </a:pPr>
            <a:r>
              <a:rPr lang="en-US" sz="900" dirty="0">
                <a:solidFill>
                  <a:srgbClr val="FFFFFF"/>
                </a:solidFill>
              </a:rPr>
              <a:t>des décisions</a:t>
            </a:r>
            <a:endParaRPr lang="en-US" sz="900" dirty="0"/>
          </a:p>
        </p:txBody>
      </p:sp>
      <p:sp>
        <p:nvSpPr>
          <p:cNvPr id="17" name="Text 15"/>
          <p:cNvSpPr/>
          <p:nvPr/>
        </p:nvSpPr>
        <p:spPr>
          <a:xfrm>
            <a:off x="457200" y="4206240"/>
            <a:ext cx="10972800" cy="274320"/>
          </a:xfrm>
          <a:prstGeom prst="rect">
            <a:avLst/>
          </a:prstGeom>
          <a:noFill/>
          <a:ln/>
        </p:spPr>
        <p:txBody>
          <a:bodyPr wrap="square" rtlCol="0" anchor="ctr"/>
          <a:lstStyle/>
          <a:p>
            <a:pPr indent="0" marL="0">
              <a:buNone/>
            </a:pPr>
            <a:r>
              <a:rPr lang="en-US" sz="900" b="1" spc="150" kern="0" dirty="0">
                <a:solidFill>
                  <a:srgbClr val="1B6CA8"/>
                </a:solidFill>
              </a:rPr>
              <a:t>BÉNÉFICES DÉTAILLÉS PAR DIMENSION</a:t>
            </a:r>
            <a:endParaRPr lang="en-US" sz="900" dirty="0"/>
          </a:p>
        </p:txBody>
      </p:sp>
      <p:sp>
        <p:nvSpPr>
          <p:cNvPr id="18" name="Shape 16"/>
          <p:cNvSpPr/>
          <p:nvPr/>
        </p:nvSpPr>
        <p:spPr>
          <a:xfrm>
            <a:off x="365760" y="4572000"/>
            <a:ext cx="54864" cy="502920"/>
          </a:xfrm>
          <a:prstGeom prst="rect">
            <a:avLst/>
          </a:prstGeom>
          <a:solidFill>
            <a:srgbClr val="1B6CA8"/>
          </a:solidFill>
          <a:ln w="12700">
            <a:solidFill>
              <a:srgbClr val="1B6CA8"/>
            </a:solidFill>
            <a:prstDash val="solid"/>
          </a:ln>
        </p:spPr>
      </p:sp>
      <p:sp>
        <p:nvSpPr>
          <p:cNvPr id="19" name="Text 17"/>
          <p:cNvSpPr/>
          <p:nvPr/>
        </p:nvSpPr>
        <p:spPr>
          <a:xfrm>
            <a:off x="512064" y="4590288"/>
            <a:ext cx="5303520" cy="201168"/>
          </a:xfrm>
          <a:prstGeom prst="rect">
            <a:avLst/>
          </a:prstGeom>
          <a:noFill/>
          <a:ln/>
        </p:spPr>
        <p:txBody>
          <a:bodyPr wrap="square" rtlCol="0" anchor="ctr"/>
          <a:lstStyle/>
          <a:p>
            <a:pPr indent="0" marL="0">
              <a:buNone/>
            </a:pPr>
            <a:r>
              <a:rPr lang="en-US" sz="950" b="1" dirty="0">
                <a:solidFill>
                  <a:srgbClr val="0A2540"/>
                </a:solidFill>
              </a:rPr>
              <a:t>Efficacité opérationnelle</a:t>
            </a:r>
            <a:endParaRPr lang="en-US" sz="950" dirty="0"/>
          </a:p>
        </p:txBody>
      </p:sp>
      <p:sp>
        <p:nvSpPr>
          <p:cNvPr id="20" name="Text 18"/>
          <p:cNvSpPr/>
          <p:nvPr/>
        </p:nvSpPr>
        <p:spPr>
          <a:xfrm>
            <a:off x="512064" y="4809744"/>
            <a:ext cx="5303520" cy="228600"/>
          </a:xfrm>
          <a:prstGeom prst="rect">
            <a:avLst/>
          </a:prstGeom>
          <a:noFill/>
          <a:ln/>
        </p:spPr>
        <p:txBody>
          <a:bodyPr wrap="square" rtlCol="0" anchor="ctr"/>
          <a:lstStyle/>
          <a:p>
            <a:pPr indent="0" marL="0">
              <a:buNone/>
            </a:pPr>
            <a:r>
              <a:rPr lang="en-US" sz="850" dirty="0">
                <a:solidFill>
                  <a:srgbClr val="64748B"/>
                </a:solidFill>
              </a:rPr>
              <a:t>Processus entièrement dématérialisé, validation en quelques clics, zéro document papier en circulation.</a:t>
            </a:r>
            <a:endParaRPr lang="en-US" sz="850" dirty="0"/>
          </a:p>
        </p:txBody>
      </p:sp>
      <p:sp>
        <p:nvSpPr>
          <p:cNvPr id="21" name="Shape 19"/>
          <p:cNvSpPr/>
          <p:nvPr/>
        </p:nvSpPr>
        <p:spPr>
          <a:xfrm>
            <a:off x="6263640" y="4572000"/>
            <a:ext cx="54864" cy="502920"/>
          </a:xfrm>
          <a:prstGeom prst="rect">
            <a:avLst/>
          </a:prstGeom>
          <a:solidFill>
            <a:srgbClr val="1B6CA8"/>
          </a:solidFill>
          <a:ln w="12700">
            <a:solidFill>
              <a:srgbClr val="1B6CA8"/>
            </a:solidFill>
            <a:prstDash val="solid"/>
          </a:ln>
        </p:spPr>
      </p:sp>
      <p:sp>
        <p:nvSpPr>
          <p:cNvPr id="22" name="Text 20"/>
          <p:cNvSpPr/>
          <p:nvPr/>
        </p:nvSpPr>
        <p:spPr>
          <a:xfrm>
            <a:off x="6409944" y="4590288"/>
            <a:ext cx="5303520" cy="201168"/>
          </a:xfrm>
          <a:prstGeom prst="rect">
            <a:avLst/>
          </a:prstGeom>
          <a:noFill/>
          <a:ln/>
        </p:spPr>
        <p:txBody>
          <a:bodyPr wrap="square" rtlCol="0" anchor="ctr"/>
          <a:lstStyle/>
          <a:p>
            <a:pPr indent="0" marL="0">
              <a:buNone/>
            </a:pPr>
            <a:r>
              <a:rPr lang="en-US" sz="950" b="1" dirty="0">
                <a:solidFill>
                  <a:srgbClr val="0A2540"/>
                </a:solidFill>
              </a:rPr>
              <a:t>Qualité des recrutements</a:t>
            </a:r>
            <a:endParaRPr lang="en-US" sz="950" dirty="0"/>
          </a:p>
        </p:txBody>
      </p:sp>
      <p:sp>
        <p:nvSpPr>
          <p:cNvPr id="23" name="Text 21"/>
          <p:cNvSpPr/>
          <p:nvPr/>
        </p:nvSpPr>
        <p:spPr>
          <a:xfrm>
            <a:off x="6409944" y="4809744"/>
            <a:ext cx="5303520" cy="228600"/>
          </a:xfrm>
          <a:prstGeom prst="rect">
            <a:avLst/>
          </a:prstGeom>
          <a:noFill/>
          <a:ln/>
        </p:spPr>
        <p:txBody>
          <a:bodyPr wrap="square" rtlCol="0" anchor="ctr"/>
          <a:lstStyle/>
          <a:p>
            <a:pPr indent="0" marL="0">
              <a:buNone/>
            </a:pPr>
            <a:r>
              <a:rPr lang="en-US" sz="850" dirty="0">
                <a:solidFill>
                  <a:srgbClr val="64748B"/>
                </a:solidFill>
              </a:rPr>
              <a:t>Scoring objectif basé sur les compétences réelles, réduction des biais de sélection, critères uniformes.</a:t>
            </a:r>
            <a:endParaRPr lang="en-US" sz="850" dirty="0"/>
          </a:p>
        </p:txBody>
      </p:sp>
      <p:sp>
        <p:nvSpPr>
          <p:cNvPr id="24" name="Shape 22"/>
          <p:cNvSpPr/>
          <p:nvPr/>
        </p:nvSpPr>
        <p:spPr>
          <a:xfrm>
            <a:off x="365760" y="5230368"/>
            <a:ext cx="54864" cy="502920"/>
          </a:xfrm>
          <a:prstGeom prst="rect">
            <a:avLst/>
          </a:prstGeom>
          <a:solidFill>
            <a:srgbClr val="1B6CA8"/>
          </a:solidFill>
          <a:ln w="12700">
            <a:solidFill>
              <a:srgbClr val="1B6CA8"/>
            </a:solidFill>
            <a:prstDash val="solid"/>
          </a:ln>
        </p:spPr>
      </p:sp>
      <p:sp>
        <p:nvSpPr>
          <p:cNvPr id="25" name="Text 23"/>
          <p:cNvSpPr/>
          <p:nvPr/>
        </p:nvSpPr>
        <p:spPr>
          <a:xfrm>
            <a:off x="512064" y="5248656"/>
            <a:ext cx="5303520" cy="201168"/>
          </a:xfrm>
          <a:prstGeom prst="rect">
            <a:avLst/>
          </a:prstGeom>
          <a:noFill/>
          <a:ln/>
        </p:spPr>
        <p:txBody>
          <a:bodyPr wrap="square" rtlCol="0" anchor="ctr"/>
          <a:lstStyle/>
          <a:p>
            <a:pPr indent="0" marL="0">
              <a:buNone/>
            </a:pPr>
            <a:r>
              <a:rPr lang="en-US" sz="950" b="1" dirty="0">
                <a:solidFill>
                  <a:srgbClr val="0A2540"/>
                </a:solidFill>
              </a:rPr>
              <a:t>Expérience candidat</a:t>
            </a:r>
            <a:endParaRPr lang="en-US" sz="950" dirty="0"/>
          </a:p>
        </p:txBody>
      </p:sp>
      <p:sp>
        <p:nvSpPr>
          <p:cNvPr id="26" name="Text 24"/>
          <p:cNvSpPr/>
          <p:nvPr/>
        </p:nvSpPr>
        <p:spPr>
          <a:xfrm>
            <a:off x="512064" y="5468112"/>
            <a:ext cx="5303520" cy="228600"/>
          </a:xfrm>
          <a:prstGeom prst="rect">
            <a:avLst/>
          </a:prstGeom>
          <a:noFill/>
          <a:ln/>
        </p:spPr>
        <p:txBody>
          <a:bodyPr wrap="square" rtlCol="0" anchor="ctr"/>
          <a:lstStyle/>
          <a:p>
            <a:pPr indent="0" marL="0">
              <a:buNone/>
            </a:pPr>
            <a:r>
              <a:rPr lang="en-US" sz="850" dirty="0">
                <a:solidFill>
                  <a:srgbClr val="64748B"/>
                </a:solidFill>
              </a:rPr>
              <a:t>Portail moderne et intuitif, communication transparente, suivi en temps réel — image employeur renforcée.</a:t>
            </a:r>
            <a:endParaRPr lang="en-US" sz="850" dirty="0"/>
          </a:p>
        </p:txBody>
      </p:sp>
      <p:sp>
        <p:nvSpPr>
          <p:cNvPr id="27" name="Shape 25"/>
          <p:cNvSpPr/>
          <p:nvPr/>
        </p:nvSpPr>
        <p:spPr>
          <a:xfrm>
            <a:off x="6263640" y="5230368"/>
            <a:ext cx="54864" cy="502920"/>
          </a:xfrm>
          <a:prstGeom prst="rect">
            <a:avLst/>
          </a:prstGeom>
          <a:solidFill>
            <a:srgbClr val="1B6CA8"/>
          </a:solidFill>
          <a:ln w="12700">
            <a:solidFill>
              <a:srgbClr val="1B6CA8"/>
            </a:solidFill>
            <a:prstDash val="solid"/>
          </a:ln>
        </p:spPr>
      </p:sp>
      <p:sp>
        <p:nvSpPr>
          <p:cNvPr id="28" name="Text 26"/>
          <p:cNvSpPr/>
          <p:nvPr/>
        </p:nvSpPr>
        <p:spPr>
          <a:xfrm>
            <a:off x="6409944" y="5248656"/>
            <a:ext cx="5303520" cy="201168"/>
          </a:xfrm>
          <a:prstGeom prst="rect">
            <a:avLst/>
          </a:prstGeom>
          <a:noFill/>
          <a:ln/>
        </p:spPr>
        <p:txBody>
          <a:bodyPr wrap="square" rtlCol="0" anchor="ctr"/>
          <a:lstStyle/>
          <a:p>
            <a:pPr indent="0" marL="0">
              <a:buNone/>
            </a:pPr>
            <a:r>
              <a:rPr lang="en-US" sz="950" b="1" dirty="0">
                <a:solidFill>
                  <a:srgbClr val="0A2540"/>
                </a:solidFill>
              </a:rPr>
              <a:t>Conformité réglementaire</a:t>
            </a:r>
            <a:endParaRPr lang="en-US" sz="950" dirty="0"/>
          </a:p>
        </p:txBody>
      </p:sp>
      <p:sp>
        <p:nvSpPr>
          <p:cNvPr id="29" name="Text 27"/>
          <p:cNvSpPr/>
          <p:nvPr/>
        </p:nvSpPr>
        <p:spPr>
          <a:xfrm>
            <a:off x="6409944" y="5468112"/>
            <a:ext cx="5303520" cy="228600"/>
          </a:xfrm>
          <a:prstGeom prst="rect">
            <a:avLst/>
          </a:prstGeom>
          <a:noFill/>
          <a:ln/>
        </p:spPr>
        <p:txBody>
          <a:bodyPr wrap="square" rtlCol="0" anchor="ctr"/>
          <a:lstStyle/>
          <a:p>
            <a:pPr indent="0" marL="0">
              <a:buNone/>
            </a:pPr>
            <a:r>
              <a:rPr lang="en-US" sz="850" dirty="0">
                <a:solidFill>
                  <a:srgbClr val="64748B"/>
                </a:solidFill>
              </a:rPr>
              <a:t>Traçabilité totale, droits d'accès documentés, archivage sécurisé conforme aux exigences légales.</a:t>
            </a:r>
            <a:endParaRPr lang="en-US" sz="850" dirty="0"/>
          </a:p>
        </p:txBody>
      </p:sp>
      <p:sp>
        <p:nvSpPr>
          <p:cNvPr id="30" name="Text 28"/>
          <p:cNvSpPr/>
          <p:nvPr/>
        </p:nvSpPr>
        <p:spPr>
          <a:xfrm>
            <a:off x="365760" y="6583680"/>
            <a:ext cx="11430000" cy="274320"/>
          </a:xfrm>
          <a:prstGeom prst="rect">
            <a:avLst/>
          </a:prstGeom>
          <a:noFill/>
          <a:ln/>
        </p:spPr>
        <p:txBody>
          <a:bodyPr wrap="square" rtlCol="0" anchor="ctr"/>
          <a:lstStyle/>
          <a:p>
            <a:pPr algn="ctr" indent="0" marL="0">
              <a:buNone/>
            </a:pPr>
            <a:r>
              <a:rPr lang="en-US" sz="800" dirty="0">
                <a:solidFill>
                  <a:srgbClr val="64748B"/>
                </a:solidFill>
              </a:rPr>
              <a:t>SNH – Présentation Directoire  |  Confidentiel  |  11 / 12</a:t>
            </a:r>
            <a:endParaRPr lang="en-US" sz="800" dirty="0"/>
          </a:p>
        </p:txBody>
      </p:sp>
      <p:sp>
        <p:nvSpPr>
          <p:cNvPr id="31" name="Shape 29"/>
          <p:cNvSpPr/>
          <p:nvPr/>
        </p:nvSpPr>
        <p:spPr>
          <a:xfrm>
            <a:off x="0" y="6492240"/>
            <a:ext cx="12188952" cy="27432"/>
          </a:xfrm>
          <a:prstGeom prst="rect">
            <a:avLst/>
          </a:prstGeom>
          <a:solidFill>
            <a:srgbClr val="1B6CA8"/>
          </a:solidFill>
          <a:ln w="12700">
            <a:solidFill>
              <a:srgbClr val="1B6CA8"/>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6A34A"/>
          </a:solidFill>
          <a:ln w="12700">
            <a:solidFill>
              <a:srgbClr val="16A34A"/>
            </a:solidFill>
            <a:prstDash val="solid"/>
          </a:ln>
        </p:spPr>
      </p:sp>
      <p:sp>
        <p:nvSpPr>
          <p:cNvPr id="3" name="Shape 1"/>
          <p:cNvSpPr/>
          <p:nvPr/>
        </p:nvSpPr>
        <p:spPr>
          <a:xfrm>
            <a:off x="457200" y="228600"/>
            <a:ext cx="11247120" cy="73152"/>
          </a:xfrm>
          <a:prstGeom prst="rect">
            <a:avLst/>
          </a:prstGeom>
          <a:solidFill>
            <a:srgbClr val="1B6CA8"/>
          </a:solidFill>
          <a:ln w="12700">
            <a:solidFill>
              <a:srgbClr val="1B6CA8"/>
            </a:solidFill>
            <a:prstDash val="solid"/>
          </a:ln>
        </p:spPr>
      </p:sp>
      <p:sp>
        <p:nvSpPr>
          <p:cNvPr id="4" name="Text 2"/>
          <p:cNvSpPr/>
          <p:nvPr/>
        </p:nvSpPr>
        <p:spPr>
          <a:xfrm>
            <a:off x="457200" y="347472"/>
            <a:ext cx="11247120" cy="411480"/>
          </a:xfrm>
          <a:prstGeom prst="rect">
            <a:avLst/>
          </a:prstGeom>
          <a:noFill/>
          <a:ln/>
        </p:spPr>
        <p:txBody>
          <a:bodyPr wrap="square" rtlCol="0" anchor="ctr"/>
          <a:lstStyle/>
          <a:p>
            <a:pPr indent="0" marL="0">
              <a:buNone/>
            </a:pPr>
            <a:r>
              <a:rPr lang="en-US" sz="1000" b="1" spc="200" kern="0" dirty="0">
                <a:solidFill>
                  <a:srgbClr val="1B6CA8"/>
                </a:solidFill>
              </a:rPr>
              <a:t>10 – FEUILLE DE ROUTE &amp; CONCLUSION</a:t>
            </a:r>
            <a:endParaRPr lang="en-US" sz="1000" dirty="0"/>
          </a:p>
        </p:txBody>
      </p:sp>
      <p:sp>
        <p:nvSpPr>
          <p:cNvPr id="5" name="Text 3"/>
          <p:cNvSpPr/>
          <p:nvPr/>
        </p:nvSpPr>
        <p:spPr>
          <a:xfrm>
            <a:off x="457200" y="777240"/>
            <a:ext cx="10972800" cy="502920"/>
          </a:xfrm>
          <a:prstGeom prst="rect">
            <a:avLst/>
          </a:prstGeom>
          <a:noFill/>
          <a:ln/>
        </p:spPr>
        <p:txBody>
          <a:bodyPr wrap="square" rtlCol="0" anchor="ctr"/>
          <a:lstStyle/>
          <a:p>
            <a:pPr indent="0" marL="0">
              <a:buNone/>
            </a:pPr>
            <a:r>
              <a:rPr lang="en-US" sz="2200" b="1" dirty="0">
                <a:solidFill>
                  <a:srgbClr val="FFFFFF"/>
                </a:solidFill>
              </a:rPr>
              <a:t>Prochaines Étapes</a:t>
            </a:r>
            <a:endParaRPr lang="en-US" sz="2200" dirty="0"/>
          </a:p>
        </p:txBody>
      </p:sp>
      <p:sp>
        <p:nvSpPr>
          <p:cNvPr id="6" name="Shape 4"/>
          <p:cNvSpPr/>
          <p:nvPr/>
        </p:nvSpPr>
        <p:spPr>
          <a:xfrm>
            <a:off x="365760" y="1508760"/>
            <a:ext cx="3566160" cy="384048"/>
          </a:xfrm>
          <a:prstGeom prst="rect">
            <a:avLst/>
          </a:prstGeom>
          <a:solidFill>
            <a:srgbClr val="16A34A"/>
          </a:solidFill>
          <a:ln w="12700">
            <a:solidFill>
              <a:srgbClr val="16A34A"/>
            </a:solidFill>
            <a:prstDash val="solid"/>
          </a:ln>
        </p:spPr>
      </p:sp>
      <p:sp>
        <p:nvSpPr>
          <p:cNvPr id="7" name="Text 5"/>
          <p:cNvSpPr/>
          <p:nvPr/>
        </p:nvSpPr>
        <p:spPr>
          <a:xfrm>
            <a:off x="457200" y="1508760"/>
            <a:ext cx="3383280" cy="201168"/>
          </a:xfrm>
          <a:prstGeom prst="rect">
            <a:avLst/>
          </a:prstGeom>
          <a:noFill/>
          <a:ln/>
        </p:spPr>
        <p:txBody>
          <a:bodyPr wrap="square" rtlCol="0" anchor="b"/>
          <a:lstStyle/>
          <a:p>
            <a:pPr indent="0" marL="0">
              <a:buNone/>
            </a:pPr>
            <a:r>
              <a:rPr lang="en-US" sz="800" b="1" dirty="0">
                <a:solidFill>
                  <a:srgbClr val="FFFFFF"/>
                </a:solidFill>
              </a:rPr>
              <a:t>Phase 1  —  Juillet 2026</a:t>
            </a:r>
            <a:endParaRPr lang="en-US" sz="800" dirty="0"/>
          </a:p>
        </p:txBody>
      </p:sp>
      <p:sp>
        <p:nvSpPr>
          <p:cNvPr id="8" name="Text 6"/>
          <p:cNvSpPr/>
          <p:nvPr/>
        </p:nvSpPr>
        <p:spPr>
          <a:xfrm>
            <a:off x="457200" y="1709928"/>
            <a:ext cx="3383280" cy="182880"/>
          </a:xfrm>
          <a:prstGeom prst="rect">
            <a:avLst/>
          </a:prstGeom>
          <a:noFill/>
          <a:ln/>
        </p:spPr>
        <p:txBody>
          <a:bodyPr wrap="square" rtlCol="0" anchor="ctr"/>
          <a:lstStyle/>
          <a:p>
            <a:pPr indent="0" marL="0">
              <a:buNone/>
            </a:pPr>
            <a:r>
              <a:rPr lang="en-US" sz="950" b="1" dirty="0">
                <a:solidFill>
                  <a:srgbClr val="FFFFFF"/>
                </a:solidFill>
              </a:rPr>
              <a:t>Déploiement &amp; Formation</a:t>
            </a:r>
            <a:endParaRPr lang="en-US" sz="950" dirty="0"/>
          </a:p>
        </p:txBody>
      </p:sp>
      <p:sp>
        <p:nvSpPr>
          <p:cNvPr id="9" name="Shape 7"/>
          <p:cNvSpPr/>
          <p:nvPr/>
        </p:nvSpPr>
        <p:spPr>
          <a:xfrm>
            <a:off x="365760" y="1892808"/>
            <a:ext cx="3566160" cy="1920240"/>
          </a:xfrm>
          <a:prstGeom prst="rect">
            <a:avLst/>
          </a:prstGeom>
          <a:solidFill>
            <a:srgbClr val="1B3A5C"/>
          </a:solidFill>
          <a:ln w="12700">
            <a:solidFill>
              <a:srgbClr val="2D5A8E"/>
            </a:solidFill>
            <a:prstDash val="solid"/>
          </a:ln>
        </p:spPr>
      </p:sp>
      <p:sp>
        <p:nvSpPr>
          <p:cNvPr id="10" name="Text 8"/>
          <p:cNvSpPr/>
          <p:nvPr/>
        </p:nvSpPr>
        <p:spPr>
          <a:xfrm>
            <a:off x="502920" y="1993392"/>
            <a:ext cx="3291840" cy="475488"/>
          </a:xfrm>
          <a:prstGeom prst="rect">
            <a:avLst/>
          </a:prstGeom>
          <a:noFill/>
          <a:ln/>
        </p:spPr>
        <p:txBody>
          <a:bodyPr wrap="square" rtlCol="0" anchor="ctr"/>
          <a:lstStyle/>
          <a:p>
            <a:pPr indent="0" marL="0">
              <a:lnSpc>
                <a:spcPct val="125000"/>
              </a:lnSpc>
              <a:buNone/>
            </a:pPr>
            <a:r>
              <a:rPr lang="en-US" sz="900" dirty="0">
                <a:solidFill>
                  <a:srgbClr val="A0C4E8"/>
                </a:solidFill>
              </a:rPr>
              <a:t>→  Formation des équipes RH</a:t>
            </a:r>
            <a:endParaRPr lang="en-US" sz="900" dirty="0"/>
          </a:p>
        </p:txBody>
      </p:sp>
      <p:sp>
        <p:nvSpPr>
          <p:cNvPr id="11" name="Text 9"/>
          <p:cNvSpPr/>
          <p:nvPr/>
        </p:nvSpPr>
        <p:spPr>
          <a:xfrm>
            <a:off x="502920" y="2560320"/>
            <a:ext cx="3291840" cy="475488"/>
          </a:xfrm>
          <a:prstGeom prst="rect">
            <a:avLst/>
          </a:prstGeom>
          <a:noFill/>
          <a:ln/>
        </p:spPr>
        <p:txBody>
          <a:bodyPr wrap="square" rtlCol="0" anchor="ctr"/>
          <a:lstStyle/>
          <a:p>
            <a:pPr indent="0" marL="0">
              <a:lnSpc>
                <a:spcPct val="125000"/>
              </a:lnSpc>
              <a:buNone/>
            </a:pPr>
            <a:r>
              <a:rPr lang="en-US" sz="900" dirty="0">
                <a:solidFill>
                  <a:srgbClr val="A0C4E8"/>
                </a:solidFill>
              </a:rPr>
              <a:t>→  Activation du portail candidat</a:t>
            </a:r>
            <a:endParaRPr lang="en-US" sz="900" dirty="0"/>
          </a:p>
        </p:txBody>
      </p:sp>
      <p:sp>
        <p:nvSpPr>
          <p:cNvPr id="12" name="Text 10"/>
          <p:cNvSpPr/>
          <p:nvPr/>
        </p:nvSpPr>
        <p:spPr>
          <a:xfrm>
            <a:off x="502920" y="3127248"/>
            <a:ext cx="3291840" cy="475488"/>
          </a:xfrm>
          <a:prstGeom prst="rect">
            <a:avLst/>
          </a:prstGeom>
          <a:noFill/>
          <a:ln/>
        </p:spPr>
        <p:txBody>
          <a:bodyPr wrap="square" rtlCol="0" anchor="ctr"/>
          <a:lstStyle/>
          <a:p>
            <a:pPr indent="0" marL="0">
              <a:lnSpc>
                <a:spcPct val="125000"/>
              </a:lnSpc>
              <a:buNone/>
            </a:pPr>
            <a:r>
              <a:rPr lang="en-US" sz="900" dirty="0">
                <a:solidFill>
                  <a:srgbClr val="A0C4E8"/>
                </a:solidFill>
              </a:rPr>
              <a:t>→  Migration des dossiers existants</a:t>
            </a:r>
            <a:endParaRPr lang="en-US" sz="900" dirty="0"/>
          </a:p>
        </p:txBody>
      </p:sp>
      <p:sp>
        <p:nvSpPr>
          <p:cNvPr id="13" name="Shape 11"/>
          <p:cNvSpPr/>
          <p:nvPr/>
        </p:nvSpPr>
        <p:spPr>
          <a:xfrm>
            <a:off x="4206240" y="1508760"/>
            <a:ext cx="3566160" cy="384048"/>
          </a:xfrm>
          <a:prstGeom prst="rect">
            <a:avLst/>
          </a:prstGeom>
          <a:solidFill>
            <a:srgbClr val="1B6CA8"/>
          </a:solidFill>
          <a:ln w="12700">
            <a:solidFill>
              <a:srgbClr val="1B6CA8"/>
            </a:solidFill>
            <a:prstDash val="solid"/>
          </a:ln>
        </p:spPr>
      </p:sp>
      <p:sp>
        <p:nvSpPr>
          <p:cNvPr id="14" name="Text 12"/>
          <p:cNvSpPr/>
          <p:nvPr/>
        </p:nvSpPr>
        <p:spPr>
          <a:xfrm>
            <a:off x="4297680" y="1508760"/>
            <a:ext cx="3383280" cy="201168"/>
          </a:xfrm>
          <a:prstGeom prst="rect">
            <a:avLst/>
          </a:prstGeom>
          <a:noFill/>
          <a:ln/>
        </p:spPr>
        <p:txBody>
          <a:bodyPr wrap="square" rtlCol="0" anchor="b"/>
          <a:lstStyle/>
          <a:p>
            <a:pPr indent="0" marL="0">
              <a:buNone/>
            </a:pPr>
            <a:r>
              <a:rPr lang="en-US" sz="800" b="1" dirty="0">
                <a:solidFill>
                  <a:srgbClr val="FFFFFF"/>
                </a:solidFill>
              </a:rPr>
              <a:t>Phase 2  —  T3 2026</a:t>
            </a:r>
            <a:endParaRPr lang="en-US" sz="800" dirty="0"/>
          </a:p>
        </p:txBody>
      </p:sp>
      <p:sp>
        <p:nvSpPr>
          <p:cNvPr id="15" name="Text 13"/>
          <p:cNvSpPr/>
          <p:nvPr/>
        </p:nvSpPr>
        <p:spPr>
          <a:xfrm>
            <a:off x="4297680" y="1709928"/>
            <a:ext cx="3383280" cy="182880"/>
          </a:xfrm>
          <a:prstGeom prst="rect">
            <a:avLst/>
          </a:prstGeom>
          <a:noFill/>
          <a:ln/>
        </p:spPr>
        <p:txBody>
          <a:bodyPr wrap="square" rtlCol="0" anchor="ctr"/>
          <a:lstStyle/>
          <a:p>
            <a:pPr indent="0" marL="0">
              <a:buNone/>
            </a:pPr>
            <a:r>
              <a:rPr lang="en-US" sz="950" b="1" dirty="0">
                <a:solidFill>
                  <a:srgbClr val="FFFFFF"/>
                </a:solidFill>
              </a:rPr>
              <a:t>Optimisation</a:t>
            </a:r>
            <a:endParaRPr lang="en-US" sz="950" dirty="0"/>
          </a:p>
        </p:txBody>
      </p:sp>
      <p:sp>
        <p:nvSpPr>
          <p:cNvPr id="16" name="Shape 14"/>
          <p:cNvSpPr/>
          <p:nvPr/>
        </p:nvSpPr>
        <p:spPr>
          <a:xfrm>
            <a:off x="4206240" y="1892808"/>
            <a:ext cx="3566160" cy="1920240"/>
          </a:xfrm>
          <a:prstGeom prst="rect">
            <a:avLst/>
          </a:prstGeom>
          <a:solidFill>
            <a:srgbClr val="1B3A5C"/>
          </a:solidFill>
          <a:ln w="12700">
            <a:solidFill>
              <a:srgbClr val="2D5A8E"/>
            </a:solidFill>
            <a:prstDash val="solid"/>
          </a:ln>
        </p:spPr>
      </p:sp>
      <p:sp>
        <p:nvSpPr>
          <p:cNvPr id="17" name="Text 15"/>
          <p:cNvSpPr/>
          <p:nvPr/>
        </p:nvSpPr>
        <p:spPr>
          <a:xfrm>
            <a:off x="4343400" y="1993392"/>
            <a:ext cx="3291840" cy="475488"/>
          </a:xfrm>
          <a:prstGeom prst="rect">
            <a:avLst/>
          </a:prstGeom>
          <a:noFill/>
          <a:ln/>
        </p:spPr>
        <p:txBody>
          <a:bodyPr wrap="square" rtlCol="0" anchor="ctr"/>
          <a:lstStyle/>
          <a:p>
            <a:pPr indent="0" marL="0">
              <a:lnSpc>
                <a:spcPct val="125000"/>
              </a:lnSpc>
              <a:buNone/>
            </a:pPr>
            <a:r>
              <a:rPr lang="en-US" sz="900" dirty="0">
                <a:solidFill>
                  <a:srgbClr val="A0C4E8"/>
                </a:solidFill>
              </a:rPr>
              <a:t>→  Retours utilisateurs &amp; ajustements</a:t>
            </a:r>
            <a:endParaRPr lang="en-US" sz="900" dirty="0"/>
          </a:p>
        </p:txBody>
      </p:sp>
      <p:sp>
        <p:nvSpPr>
          <p:cNvPr id="18" name="Text 16"/>
          <p:cNvSpPr/>
          <p:nvPr/>
        </p:nvSpPr>
        <p:spPr>
          <a:xfrm>
            <a:off x="4343400" y="2560320"/>
            <a:ext cx="3291840" cy="475488"/>
          </a:xfrm>
          <a:prstGeom prst="rect">
            <a:avLst/>
          </a:prstGeom>
          <a:noFill/>
          <a:ln/>
        </p:spPr>
        <p:txBody>
          <a:bodyPr wrap="square" rtlCol="0" anchor="ctr"/>
          <a:lstStyle/>
          <a:p>
            <a:pPr indent="0" marL="0">
              <a:lnSpc>
                <a:spcPct val="125000"/>
              </a:lnSpc>
              <a:buNone/>
            </a:pPr>
            <a:r>
              <a:rPr lang="en-US" sz="900" dirty="0">
                <a:solidFill>
                  <a:srgbClr val="A0C4E8"/>
                </a:solidFill>
              </a:rPr>
              <a:t>→  Enrichissement du référentiel compétences</a:t>
            </a:r>
            <a:endParaRPr lang="en-US" sz="900" dirty="0"/>
          </a:p>
        </p:txBody>
      </p:sp>
      <p:sp>
        <p:nvSpPr>
          <p:cNvPr id="19" name="Text 17"/>
          <p:cNvSpPr/>
          <p:nvPr/>
        </p:nvSpPr>
        <p:spPr>
          <a:xfrm>
            <a:off x="4343400" y="3127248"/>
            <a:ext cx="3291840" cy="475488"/>
          </a:xfrm>
          <a:prstGeom prst="rect">
            <a:avLst/>
          </a:prstGeom>
          <a:noFill/>
          <a:ln/>
        </p:spPr>
        <p:txBody>
          <a:bodyPr wrap="square" rtlCol="0" anchor="ctr"/>
          <a:lstStyle/>
          <a:p>
            <a:pPr indent="0" marL="0">
              <a:lnSpc>
                <a:spcPct val="125000"/>
              </a:lnSpc>
              <a:buNone/>
            </a:pPr>
            <a:r>
              <a:rPr lang="en-US" sz="900" dirty="0">
                <a:solidFill>
                  <a:srgbClr val="A0C4E8"/>
                </a:solidFill>
              </a:rPr>
              <a:t>→  Automatisation des notifications email</a:t>
            </a:r>
            <a:endParaRPr lang="en-US" sz="900" dirty="0"/>
          </a:p>
        </p:txBody>
      </p:sp>
      <p:sp>
        <p:nvSpPr>
          <p:cNvPr id="20" name="Shape 18"/>
          <p:cNvSpPr/>
          <p:nvPr/>
        </p:nvSpPr>
        <p:spPr>
          <a:xfrm>
            <a:off x="8046720" y="1508760"/>
            <a:ext cx="3566160" cy="384048"/>
          </a:xfrm>
          <a:prstGeom prst="rect">
            <a:avLst/>
          </a:prstGeom>
          <a:solidFill>
            <a:srgbClr val="D97706"/>
          </a:solidFill>
          <a:ln w="12700">
            <a:solidFill>
              <a:srgbClr val="D97706"/>
            </a:solidFill>
            <a:prstDash val="solid"/>
          </a:ln>
        </p:spPr>
      </p:sp>
      <p:sp>
        <p:nvSpPr>
          <p:cNvPr id="21" name="Text 19"/>
          <p:cNvSpPr/>
          <p:nvPr/>
        </p:nvSpPr>
        <p:spPr>
          <a:xfrm>
            <a:off x="8138160" y="1508760"/>
            <a:ext cx="3383280" cy="201168"/>
          </a:xfrm>
          <a:prstGeom prst="rect">
            <a:avLst/>
          </a:prstGeom>
          <a:noFill/>
          <a:ln/>
        </p:spPr>
        <p:txBody>
          <a:bodyPr wrap="square" rtlCol="0" anchor="b"/>
          <a:lstStyle/>
          <a:p>
            <a:pPr indent="0" marL="0">
              <a:buNone/>
            </a:pPr>
            <a:r>
              <a:rPr lang="en-US" sz="800" b="1" dirty="0">
                <a:solidFill>
                  <a:srgbClr val="FFFFFF"/>
                </a:solidFill>
              </a:rPr>
              <a:t>Phase 3  —  T4 2026</a:t>
            </a:r>
            <a:endParaRPr lang="en-US" sz="800" dirty="0"/>
          </a:p>
        </p:txBody>
      </p:sp>
      <p:sp>
        <p:nvSpPr>
          <p:cNvPr id="22" name="Text 20"/>
          <p:cNvSpPr/>
          <p:nvPr/>
        </p:nvSpPr>
        <p:spPr>
          <a:xfrm>
            <a:off x="8138160" y="1709928"/>
            <a:ext cx="3383280" cy="182880"/>
          </a:xfrm>
          <a:prstGeom prst="rect">
            <a:avLst/>
          </a:prstGeom>
          <a:noFill/>
          <a:ln/>
        </p:spPr>
        <p:txBody>
          <a:bodyPr wrap="square" rtlCol="0" anchor="ctr"/>
          <a:lstStyle/>
          <a:p>
            <a:pPr indent="0" marL="0">
              <a:buNone/>
            </a:pPr>
            <a:r>
              <a:rPr lang="en-US" sz="950" b="1" dirty="0">
                <a:solidFill>
                  <a:srgbClr val="FFFFFF"/>
                </a:solidFill>
              </a:rPr>
              <a:t>Extension IA</a:t>
            </a:r>
            <a:endParaRPr lang="en-US" sz="950" dirty="0"/>
          </a:p>
        </p:txBody>
      </p:sp>
      <p:sp>
        <p:nvSpPr>
          <p:cNvPr id="23" name="Shape 21"/>
          <p:cNvSpPr/>
          <p:nvPr/>
        </p:nvSpPr>
        <p:spPr>
          <a:xfrm>
            <a:off x="8046720" y="1892808"/>
            <a:ext cx="3566160" cy="1920240"/>
          </a:xfrm>
          <a:prstGeom prst="rect">
            <a:avLst/>
          </a:prstGeom>
          <a:solidFill>
            <a:srgbClr val="1B3A5C"/>
          </a:solidFill>
          <a:ln w="12700">
            <a:solidFill>
              <a:srgbClr val="2D5A8E"/>
            </a:solidFill>
            <a:prstDash val="solid"/>
          </a:ln>
        </p:spPr>
      </p:sp>
      <p:sp>
        <p:nvSpPr>
          <p:cNvPr id="24" name="Text 22"/>
          <p:cNvSpPr/>
          <p:nvPr/>
        </p:nvSpPr>
        <p:spPr>
          <a:xfrm>
            <a:off x="8183880" y="1993392"/>
            <a:ext cx="3291840" cy="475488"/>
          </a:xfrm>
          <a:prstGeom prst="rect">
            <a:avLst/>
          </a:prstGeom>
          <a:noFill/>
          <a:ln/>
        </p:spPr>
        <p:txBody>
          <a:bodyPr wrap="square" rtlCol="0" anchor="ctr"/>
          <a:lstStyle/>
          <a:p>
            <a:pPr indent="0" marL="0">
              <a:lnSpc>
                <a:spcPct val="125000"/>
              </a:lnSpc>
              <a:buNone/>
            </a:pPr>
            <a:r>
              <a:rPr lang="en-US" sz="900" dirty="0">
                <a:solidFill>
                  <a:srgbClr val="A0C4E8"/>
                </a:solidFill>
              </a:rPr>
              <a:t>→  IA de suggestion de candidats</a:t>
            </a:r>
            <a:endParaRPr lang="en-US" sz="900" dirty="0"/>
          </a:p>
        </p:txBody>
      </p:sp>
      <p:sp>
        <p:nvSpPr>
          <p:cNvPr id="25" name="Text 23"/>
          <p:cNvSpPr/>
          <p:nvPr/>
        </p:nvSpPr>
        <p:spPr>
          <a:xfrm>
            <a:off x="8183880" y="2560320"/>
            <a:ext cx="3291840" cy="475488"/>
          </a:xfrm>
          <a:prstGeom prst="rect">
            <a:avLst/>
          </a:prstGeom>
          <a:noFill/>
          <a:ln/>
        </p:spPr>
        <p:txBody>
          <a:bodyPr wrap="square" rtlCol="0" anchor="ctr"/>
          <a:lstStyle/>
          <a:p>
            <a:pPr indent="0" marL="0">
              <a:lnSpc>
                <a:spcPct val="125000"/>
              </a:lnSpc>
              <a:buNone/>
            </a:pPr>
            <a:r>
              <a:rPr lang="en-US" sz="900" dirty="0">
                <a:solidFill>
                  <a:srgbClr val="A0C4E8"/>
                </a:solidFill>
              </a:rPr>
              <a:t>→  Prédiction de fit culturel</a:t>
            </a:r>
            <a:endParaRPr lang="en-US" sz="900" dirty="0"/>
          </a:p>
        </p:txBody>
      </p:sp>
      <p:sp>
        <p:nvSpPr>
          <p:cNvPr id="26" name="Text 24"/>
          <p:cNvSpPr/>
          <p:nvPr/>
        </p:nvSpPr>
        <p:spPr>
          <a:xfrm>
            <a:off x="8183880" y="3127248"/>
            <a:ext cx="3291840" cy="475488"/>
          </a:xfrm>
          <a:prstGeom prst="rect">
            <a:avLst/>
          </a:prstGeom>
          <a:noFill/>
          <a:ln/>
        </p:spPr>
        <p:txBody>
          <a:bodyPr wrap="square" rtlCol="0" anchor="ctr"/>
          <a:lstStyle/>
          <a:p>
            <a:pPr indent="0" marL="0">
              <a:lnSpc>
                <a:spcPct val="125000"/>
              </a:lnSpc>
              <a:buNone/>
            </a:pPr>
            <a:r>
              <a:rPr lang="en-US" sz="900" dirty="0">
                <a:solidFill>
                  <a:srgbClr val="A0C4E8"/>
                </a:solidFill>
              </a:rPr>
              <a:t>→  Rapport BI avancé</a:t>
            </a:r>
            <a:endParaRPr lang="en-US" sz="900" dirty="0"/>
          </a:p>
        </p:txBody>
      </p:sp>
      <p:sp>
        <p:nvSpPr>
          <p:cNvPr id="27" name="Shape 25"/>
          <p:cNvSpPr/>
          <p:nvPr/>
        </p:nvSpPr>
        <p:spPr>
          <a:xfrm>
            <a:off x="365760" y="4069080"/>
            <a:ext cx="11430000" cy="1600200"/>
          </a:xfrm>
          <a:prstGeom prst="rect">
            <a:avLst/>
          </a:prstGeom>
          <a:solidFill>
            <a:srgbClr val="0F172A"/>
          </a:solidFill>
          <a:ln w="19050">
            <a:solidFill>
              <a:srgbClr val="1B6CA8"/>
            </a:solidFill>
            <a:prstDash val="solid"/>
          </a:ln>
        </p:spPr>
      </p:sp>
      <p:sp>
        <p:nvSpPr>
          <p:cNvPr id="28" name="Text 26"/>
          <p:cNvSpPr/>
          <p:nvPr/>
        </p:nvSpPr>
        <p:spPr>
          <a:xfrm>
            <a:off x="640080" y="4187952"/>
            <a:ext cx="10972800" cy="320040"/>
          </a:xfrm>
          <a:prstGeom prst="rect">
            <a:avLst/>
          </a:prstGeom>
          <a:noFill/>
          <a:ln/>
        </p:spPr>
        <p:txBody>
          <a:bodyPr wrap="square" rtlCol="0" anchor="ctr"/>
          <a:lstStyle/>
          <a:p>
            <a:pPr indent="0" marL="0">
              <a:buNone/>
            </a:pPr>
            <a:r>
              <a:rPr lang="en-US" sz="1200" b="1" dirty="0">
                <a:solidFill>
                  <a:srgbClr val="16A34A"/>
                </a:solidFill>
              </a:rPr>
              <a:t>En Conclusion</a:t>
            </a:r>
            <a:endParaRPr lang="en-US" sz="1200" dirty="0"/>
          </a:p>
        </p:txBody>
      </p:sp>
      <p:sp>
        <p:nvSpPr>
          <p:cNvPr id="29" name="Text 27"/>
          <p:cNvSpPr/>
          <p:nvPr/>
        </p:nvSpPr>
        <p:spPr>
          <a:xfrm>
            <a:off x="640080" y="4572000"/>
            <a:ext cx="10972800" cy="960120"/>
          </a:xfrm>
          <a:prstGeom prst="rect">
            <a:avLst/>
          </a:prstGeom>
          <a:noFill/>
          <a:ln/>
        </p:spPr>
        <p:txBody>
          <a:bodyPr wrap="square" rtlCol="0" anchor="ctr"/>
          <a:lstStyle/>
          <a:p>
            <a:pPr indent="0" marL="0">
              <a:lnSpc>
                <a:spcPct val="145000"/>
              </a:lnSpc>
              <a:buNone/>
            </a:pPr>
            <a:r>
              <a:rPr lang="en-US" sz="1050" dirty="0">
                <a:solidFill>
                  <a:srgbClr val="CBD5E1"/>
                </a:solidFill>
              </a:rPr>
              <a:t>Le Portail de Recrutement et l'Espace CVthèque de la SNH constituent une avancée majeure dans la transformation digitale RH. Ils offrent un cadre structuré, transparent et sécurisé pour attirer, évaluer et intégrer les meilleurs talents, tout en garantissant la conformité aux exigences réglementaires et la cohérence avec la stratégie de développement de l'entreprise.</a:t>
            </a:r>
            <a:endParaRPr lang="en-US" sz="1050" dirty="0"/>
          </a:p>
        </p:txBody>
      </p:sp>
      <p:sp>
        <p:nvSpPr>
          <p:cNvPr id="30" name="Shape 28"/>
          <p:cNvSpPr/>
          <p:nvPr/>
        </p:nvSpPr>
        <p:spPr>
          <a:xfrm>
            <a:off x="4023360" y="5760720"/>
            <a:ext cx="4114800" cy="502920"/>
          </a:xfrm>
          <a:prstGeom prst="roundRect">
            <a:avLst>
              <a:gd name="adj" fmla="val 10909"/>
            </a:avLst>
          </a:prstGeom>
          <a:solidFill>
            <a:srgbClr val="16A34A"/>
          </a:solidFill>
          <a:ln w="12700">
            <a:solidFill>
              <a:srgbClr val="16A34A"/>
            </a:solidFill>
            <a:prstDash val="solid"/>
          </a:ln>
        </p:spPr>
      </p:sp>
      <p:sp>
        <p:nvSpPr>
          <p:cNvPr id="31" name="Text 29"/>
          <p:cNvSpPr/>
          <p:nvPr/>
        </p:nvSpPr>
        <p:spPr>
          <a:xfrm>
            <a:off x="4023360" y="5760720"/>
            <a:ext cx="4114800" cy="502920"/>
          </a:xfrm>
          <a:prstGeom prst="rect">
            <a:avLst/>
          </a:prstGeom>
          <a:noFill/>
          <a:ln/>
        </p:spPr>
        <p:txBody>
          <a:bodyPr wrap="square" rtlCol="0" anchor="ctr"/>
          <a:lstStyle/>
          <a:p>
            <a:pPr algn="ctr" indent="0" marL="0">
              <a:buNone/>
            </a:pPr>
            <a:r>
              <a:rPr lang="en-US" sz="900" b="1" dirty="0">
                <a:solidFill>
                  <a:srgbClr val="FFFFFF"/>
                </a:solidFill>
              </a:rPr>
              <a:t>Direction des Ressources Humaines  —  SNH  |  Juillet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Société Nationale des Hydrocarbures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Portail de Recrutement SNH – Présentation Directoire</dc:title>
  <dc:subject>Système de Recrutement &amp; CVthèque</dc:subject>
  <dc:creator>PptxGenJS</dc:creator>
  <cp:lastModifiedBy>PptxGenJS</cp:lastModifiedBy>
  <cp:revision>1</cp:revision>
  <dcterms:created xsi:type="dcterms:W3CDTF">2026-07-02T14:12:49Z</dcterms:created>
  <dcterms:modified xsi:type="dcterms:W3CDTF">2026-07-02T14:12:49Z</dcterms:modified>
</cp:coreProperties>
</file>