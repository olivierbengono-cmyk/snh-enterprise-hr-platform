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SNH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C4E8"/>
                </a:solidFill>
              </a:rPr>
              <a:t>Société Nationale des Hydrocarbures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Portail de Recrutement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&amp; CVthèque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68580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74904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C4E8"/>
                </a:solidFill>
              </a:rPr>
              <a:t>Concertation DRH / DI / COM  —  Suite note 641 DRH/DI/COM du 19 juin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Direction des Ressources Humaines  |  Juillet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5166360"/>
            <a:ext cx="246888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16636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Digitalisation RH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5166360"/>
            <a:ext cx="2468880" cy="329184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516636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Recrutement Structuré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5166360"/>
            <a:ext cx="2468880" cy="329184"/>
          </a:xfrm>
          <a:prstGeom prst="roundRect">
            <a:avLst>
              <a:gd name="adj" fmla="val 16667"/>
            </a:avLst>
          </a:prstGeom>
          <a:solidFill>
            <a:srgbClr val="1A4731"/>
          </a:solidFill>
          <a:ln w="12700">
            <a:solidFill>
              <a:srgbClr val="1A47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516636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Expérience Tradex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686800" y="5166360"/>
            <a:ext cx="2468880" cy="329184"/>
          </a:xfrm>
          <a:prstGeom prst="roundRect">
            <a:avLst>
              <a:gd name="adj" fmla="val 16667"/>
            </a:avLst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516636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SIRH Intégré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CONTEXTE &amp; ORIGINE DE LA DÉMARCHE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15568" y="1508760"/>
            <a:ext cx="914" cy="749808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987552"/>
            <a:ext cx="402336" cy="40233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1005840"/>
            <a:ext cx="1920240" cy="237744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00584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6CA8"/>
                </a:solidFill>
              </a:rPr>
              <a:t>02 avril 2026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566160" y="95097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Instruction de Madame le Conseiller N°2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66160" y="1243584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Au terme de la réunion de coordination, instruction est donnée pour la tenue d'une concertation tripartite DRH / Division de la Communication (COM) / Division Informatique (DI) en vue de la mise en place d'un portail de recrutement et d'une CVthèque.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15568" y="2834640"/>
            <a:ext cx="914" cy="749808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914400" y="2313432"/>
            <a:ext cx="402336" cy="40233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0" y="2331720"/>
            <a:ext cx="1920240" cy="237744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233172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Mai – Juin 2026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66160" y="227685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Descente conjointe chez Tradex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2569464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Visite d'étude auprès de Tradex — filiale SNH déjà dotée d'une CVthèque opérationnelle. Recueil des bonnes pratiques, contraintes rencontrées et enseignements tirés. Compte rendu consigné dans la note 641 DRH/DI/COM du 19 juin 2026.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15568" y="4160520"/>
            <a:ext cx="914" cy="749808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14400" y="3639312"/>
            <a:ext cx="402336" cy="40233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3657600"/>
            <a:ext cx="1920240" cy="237744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3040" y="365760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19 juin 2026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66160" y="360273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Note 641 DRH/DI/COM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66160" y="3895344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Formalisation des conclusions de la concertation et des orientations retenues : mise en place d'un portail candidat public, d'une CVthèque intégrée au SIRH SNH et d'un module de gestion du workflow de recrutement.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14400" y="4965192"/>
            <a:ext cx="402336" cy="40233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63040" y="4983480"/>
            <a:ext cx="1920240" cy="237744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63040" y="49834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Juillet 2026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66160" y="492861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Présentation du livrable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66160" y="5221224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Démonstration du portail opérationnel développé sur la plateforme BOLT, intégrant les trois composantes : espace candidat, CVthèque et module recrutement.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2 / 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RETOUR D'EXPÉRIENCE TRADEX — DESCENTE CONJOINTE DRH/DI/COM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5394960" cy="5394960"/>
          </a:xfrm>
          <a:prstGeom prst="roundRect">
            <a:avLst>
              <a:gd name="adj" fmla="val 1695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53949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1381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🏭  Dispositif Tradex (existant)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33502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CVthèque sur tableur Excel centralisé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94360" y="192938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Dépôt de candidatures par email ou dépôt physique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5237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Suivi manuel des candidatures (registres)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3118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Absence de portail en ligne dédié aux candidats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371246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Pas de workflow formalisé ni de pipeline visible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430682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Archivage des dossiers en format papier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490118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8350F"/>
                </a:solidFill>
              </a:rPr>
              <a:t>•  Risques de perte / doublon de dossiers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804672"/>
            <a:ext cx="5760720" cy="5394960"/>
          </a:xfrm>
          <a:prstGeom prst="roundRect">
            <a:avLst>
              <a:gd name="adj" fmla="val 169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804672"/>
            <a:ext cx="5760720" cy="38404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81381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Enseignements &amp; Orientations SNH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133502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🌐  Portail public accessible 24h/24 pour les candidats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172200" y="192938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📂  CVthèque numérique intégrée au SIRH (dossier unique candidat)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72200" y="252374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🔄  Workflow de recrutement formalisé et traçable (pipeline multi-étapes)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72200" y="311810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🔔  Notifications automatiques candidats à chaque changement de statut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72200" y="371246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📊  Tableaux de bord &amp; rapports statistiques en temps réel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172200" y="430682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🔒  Sécurité des données conforme aux standards SNH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172200" y="4901184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🔗  Interconnexion avec le SIRH : conversion candidat → employé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3 / 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ESPACE CANDIDAT — PORTAIL PUBLIC DE RECRUTEMENT SNH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11338560" cy="566928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22960"/>
            <a:ext cx="11064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0C4E8"/>
                </a:solidFill>
              </a:rPr>
              <a:t>"Rejoignez la SNH — Trouvez des offres d'emploi &amp; de stage et postulez en quelques étapes"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554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121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Consultation des offres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505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Recherche par poste, mots-clés, lieu, type de contrat — mise à jour en temps réel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554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1645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80560" y="2121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Création de compte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480560" y="2505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Inscription sécurisée, profil candidat complet (identité, formations, expériences, compétences, langues)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75320" y="1554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1554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645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12480" y="2121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Candidature en ligne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12480" y="2505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Dépôt de candidature sur offre publiée ou candidature spontanée (emploi, stage académique, stage pro)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3840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3840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931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4407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Suivi en temps réel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791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Tableau de bord personnel — statut de chaque candidature, historique, notifications push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43400" y="3840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43400" y="3840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3400" y="3931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480560" y="4407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Gestion des documents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80560" y="4791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Upload CV, diplômes, CNI, attestations — alerte expiration — documents sécurisés dans le cloud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275320" y="384048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75320" y="3840480"/>
            <a:ext cx="37490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5320" y="3931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8412480" y="44074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540"/>
                </a:solidFill>
              </a:rPr>
              <a:t>Génération de CV par IA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412480" y="479145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</a:rPr>
              <a:t>CV professionnel généré automatiquement depuis le profil (2 templates SNH + amélioration par IA)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4 / 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CVTHÈQUE — BASE DE DONNÉES CANDIDATS INTÉGRÉE AU SIRH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2743200" cy="896112"/>
          </a:xfrm>
          <a:prstGeom prst="roundRect">
            <a:avLst>
              <a:gd name="adj" fmla="val 8163"/>
            </a:avLst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2296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100 %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2435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BEAFE"/>
                </a:solidFill>
              </a:rPr>
              <a:t>Numérique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337560" y="804672"/>
            <a:ext cx="2743200" cy="896112"/>
          </a:xfrm>
          <a:prstGeom prst="roundRect">
            <a:avLst>
              <a:gd name="adj" fmla="val 816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82296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Temps réel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12435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BEAFE"/>
                </a:solidFill>
              </a:rPr>
              <a:t>Mise à jour profils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63640" y="804672"/>
            <a:ext cx="2743200" cy="896112"/>
          </a:xfrm>
          <a:prstGeom prst="roundRect">
            <a:avLst>
              <a:gd name="adj" fmla="val 816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82296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Multi-critères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63640" y="12435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BEAFE"/>
                </a:solidFill>
              </a:rPr>
              <a:t>Recherche &amp; Filtres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89720" y="804672"/>
            <a:ext cx="2743200" cy="896112"/>
          </a:xfrm>
          <a:prstGeom prst="roundRect">
            <a:avLst>
              <a:gd name="adj" fmla="val 8163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82296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SIRH linked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89720" y="124358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BEAFE"/>
                </a:solidFill>
              </a:rPr>
              <a:t>Conversion Candidat → Employé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1480" y="1920240"/>
            <a:ext cx="5486400" cy="4297680"/>
          </a:xfrm>
          <a:prstGeom prst="roundRect">
            <a:avLst>
              <a:gd name="adj" fmla="val 2128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01168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6CA8"/>
                </a:solidFill>
              </a:rPr>
              <a:t>📁  Dossier Candidat (contenu)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5786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5237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Identité, photo, coordonnées, nationalité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0358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9809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Formations &amp; diplômes (niveau, établissement, pays)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34930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4381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Expériences professionnelles &amp; stages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39502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8953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Compétences techniques, soft skills, certifications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44074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3525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Langues parlées avec niveau d'évaluation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48646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8097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Documents joints (CV, diplômes, CNI, certificats…)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53218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2669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Historique des candidatures &amp; statuts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" y="5779008"/>
            <a:ext cx="128016" cy="12801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7241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2540"/>
                </a:solidFill>
              </a:rPr>
              <a:t>Score de compatibilité avec les offres (IA)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26480" y="1920240"/>
            <a:ext cx="5623560" cy="4297680"/>
          </a:xfrm>
          <a:prstGeom prst="roundRect">
            <a:avLst>
              <a:gd name="adj" fmla="val 212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201168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⚙️  Fonctions disponibles pour les RH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63640" y="24871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🔎  Recherche &amp; filtres avancés (offre, statut, diplôme, compétence, score)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63640" y="29443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📋  Fiche candidat détaillée consultable depuis l'espace RH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63640" y="34015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📊  Rapports statistiques : candidatures par offre, par période, par type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263640" y="38587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📧  Envoi de notifications/emails aux candidats depuis l'interface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63640" y="43159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⚖️  Évaluation jury et grille de notation par compétence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263640" y="47731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🔄  Changement de statut pipeline en un clic (10 étapes)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63640" y="52303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🔗  Conversion directe candidat retenu → fiche employé SIRH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263640" y="5687568"/>
            <a:ext cx="5349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2540"/>
                </a:solidFill>
              </a:rPr>
              <a:t>📑  Génération de rapports PDF/imprimables (6 modèles disponibles)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MODULE RECRUTEMENT — WORKFLOW &amp; PIPELINE DE SÉLECTION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02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Candidature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reçue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353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08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56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56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45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Tests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techniques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96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651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99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9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88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Entretien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RH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39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794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42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31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Tests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psy.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82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37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85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85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74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Visite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médicale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925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80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28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Enquête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moralité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068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23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71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71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7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60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Auth.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diplômes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211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366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14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14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8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03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Période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d'essai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354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9509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57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57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9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546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Affectation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0497312" y="125272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</a:rPr>
              <a:t>›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10652760" y="868680"/>
            <a:ext cx="1024128" cy="1188720"/>
          </a:xfrm>
          <a:prstGeom prst="roundRect">
            <a:avLst>
              <a:gd name="adj" fmla="val 5357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000232" y="923544"/>
            <a:ext cx="329184" cy="329184"/>
          </a:xfrm>
          <a:prstGeom prst="ellipse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000232" y="923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540"/>
                </a:solidFill>
              </a:rPr>
              <a:t>10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689336" y="1325880"/>
            <a:ext cx="9509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FFFFF"/>
                </a:solidFill>
              </a:rPr>
              <a:t>Titularisé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65760" y="2240280"/>
            <a:ext cx="11430000" cy="3657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5760" y="242316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249631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457200" y="28986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Gestion des offres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3227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Création d'offres structurées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57200" y="350215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(bilingue FR/EN automatique)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57200" y="37764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Dates, contrat, profil, docs requis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297680" y="242316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297680" y="249631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📨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4389120" y="28986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Demandes de recrutement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389120" y="3227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Workflow de validation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89120" y="350215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Responsable → DRH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389120" y="37764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Traçabilité complète NS-571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229600" y="242316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29600" y="249631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8321040" y="28986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Scoring &amp; Matching IA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321040" y="3227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Score de compatibilité candidat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321040" y="350215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Classement automatique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8321040" y="37764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Recommandations RH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365760" y="434340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65760" y="441655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457200" y="481888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Évaluation Jury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7200" y="51480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Grille de notation par juré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457200" y="542239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Calcul de score pondéré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457200" y="569671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Rapport d'évaluation exportable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297680" y="434340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297680" y="441655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80" name="Text 78"/>
          <p:cNvSpPr/>
          <p:nvPr/>
        </p:nvSpPr>
        <p:spPr>
          <a:xfrm>
            <a:off x="4389120" y="481888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Notifications auto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389120" y="51480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Email + notification candidat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4389120" y="542239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à chaque changement de statut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4389120" y="569671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Modèles personnalisables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8229600" y="4343400"/>
            <a:ext cx="37490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29600" y="441655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86" name="Text 84"/>
          <p:cNvSpPr/>
          <p:nvPr/>
        </p:nvSpPr>
        <p:spPr>
          <a:xfrm>
            <a:off x="8321040" y="481888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540"/>
                </a:solidFill>
              </a:rPr>
              <a:t>Rapports &amp; Statistiques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8321040" y="514807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6 rapports PDF/Excel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321040" y="542239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Tableaux de bord temps réel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8321040" y="569671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Historique candidatures complet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1338560" cy="6400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10896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6CA8"/>
                </a:solidFill>
              </a:rPr>
              <a:t>BESOINS — DÉPLOIEMENT &amp; PLAN DE FORMATION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804672"/>
            <a:ext cx="5440680" cy="5486400"/>
          </a:xfrm>
          <a:prstGeom prst="roundRect">
            <a:avLst>
              <a:gd name="adj" fmla="val 16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804672"/>
            <a:ext cx="5440680" cy="40233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813816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🚀  Besoins de déploiement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3533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CA8"/>
                </a:solidFill>
              </a:rPr>
              <a:t>Infrastructure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45920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Nom de domaine dédié (ex : recrutement.snh.cm)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594360" y="1956816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Hébergement sécurisé (Supabase Cloud — données en zone EU)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594360" y="226771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Certificat SSL &amp; politique de sauvegarde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594360" y="267004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CA8"/>
                </a:solidFill>
              </a:rPr>
              <a:t>Intégration SIRH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962656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Lien avec la base employés (conversion candidat → employé)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594360" y="327355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Synchronisation des postes / organigramme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Accès depuis le portail employé SNH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594360" y="398678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CA8"/>
                </a:solidFill>
              </a:rPr>
              <a:t>Communication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427939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Campagne de communication externe (candidats)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94360" y="4590288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Guide utilisateur candidat (FR + EN)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94360" y="490118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Charte graphique SNH appliquée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94360" y="530352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CA8"/>
                </a:solidFill>
              </a:rPr>
              <a:t>Administration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" y="5596128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Paramétrage des rôles (DRH, Recruteur, Jury, Admin)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594360" y="590702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Création des premiers comptes utilisateurs RH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594360" y="6217920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0A2540"/>
                </a:solidFill>
              </a:rPr>
              <a:t>   • Procédures internes de gestion des candidatures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035040" y="804672"/>
            <a:ext cx="5760720" cy="5486400"/>
          </a:xfrm>
          <a:prstGeom prst="roundRect">
            <a:avLst>
              <a:gd name="adj" fmla="val 1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35040" y="804672"/>
            <a:ext cx="5760720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813816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🎓  Plan de Formation — Offre BOLT en Présentiel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1353312"/>
            <a:ext cx="5577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1426464"/>
            <a:ext cx="5303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Formation BOLT — Prise en main de la plateforme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63640" y="175564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📅  Septembre ou Octobre 2026  |  En présentiel  |  Public : Informaticiens du projet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63640" y="20482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Durée estimée : 2 jours  |  Format : Atelier pratique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2340864"/>
            <a:ext cx="5303520" cy="27432"/>
          </a:xfrm>
          <a:prstGeom prst="rect">
            <a:avLst/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63640" y="2395728"/>
            <a:ext cx="5303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66534"/>
                </a:solidFill>
              </a:rPr>
              <a:t>À confirmer avec BOLT — planification à lancer dès validation de la présente note.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72200" y="29443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Modules de formation recommandés :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26480" y="3291840"/>
            <a:ext cx="55778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31927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75120" y="331927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540"/>
                </a:solidFill>
              </a:rPr>
              <a:t>Administration de la plateforme BOLT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75120" y="35753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Gestion des environnements, déploiements, variables d'environnement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126480" y="4041648"/>
            <a:ext cx="55778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4069080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675120" y="406908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540"/>
                </a:solidFill>
              </a:rPr>
              <a:t>Base de données Supabase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675120" y="432511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Structure des tables, politiques RLS, migrations SQL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26480" y="4791456"/>
            <a:ext cx="55778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4818888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🔌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675120" y="481888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540"/>
                </a:solidFill>
              </a:rPr>
              <a:t>Edge Functions &amp; API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0" y="50749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Fonctions serverless, intégrations externes, webhooks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0" y="5541264"/>
            <a:ext cx="55778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72200" y="5568696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675120" y="556869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2540"/>
                </a:solidFill>
              </a:rPr>
              <a:t>Sécurité &amp; Authentification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675120" y="582472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</a:rPr>
              <a:t>Gestion des rôles, SSO, audit des accès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810512"/>
          </a:xfrm>
          <a:prstGeom prst="rect">
            <a:avLst/>
          </a:prstGeom>
          <a:solidFill>
            <a:srgbClr val="0D2D4F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288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657600"/>
            <a:ext cx="2450592" cy="1810512"/>
          </a:xfrm>
          <a:prstGeom prst="rect">
            <a:avLst/>
          </a:prstGeom>
          <a:solidFill>
            <a:srgbClr val="0D2D4F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4864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68880" y="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80" y="18288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6576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54864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18288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36576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37760" y="54864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18288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36576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54864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75520" y="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0" y="18288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75520" y="36576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5520" y="5486400"/>
            <a:ext cx="2450592" cy="1810512"/>
          </a:xfrm>
          <a:prstGeom prst="rect">
            <a:avLst/>
          </a:prstGeom>
          <a:solidFill>
            <a:srgbClr val="0A254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61929"/>
          </a:solidFill>
          <a:ln w="12700">
            <a:solidFill>
              <a:srgbClr val="06192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Perspectives — Digitalisation Complète des Ressources Humaines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200" y="713232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0C4E8"/>
                </a:solidFill>
              </a:rPr>
              <a:t>Le Portail Recrutement s'inscrit dans la trajectoire de matérialisation du SIRH SNH — déjà en cours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137160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137160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148132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38912" y="19202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Espace Employé Digital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8912" y="230428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Portail employé opérationnel : fiches de paie, congés, formation, profil RH — accessible depuis le navigateur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76072" y="329184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29184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Opérationnel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337560" y="137160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37560" y="137160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37560" y="148132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429000" y="19202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Paie &amp; Éléments variables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429000" y="230428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Gestion de la paie automatisée : calcul des éléments, édition des bulletins, déclarations sociales et fiscales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566160" y="329184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329184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Opérationnel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327648" y="137160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137160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148132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419088" y="19202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Performance &amp; OKR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19088" y="230428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Évaluations annuelles, objectifs OKR, plans de développement, feedback 360° — entièrement dématérialisés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556248" y="329184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56248" y="329184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Opérationnel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317736" y="137160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317736" y="137160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317736" y="148132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🏥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409176" y="19202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QVCT &amp; Bien-être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409176" y="230428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Module QVCT : discussions collaboratives, enquêtes bien-être, suivi des indicateurs QVCT, analyses 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546336" y="329184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46336" y="329184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Opérationnel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47472" y="384048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7472" y="3840480"/>
            <a:ext cx="283464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395020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8912" y="43891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Formation &amp; Compétences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38912" y="477316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Plan de formation, catalogue de compétences, matrice compétences/postes, suivi des parcours de développement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576072" y="576072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" y="576072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Opérationnel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337560" y="384048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37560" y="3840480"/>
            <a:ext cx="283464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37560" y="395020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🔵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3429000" y="43891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Recrutement &amp; CVthèque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429000" y="477316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Portail candidat public, CVthèque intégrée, pipeline de sélection complet — objet de la présente note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566160" y="576072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566160" y="576072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Déploiement en cours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327648" y="384048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27648" y="3840480"/>
            <a:ext cx="2834640" cy="54864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27648" y="395020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70" name="Text 68"/>
          <p:cNvSpPr/>
          <p:nvPr/>
        </p:nvSpPr>
        <p:spPr>
          <a:xfrm>
            <a:off x="6419088" y="43891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Interconnexion ERP / Paie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6419088" y="477316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Passerelle vers les systèmes de paie existants : transfert automatique des éléments variables depuis le SIRH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556248" y="576072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556248" y="576072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Prévu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9317736" y="3840480"/>
            <a:ext cx="2834640" cy="2267712"/>
          </a:xfrm>
          <a:prstGeom prst="roundRect">
            <a:avLst>
              <a:gd name="adj" fmla="val 4032"/>
            </a:avLst>
          </a:prstGeom>
          <a:solidFill>
            <a:srgbClr val="0D2D4F"/>
          </a:solidFill>
          <a:ln w="12700">
            <a:solidFill>
              <a:srgbClr val="1E4A7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17736" y="3840480"/>
            <a:ext cx="2834640" cy="54864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317736" y="395020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77" name="Text 75"/>
          <p:cNvSpPr/>
          <p:nvPr/>
        </p:nvSpPr>
        <p:spPr>
          <a:xfrm>
            <a:off x="9409176" y="43891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SSO &amp; Sécurité centralisée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9409176" y="4773168"/>
            <a:ext cx="265176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</a:rPr>
              <a:t>Authentification unique (SSO) pour tous les modules RH, gestion fine des rôles et droits d'accès par entité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9546336" y="5760720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0D2D4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546336" y="5760720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Prévu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SNH — DRH/DI/COM  |  Note 641 du 19 juin 2026  |  Confidentiel  |  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Société Nationale des Hydrocarbures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Portail de Recrutement SNH – Note 641 DRH/DI/COM</dc:title>
  <dc:subject>CVthèque &amp; Module Recrutement</dc:subject>
  <dc:creator>PptxGenJS</dc:creator>
  <cp:lastModifiedBy>PptxGenJS</cp:lastModifiedBy>
  <cp:revision>1</cp:revision>
  <dcterms:created xsi:type="dcterms:W3CDTF">2026-07-03T07:24:19Z</dcterms:created>
  <dcterms:modified xsi:type="dcterms:W3CDTF">2026-07-03T07:24:19Z</dcterms:modified>
</cp:coreProperties>
</file>