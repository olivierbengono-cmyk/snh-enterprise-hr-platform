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3657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SNH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1024128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0C4E8"/>
                </a:solidFill>
              </a:rPr>
              <a:t>Societe Nationale des Hydrocarbures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783080"/>
            <a:ext cx="1097280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4000" b="1" dirty="0">
                <a:solidFill>
                  <a:srgbClr val="FFFFFF"/>
                </a:solidFill>
              </a:rPr>
              <a:t>Perspectives</a:t>
            </a:r>
            <a:endParaRPr lang="en-US" sz="4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4000" b="1" dirty="0">
                <a:solidFill>
                  <a:srgbClr val="FFFFFF"/>
                </a:solidFill>
              </a:rPr>
              <a:t>&amp; Prochaines Etapes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457200" y="3639312"/>
            <a:ext cx="6400800" cy="45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37947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0C4E8"/>
                </a:solidFill>
              </a:rPr>
              <a:t>A la suite des echanges du Directoire  -  DRH/DI/COM  |  Juillet 2026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4462272"/>
            <a:ext cx="11247120" cy="804672"/>
          </a:xfrm>
          <a:prstGeom prst="roundRect">
            <a:avLst>
              <a:gd name="adj" fmla="val 9091"/>
            </a:avLst>
          </a:prstGeom>
          <a:solidFill>
            <a:srgbClr val="0D2D4F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1792" y="4663440"/>
            <a:ext cx="402336" cy="402336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" y="466344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2540"/>
                </a:solidFill>
              </a:rPr>
              <a:t>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152144" y="4553712"/>
            <a:ext cx="10332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Workflow de Recrutement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52144" y="4864608"/>
            <a:ext cx="10332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97706"/>
                </a:solidFill>
              </a:rPr>
              <a:t>Module a deployer en priorite - processus complet de A a Z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5449824"/>
            <a:ext cx="11247120" cy="804672"/>
          </a:xfrm>
          <a:prstGeom prst="roundRect">
            <a:avLst>
              <a:gd name="adj" fmla="val 9091"/>
            </a:avLst>
          </a:prstGeom>
          <a:solidFill>
            <a:srgbClr val="0D2D4F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1792" y="5650992"/>
            <a:ext cx="402336" cy="402336"/>
          </a:xfrm>
          <a:prstGeom prst="ellipse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" y="565099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2540"/>
                </a:solidFill>
              </a:rPr>
              <a:t>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152144" y="5541264"/>
            <a:ext cx="10332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SIRH SNH - Modules complementaires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52144" y="5852160"/>
            <a:ext cx="10332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B6CA8"/>
                </a:solidFill>
              </a:rPr>
              <a:t>Feuille de route digitalisation RH 2026-2027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0" y="6492240"/>
            <a:ext cx="12188952" cy="27432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6537960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SNH - DRH  |  Perspectives 2026-2027  |  Confidentiel  |  1 / 4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01168"/>
            <a:ext cx="11338560" cy="640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10896"/>
            <a:ext cx="11338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97706"/>
                </a:solidFill>
              </a:rPr>
              <a:t>WORKFLOW DE RECRUTEMENT - PROCESSUS EN 10 ETAPES (NS 193 / NS 571)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11480" y="786384"/>
            <a:ext cx="11338560" cy="365760"/>
          </a:xfrm>
          <a:prstGeom prst="roundRect">
            <a:avLst>
              <a:gd name="adj" fmla="val 12500"/>
            </a:avLst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804672"/>
            <a:ext cx="11064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A0C4E8"/>
                </a:solidFill>
              </a:rPr>
              <a:t>Depuis la Demande de Recrutement jusqu'a la Titularisation - tracabilite complete, notifications automatiques, integration CVtheque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11480" y="1261872"/>
            <a:ext cx="2194560" cy="2139696"/>
          </a:xfrm>
          <a:prstGeom prst="roundRect">
            <a:avLst>
              <a:gd name="adj" fmla="val 4274"/>
            </a:avLst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84632" y="1335024"/>
            <a:ext cx="402336" cy="256032"/>
          </a:xfrm>
          <a:prstGeom prst="roundRect">
            <a:avLst>
              <a:gd name="adj" fmla="val 14286"/>
            </a:avLst>
          </a:prstGeom>
          <a:solidFill>
            <a:srgbClr val="1A2A3A"/>
          </a:solidFill>
          <a:ln w="12700">
            <a:solidFill>
              <a:srgbClr val="2A3A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" y="1335024"/>
            <a:ext cx="4023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01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502920" y="173736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FFFFFF"/>
                </a:solidFill>
              </a:rPr>
              <a:t>Demande de</a:t>
            </a:r>
            <a:endParaRPr lang="en-US" sz="10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FFFFFF"/>
                </a:solidFill>
              </a:rPr>
              <a:t>recrutement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39496" y="2889504"/>
            <a:ext cx="1938528" cy="274320"/>
          </a:xfrm>
          <a:prstGeom prst="roundRect">
            <a:avLst>
              <a:gd name="adj" fmla="val 13333"/>
            </a:avLst>
          </a:prstGeom>
          <a:solidFill>
            <a:srgbClr val="1A2A3A"/>
          </a:solidFill>
          <a:ln w="12700">
            <a:solidFill>
              <a:srgbClr val="2A3A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9496" y="2889504"/>
            <a:ext cx="19385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D1D5DB"/>
                </a:solidFill>
              </a:rPr>
              <a:t>NS 193 / NS 571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2532888" y="2121408"/>
            <a:ext cx="2926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4748B"/>
                </a:solidFill>
              </a:rPr>
              <a:t>-&gt;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752344" y="1261872"/>
            <a:ext cx="2194560" cy="2139696"/>
          </a:xfrm>
          <a:prstGeom prst="roundRect">
            <a:avLst>
              <a:gd name="adj" fmla="val 4274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825496" y="1335024"/>
            <a:ext cx="402336" cy="256032"/>
          </a:xfrm>
          <a:prstGeom prst="roundRect">
            <a:avLst>
              <a:gd name="adj" fmla="val 14286"/>
            </a:avLst>
          </a:prstGeom>
          <a:solidFill>
            <a:srgbClr val="1A2A3A"/>
          </a:solidFill>
          <a:ln w="12700">
            <a:solidFill>
              <a:srgbClr val="2A3A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825496" y="1335024"/>
            <a:ext cx="4023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02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2843784" y="173736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FFFFFF"/>
                </a:solidFill>
              </a:rPr>
              <a:t>Preselection</a:t>
            </a:r>
            <a:endParaRPr lang="en-US" sz="10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FFFFFF"/>
                </a:solidFill>
              </a:rPr>
              <a:t>CV &amp; dossiers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880360" y="2889504"/>
            <a:ext cx="1938528" cy="274320"/>
          </a:xfrm>
          <a:prstGeom prst="roundRect">
            <a:avLst>
              <a:gd name="adj" fmla="val 13333"/>
            </a:avLst>
          </a:prstGeom>
          <a:solidFill>
            <a:srgbClr val="1A2A3A"/>
          </a:solidFill>
          <a:ln w="12700">
            <a:solidFill>
              <a:srgbClr val="2A3A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880360" y="2889504"/>
            <a:ext cx="19385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D1D5DB"/>
                </a:solidFill>
              </a:rPr>
              <a:t>Score IA CVtheque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4873752" y="2121408"/>
            <a:ext cx="2926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4748B"/>
                </a:solidFill>
              </a:rPr>
              <a:t>-&gt;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093208" y="1261872"/>
            <a:ext cx="2194560" cy="2139696"/>
          </a:xfrm>
          <a:prstGeom prst="roundRect">
            <a:avLst>
              <a:gd name="adj" fmla="val 4274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166360" y="1335024"/>
            <a:ext cx="402336" cy="256032"/>
          </a:xfrm>
          <a:prstGeom prst="roundRect">
            <a:avLst>
              <a:gd name="adj" fmla="val 14286"/>
            </a:avLst>
          </a:prstGeom>
          <a:solidFill>
            <a:srgbClr val="1A2A3A"/>
          </a:solidFill>
          <a:ln w="12700">
            <a:solidFill>
              <a:srgbClr val="2A3A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66360" y="1335024"/>
            <a:ext cx="4023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03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5184648" y="173736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FFFFFF"/>
                </a:solidFill>
              </a:rPr>
              <a:t>Tests</a:t>
            </a:r>
            <a:endParaRPr lang="en-US" sz="10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FFFFFF"/>
                </a:solidFill>
              </a:rPr>
              <a:t>techniques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221224" y="2889504"/>
            <a:ext cx="1938528" cy="274320"/>
          </a:xfrm>
          <a:prstGeom prst="roundRect">
            <a:avLst>
              <a:gd name="adj" fmla="val 13333"/>
            </a:avLst>
          </a:prstGeom>
          <a:solidFill>
            <a:srgbClr val="1A2A3A"/>
          </a:solidFill>
          <a:ln w="12700">
            <a:solidFill>
              <a:srgbClr val="2A3A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221224" y="2889504"/>
            <a:ext cx="19385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D1D5DB"/>
                </a:solidFill>
              </a:rPr>
              <a:t>Evaluation competences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7214616" y="2121408"/>
            <a:ext cx="2926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4748B"/>
                </a:solidFill>
              </a:rPr>
              <a:t>-&gt;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7434072" y="1261872"/>
            <a:ext cx="2194560" cy="2139696"/>
          </a:xfrm>
          <a:prstGeom prst="roundRect">
            <a:avLst>
              <a:gd name="adj" fmla="val 4274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507224" y="1335024"/>
            <a:ext cx="402336" cy="256032"/>
          </a:xfrm>
          <a:prstGeom prst="roundRect">
            <a:avLst>
              <a:gd name="adj" fmla="val 14286"/>
            </a:avLst>
          </a:prstGeom>
          <a:solidFill>
            <a:srgbClr val="1A2A3A"/>
          </a:solidFill>
          <a:ln w="12700">
            <a:solidFill>
              <a:srgbClr val="2A3A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507224" y="1335024"/>
            <a:ext cx="4023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04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7525512" y="173736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FFFFFF"/>
                </a:solidFill>
              </a:rPr>
              <a:t>Entretien</a:t>
            </a:r>
            <a:endParaRPr lang="en-US" sz="10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FFFFFF"/>
                </a:solidFill>
              </a:rPr>
              <a:t>RH / Jury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7562088" y="2889504"/>
            <a:ext cx="1938528" cy="274320"/>
          </a:xfrm>
          <a:prstGeom prst="roundRect">
            <a:avLst>
              <a:gd name="adj" fmla="val 13333"/>
            </a:avLst>
          </a:prstGeom>
          <a:solidFill>
            <a:srgbClr val="1A2A3A"/>
          </a:solidFill>
          <a:ln w="12700">
            <a:solidFill>
              <a:srgbClr val="2A3A4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62088" y="2889504"/>
            <a:ext cx="19385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D1D5DB"/>
                </a:solidFill>
              </a:rPr>
              <a:t>Grille evaluation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9555480" y="2121408"/>
            <a:ext cx="2926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4748B"/>
                </a:solidFill>
              </a:rPr>
              <a:t>-&gt;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9774936" y="1261872"/>
            <a:ext cx="2194560" cy="2139696"/>
          </a:xfrm>
          <a:prstGeom prst="roundRect">
            <a:avLst>
              <a:gd name="adj" fmla="val 4274"/>
            </a:avLst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848088" y="1335024"/>
            <a:ext cx="402336" cy="256032"/>
          </a:xfrm>
          <a:prstGeom prst="roundRect">
            <a:avLst>
              <a:gd name="adj" fmla="val 14286"/>
            </a:avLst>
          </a:prstGeom>
          <a:solidFill>
            <a:srgbClr val="1A2A3A"/>
          </a:solidFill>
          <a:ln w="12700">
            <a:solidFill>
              <a:srgbClr val="2A3A4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848088" y="1335024"/>
            <a:ext cx="4023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05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9866376" y="173736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FFFFFF"/>
                </a:solidFill>
              </a:rPr>
              <a:t>Tests</a:t>
            </a:r>
            <a:endParaRPr lang="en-US" sz="10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FFFFFF"/>
                </a:solidFill>
              </a:rPr>
              <a:t>psychotechniques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9902952" y="2889504"/>
            <a:ext cx="1938528" cy="274320"/>
          </a:xfrm>
          <a:prstGeom prst="roundRect">
            <a:avLst>
              <a:gd name="adj" fmla="val 13333"/>
            </a:avLst>
          </a:prstGeom>
          <a:solidFill>
            <a:srgbClr val="1A2A3A"/>
          </a:solidFill>
          <a:ln w="12700">
            <a:solidFill>
              <a:srgbClr val="2A3A4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902952" y="2889504"/>
            <a:ext cx="19385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D1D5DB"/>
                </a:solidFill>
              </a:rPr>
              <a:t>Aptitudes &amp; personnalite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411480" y="3749040"/>
            <a:ext cx="2194560" cy="2139696"/>
          </a:xfrm>
          <a:prstGeom prst="roundRect">
            <a:avLst>
              <a:gd name="adj" fmla="val 4274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84632" y="3822192"/>
            <a:ext cx="402336" cy="256032"/>
          </a:xfrm>
          <a:prstGeom prst="roundRect">
            <a:avLst>
              <a:gd name="adj" fmla="val 14286"/>
            </a:avLst>
          </a:prstGeom>
          <a:solidFill>
            <a:srgbClr val="1A2A3A"/>
          </a:solidFill>
          <a:ln w="12700">
            <a:solidFill>
              <a:srgbClr val="2A3A4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4632" y="3822192"/>
            <a:ext cx="4023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06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502920" y="4224528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FFFFFF"/>
                </a:solidFill>
              </a:rPr>
              <a:t>Visite</a:t>
            </a:r>
            <a:endParaRPr lang="en-US" sz="10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FFFFFF"/>
                </a:solidFill>
              </a:rPr>
              <a:t>medicale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539496" y="5376672"/>
            <a:ext cx="1938528" cy="274320"/>
          </a:xfrm>
          <a:prstGeom prst="roundRect">
            <a:avLst>
              <a:gd name="adj" fmla="val 13333"/>
            </a:avLst>
          </a:prstGeom>
          <a:solidFill>
            <a:srgbClr val="1A2A3A"/>
          </a:solidFill>
          <a:ln w="12700">
            <a:solidFill>
              <a:srgbClr val="2A3A4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39496" y="5376672"/>
            <a:ext cx="19385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D1D5DB"/>
                </a:solidFill>
              </a:rPr>
              <a:t>Aptitude physique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2532888" y="4608576"/>
            <a:ext cx="2926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4748B"/>
                </a:solidFill>
              </a:rPr>
              <a:t>-&gt;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2752344" y="3749040"/>
            <a:ext cx="2194560" cy="2139696"/>
          </a:xfrm>
          <a:prstGeom prst="roundRect">
            <a:avLst>
              <a:gd name="adj" fmla="val 4274"/>
            </a:avLst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825496" y="3822192"/>
            <a:ext cx="402336" cy="256032"/>
          </a:xfrm>
          <a:prstGeom prst="roundRect">
            <a:avLst>
              <a:gd name="adj" fmla="val 14286"/>
            </a:avLst>
          </a:prstGeom>
          <a:solidFill>
            <a:srgbClr val="1A2A3A"/>
          </a:solidFill>
          <a:ln w="12700">
            <a:solidFill>
              <a:srgbClr val="2A3A4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825496" y="3822192"/>
            <a:ext cx="4023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07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2843784" y="4224528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FFFFFF"/>
                </a:solidFill>
              </a:rPr>
              <a:t>Enquete de</a:t>
            </a:r>
            <a:endParaRPr lang="en-US" sz="10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FFFFFF"/>
                </a:solidFill>
              </a:rPr>
              <a:t>moralite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2880360" y="5376672"/>
            <a:ext cx="1938528" cy="274320"/>
          </a:xfrm>
          <a:prstGeom prst="roundRect">
            <a:avLst>
              <a:gd name="adj" fmla="val 13333"/>
            </a:avLst>
          </a:prstGeom>
          <a:solidFill>
            <a:srgbClr val="1A2A3A"/>
          </a:solidFill>
          <a:ln w="12700">
            <a:solidFill>
              <a:srgbClr val="2A3A4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880360" y="5376672"/>
            <a:ext cx="19385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D1D5DB"/>
                </a:solidFill>
              </a:rPr>
              <a:t>Verification antecedents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4873752" y="4608576"/>
            <a:ext cx="2926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4748B"/>
                </a:solidFill>
              </a:rPr>
              <a:t>-&gt;</a:t>
            </a:r>
            <a:endParaRPr lang="en-US" sz="1400" dirty="0"/>
          </a:p>
        </p:txBody>
      </p:sp>
      <p:sp>
        <p:nvSpPr>
          <p:cNvPr id="54" name="Shape 52"/>
          <p:cNvSpPr/>
          <p:nvPr/>
        </p:nvSpPr>
        <p:spPr>
          <a:xfrm>
            <a:off x="5093208" y="3749040"/>
            <a:ext cx="2194560" cy="2139696"/>
          </a:xfrm>
          <a:prstGeom prst="roundRect">
            <a:avLst>
              <a:gd name="adj" fmla="val 4274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5166360" y="3822192"/>
            <a:ext cx="402336" cy="256032"/>
          </a:xfrm>
          <a:prstGeom prst="roundRect">
            <a:avLst>
              <a:gd name="adj" fmla="val 14286"/>
            </a:avLst>
          </a:prstGeom>
          <a:solidFill>
            <a:srgbClr val="1A2A3A"/>
          </a:solidFill>
          <a:ln w="12700">
            <a:solidFill>
              <a:srgbClr val="2A3A4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166360" y="3822192"/>
            <a:ext cx="4023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08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5184648" y="4224528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FFFFFF"/>
                </a:solidFill>
              </a:rPr>
              <a:t>Authentification</a:t>
            </a:r>
            <a:endParaRPr lang="en-US" sz="10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FFFFFF"/>
                </a:solidFill>
              </a:rPr>
              <a:t>diplomes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5221224" y="5376672"/>
            <a:ext cx="1938528" cy="274320"/>
          </a:xfrm>
          <a:prstGeom prst="roundRect">
            <a:avLst>
              <a:gd name="adj" fmla="val 13333"/>
            </a:avLst>
          </a:prstGeom>
          <a:solidFill>
            <a:srgbClr val="1A2A3A"/>
          </a:solidFill>
          <a:ln w="12700">
            <a:solidFill>
              <a:srgbClr val="2A3A4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221224" y="5376672"/>
            <a:ext cx="19385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D1D5DB"/>
                </a:solidFill>
              </a:rPr>
              <a:t>Verification originaux</a:t>
            </a:r>
            <a:endParaRPr lang="en-US" sz="750" dirty="0"/>
          </a:p>
        </p:txBody>
      </p:sp>
      <p:sp>
        <p:nvSpPr>
          <p:cNvPr id="60" name="Text 58"/>
          <p:cNvSpPr/>
          <p:nvPr/>
        </p:nvSpPr>
        <p:spPr>
          <a:xfrm>
            <a:off x="7214616" y="4608576"/>
            <a:ext cx="2926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4748B"/>
                </a:solidFill>
              </a:rPr>
              <a:t>-&gt;</a:t>
            </a:r>
            <a:endParaRPr lang="en-US" sz="1400" dirty="0"/>
          </a:p>
        </p:txBody>
      </p:sp>
      <p:sp>
        <p:nvSpPr>
          <p:cNvPr id="61" name="Shape 59"/>
          <p:cNvSpPr/>
          <p:nvPr/>
        </p:nvSpPr>
        <p:spPr>
          <a:xfrm>
            <a:off x="7434072" y="3749040"/>
            <a:ext cx="2194560" cy="2139696"/>
          </a:xfrm>
          <a:prstGeom prst="roundRect">
            <a:avLst>
              <a:gd name="adj" fmla="val 4274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7507224" y="3822192"/>
            <a:ext cx="402336" cy="256032"/>
          </a:xfrm>
          <a:prstGeom prst="roundRect">
            <a:avLst>
              <a:gd name="adj" fmla="val 14286"/>
            </a:avLst>
          </a:prstGeom>
          <a:solidFill>
            <a:srgbClr val="1A2A3A"/>
          </a:solidFill>
          <a:ln w="12700">
            <a:solidFill>
              <a:srgbClr val="2A3A4A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507224" y="3822192"/>
            <a:ext cx="4023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09</a:t>
            </a:r>
            <a:endParaRPr lang="en-US" sz="850" dirty="0"/>
          </a:p>
        </p:txBody>
      </p:sp>
      <p:sp>
        <p:nvSpPr>
          <p:cNvPr id="64" name="Text 62"/>
          <p:cNvSpPr/>
          <p:nvPr/>
        </p:nvSpPr>
        <p:spPr>
          <a:xfrm>
            <a:off x="7525512" y="4224528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FFFFFF"/>
                </a:solidFill>
              </a:rPr>
              <a:t>Periode</a:t>
            </a:r>
            <a:endParaRPr lang="en-US" sz="10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FFFFFF"/>
                </a:solidFill>
              </a:rPr>
              <a:t>d'essai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7562088" y="5376672"/>
            <a:ext cx="1938528" cy="274320"/>
          </a:xfrm>
          <a:prstGeom prst="roundRect">
            <a:avLst>
              <a:gd name="adj" fmla="val 13333"/>
            </a:avLst>
          </a:prstGeom>
          <a:solidFill>
            <a:srgbClr val="1A2A3A"/>
          </a:solidFill>
          <a:ln w="12700">
            <a:solidFill>
              <a:srgbClr val="2A3A4A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562088" y="5376672"/>
            <a:ext cx="19385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D1D5DB"/>
                </a:solidFill>
              </a:rPr>
              <a:t>Integration progressive</a:t>
            </a:r>
            <a:endParaRPr lang="en-US" sz="750" dirty="0"/>
          </a:p>
        </p:txBody>
      </p:sp>
      <p:sp>
        <p:nvSpPr>
          <p:cNvPr id="67" name="Text 65"/>
          <p:cNvSpPr/>
          <p:nvPr/>
        </p:nvSpPr>
        <p:spPr>
          <a:xfrm>
            <a:off x="9555480" y="4608576"/>
            <a:ext cx="2926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4748B"/>
                </a:solidFill>
              </a:rPr>
              <a:t>-&gt;</a:t>
            </a:r>
            <a:endParaRPr lang="en-US" sz="1400" dirty="0"/>
          </a:p>
        </p:txBody>
      </p:sp>
      <p:sp>
        <p:nvSpPr>
          <p:cNvPr id="68" name="Shape 66"/>
          <p:cNvSpPr/>
          <p:nvPr/>
        </p:nvSpPr>
        <p:spPr>
          <a:xfrm>
            <a:off x="9774936" y="3749040"/>
            <a:ext cx="2194560" cy="2139696"/>
          </a:xfrm>
          <a:prstGeom prst="roundRect">
            <a:avLst>
              <a:gd name="adj" fmla="val 4274"/>
            </a:avLst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9848088" y="3822192"/>
            <a:ext cx="402336" cy="256032"/>
          </a:xfrm>
          <a:prstGeom prst="roundRect">
            <a:avLst>
              <a:gd name="adj" fmla="val 14286"/>
            </a:avLst>
          </a:prstGeom>
          <a:solidFill>
            <a:srgbClr val="1A2A3A"/>
          </a:solidFill>
          <a:ln w="12700">
            <a:solidFill>
              <a:srgbClr val="2A3A4A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9848088" y="3822192"/>
            <a:ext cx="4023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10</a:t>
            </a:r>
            <a:endParaRPr lang="en-US" sz="850" dirty="0"/>
          </a:p>
        </p:txBody>
      </p:sp>
      <p:sp>
        <p:nvSpPr>
          <p:cNvPr id="71" name="Text 69"/>
          <p:cNvSpPr/>
          <p:nvPr/>
        </p:nvSpPr>
        <p:spPr>
          <a:xfrm>
            <a:off x="9866376" y="4224528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FFFFFF"/>
                </a:solidFill>
              </a:rPr>
              <a:t>Titularisation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9902952" y="5376672"/>
            <a:ext cx="1938528" cy="274320"/>
          </a:xfrm>
          <a:prstGeom prst="roundRect">
            <a:avLst>
              <a:gd name="adj" fmla="val 13333"/>
            </a:avLst>
          </a:prstGeom>
          <a:solidFill>
            <a:srgbClr val="1A2A3A"/>
          </a:solidFill>
          <a:ln w="12700">
            <a:solidFill>
              <a:srgbClr val="2A3A4A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9902952" y="5376672"/>
            <a:ext cx="19385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D1D5DB"/>
                </a:solidFill>
              </a:rPr>
              <a:t>Integration SIRH</a:t>
            </a:r>
            <a:endParaRPr lang="en-US" sz="750" dirty="0"/>
          </a:p>
        </p:txBody>
      </p:sp>
      <p:sp>
        <p:nvSpPr>
          <p:cNvPr id="74" name="Shape 72"/>
          <p:cNvSpPr/>
          <p:nvPr/>
        </p:nvSpPr>
        <p:spPr>
          <a:xfrm>
            <a:off x="411480" y="5742432"/>
            <a:ext cx="11338560" cy="566928"/>
          </a:xfrm>
          <a:prstGeom prst="roundRect">
            <a:avLst>
              <a:gd name="adj" fmla="val 12903"/>
            </a:avLst>
          </a:prstGeom>
          <a:solidFill>
            <a:srgbClr val="0A2540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548640" y="5797296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0C4E8"/>
                </a:solidFill>
              </a:rPr>
              <a:t>Tracabilite complete</a:t>
            </a:r>
            <a:endParaRPr lang="en-US" sz="900" dirty="0"/>
          </a:p>
        </p:txBody>
      </p:sp>
      <p:sp>
        <p:nvSpPr>
          <p:cNvPr id="76" name="Text 74"/>
          <p:cNvSpPr/>
          <p:nvPr/>
        </p:nvSpPr>
        <p:spPr>
          <a:xfrm>
            <a:off x="2816352" y="5797296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0C4E8"/>
                </a:solidFill>
              </a:rPr>
              <a:t>Notifications candidat</a:t>
            </a:r>
            <a:endParaRPr lang="en-US" sz="900" dirty="0"/>
          </a:p>
        </p:txBody>
      </p:sp>
      <p:sp>
        <p:nvSpPr>
          <p:cNvPr id="77" name="Text 75"/>
          <p:cNvSpPr/>
          <p:nvPr/>
        </p:nvSpPr>
        <p:spPr>
          <a:xfrm>
            <a:off x="5084064" y="5797296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0C4E8"/>
                </a:solidFill>
              </a:rPr>
              <a:t>Dashboard temps reel</a:t>
            </a:r>
            <a:endParaRPr lang="en-US" sz="900" dirty="0"/>
          </a:p>
        </p:txBody>
      </p:sp>
      <p:sp>
        <p:nvSpPr>
          <p:cNvPr id="78" name="Text 76"/>
          <p:cNvSpPr/>
          <p:nvPr/>
        </p:nvSpPr>
        <p:spPr>
          <a:xfrm>
            <a:off x="7351776" y="5797296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0C4E8"/>
                </a:solidFill>
              </a:rPr>
              <a:t>Lie a la CVtheque</a:t>
            </a:r>
            <a:endParaRPr lang="en-US" sz="900" dirty="0"/>
          </a:p>
        </p:txBody>
      </p:sp>
      <p:sp>
        <p:nvSpPr>
          <p:cNvPr id="79" name="Text 77"/>
          <p:cNvSpPr/>
          <p:nvPr/>
        </p:nvSpPr>
        <p:spPr>
          <a:xfrm>
            <a:off x="9619488" y="5797296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0C4E8"/>
                </a:solidFill>
              </a:rPr>
              <a:t>Demande NS-571 integree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0" y="6492240"/>
            <a:ext cx="12188952" cy="27432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365760" y="6537960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SNH - DRH  |  Perspectives 2026-2027  |  Confidentiel  |  2 / 4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01168"/>
            <a:ext cx="11338560" cy="64008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10896"/>
            <a:ext cx="11338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B6CA8"/>
                </a:solidFill>
              </a:rPr>
              <a:t>MODULES SIRH COMPLEMENTAIRES - FEUILLE DE ROUTE DIGITALISATION RH SNH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11480" y="786384"/>
            <a:ext cx="11338560" cy="384048"/>
          </a:xfrm>
          <a:prstGeom prst="roundRect">
            <a:avLst>
              <a:gd name="adj" fmla="val 11905"/>
            </a:avLst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804672"/>
            <a:ext cx="11064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A0C4E8"/>
                </a:solidFill>
              </a:rPr>
              <a:t>L'infrastructure SIRH SNH est en cours de materialisation. Chaque module capitalise sur les donnees deja en base.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11480" y="1298448"/>
            <a:ext cx="2798064" cy="2359152"/>
          </a:xfrm>
          <a:prstGeom prst="roundRect">
            <a:avLst>
              <a:gd name="adj" fmla="val 387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298448"/>
            <a:ext cx="2798064" cy="5486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86968" y="1426464"/>
            <a:ext cx="1847088" cy="237744"/>
          </a:xfrm>
          <a:prstGeom prst="roundRect">
            <a:avLst>
              <a:gd name="adj" fmla="val 15385"/>
            </a:avLst>
          </a:prstGeom>
          <a:solidFill>
            <a:srgbClr val="14532D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86968" y="1426464"/>
            <a:ext cx="18470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6A34A"/>
                </a:solidFill>
              </a:rPr>
              <a:t>OPERATIONNEL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502920" y="1737360"/>
            <a:ext cx="261518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A2540"/>
                </a:solidFill>
              </a:rPr>
              <a:t>Paie &amp; Bulletins de Salaire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02920" y="2212848"/>
            <a:ext cx="2615184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75569"/>
                </a:solidFill>
              </a:rPr>
              <a:t>Generation bulletins, elements variables, cotisations sociales, parametres fiscaux. Export PDF.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355848" y="1298448"/>
            <a:ext cx="2798064" cy="2359152"/>
          </a:xfrm>
          <a:prstGeom prst="roundRect">
            <a:avLst>
              <a:gd name="adj" fmla="val 387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55848" y="1298448"/>
            <a:ext cx="2798064" cy="5486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831336" y="1426464"/>
            <a:ext cx="1847088" cy="237744"/>
          </a:xfrm>
          <a:prstGeom prst="roundRect">
            <a:avLst>
              <a:gd name="adj" fmla="val 15385"/>
            </a:avLst>
          </a:prstGeom>
          <a:solidFill>
            <a:srgbClr val="14532D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31336" y="1426464"/>
            <a:ext cx="18470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6A34A"/>
                </a:solidFill>
              </a:rPr>
              <a:t>OPERATIONNEL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47288" y="1737360"/>
            <a:ext cx="261518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A2540"/>
                </a:solidFill>
              </a:rPr>
              <a:t>Performance &amp; Evaluations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447288" y="2212848"/>
            <a:ext cx="2615184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75569"/>
                </a:solidFill>
              </a:rPr>
              <a:t>Entretiens annuels, objectifs OKR, competences metier, plans de developpement, feedback 360.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300216" y="1298448"/>
            <a:ext cx="2798064" cy="2359152"/>
          </a:xfrm>
          <a:prstGeom prst="roundRect">
            <a:avLst>
              <a:gd name="adj" fmla="val 387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300216" y="1298448"/>
            <a:ext cx="2798064" cy="5486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775704" y="1426464"/>
            <a:ext cx="1847088" cy="237744"/>
          </a:xfrm>
          <a:prstGeom prst="roundRect">
            <a:avLst>
              <a:gd name="adj" fmla="val 15385"/>
            </a:avLst>
          </a:prstGeom>
          <a:solidFill>
            <a:srgbClr val="14532D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75704" y="1426464"/>
            <a:ext cx="18470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6A34A"/>
                </a:solidFill>
              </a:rPr>
              <a:t>OPERATIONNEL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6391656" y="1737360"/>
            <a:ext cx="261518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A2540"/>
                </a:solidFill>
              </a:rPr>
              <a:t>QVCT &amp; Bien-etre au Travail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391656" y="2212848"/>
            <a:ext cx="2615184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75569"/>
                </a:solidFill>
              </a:rPr>
              <a:t>Suivi QVCT, espaces de discussion RH, alertes, analyse IA des tendances bien-etre.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9244584" y="1298448"/>
            <a:ext cx="2798064" cy="2359152"/>
          </a:xfrm>
          <a:prstGeom prst="roundRect">
            <a:avLst>
              <a:gd name="adj" fmla="val 387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244584" y="1298448"/>
            <a:ext cx="2798064" cy="5486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720072" y="1426464"/>
            <a:ext cx="1847088" cy="237744"/>
          </a:xfrm>
          <a:prstGeom prst="roundRect">
            <a:avLst>
              <a:gd name="adj" fmla="val 15385"/>
            </a:avLst>
          </a:prstGeom>
          <a:solidFill>
            <a:srgbClr val="14532D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720072" y="1426464"/>
            <a:ext cx="18470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6A34A"/>
                </a:solidFill>
              </a:rPr>
              <a:t>OPERATIONNEL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9336024" y="1737360"/>
            <a:ext cx="261518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A2540"/>
                </a:solidFill>
              </a:rPr>
              <a:t>Formation &amp; Competences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9336024" y="2212848"/>
            <a:ext cx="2615184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75569"/>
                </a:solidFill>
              </a:rPr>
              <a:t>Plans de formation, programmes par direction, matrice des competences, referentiel postes.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11480" y="3822192"/>
            <a:ext cx="2798064" cy="2359152"/>
          </a:xfrm>
          <a:prstGeom prst="roundRect">
            <a:avLst>
              <a:gd name="adj" fmla="val 387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11480" y="3822192"/>
            <a:ext cx="2798064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86968" y="3950208"/>
            <a:ext cx="1847088" cy="237744"/>
          </a:xfrm>
          <a:prstGeom prst="roundRect">
            <a:avLst>
              <a:gd name="adj" fmla="val 15385"/>
            </a:avLst>
          </a:prstGeom>
          <a:solidFill>
            <a:srgbClr val="43140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86968" y="3950208"/>
            <a:ext cx="18470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97706"/>
                </a:solidFill>
              </a:rPr>
              <a:t>EN COURS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502920" y="4261104"/>
            <a:ext cx="261518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A2540"/>
                </a:solidFill>
              </a:rPr>
              <a:t>Presences &amp; Conges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02920" y="4736592"/>
            <a:ext cx="2615184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75569"/>
                </a:solidFill>
              </a:rPr>
              <a:t>Suivi temps de travail, demandes de conge, validation manageur, soldes, notes de frais.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3355848" y="3822192"/>
            <a:ext cx="2798064" cy="2359152"/>
          </a:xfrm>
          <a:prstGeom prst="roundRect">
            <a:avLst>
              <a:gd name="adj" fmla="val 387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355848" y="3822192"/>
            <a:ext cx="2798064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831336" y="3950208"/>
            <a:ext cx="1847088" cy="237744"/>
          </a:xfrm>
          <a:prstGeom prst="roundRect">
            <a:avLst>
              <a:gd name="adj" fmla="val 15385"/>
            </a:avLst>
          </a:prstGeom>
          <a:solidFill>
            <a:srgbClr val="43140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831336" y="3950208"/>
            <a:ext cx="18470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97706"/>
                </a:solidFill>
              </a:rPr>
              <a:t>EN COURS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3447288" y="4261104"/>
            <a:ext cx="261518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A2540"/>
                </a:solidFill>
              </a:rPr>
              <a:t>Workflow Recrutement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3447288" y="4736592"/>
            <a:ext cx="2615184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75569"/>
                </a:solidFill>
              </a:rPr>
              <a:t>Processus 10 etapes depuis la demande de recrutement jusqu'a la titularisation.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6300216" y="3822192"/>
            <a:ext cx="2798064" cy="2359152"/>
          </a:xfrm>
          <a:prstGeom prst="roundRect">
            <a:avLst>
              <a:gd name="adj" fmla="val 387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300216" y="3822192"/>
            <a:ext cx="2798064" cy="54864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75704" y="3950208"/>
            <a:ext cx="1847088" cy="237744"/>
          </a:xfrm>
          <a:prstGeom prst="roundRect">
            <a:avLst>
              <a:gd name="adj" fmla="val 15385"/>
            </a:avLst>
          </a:prstGeom>
          <a:solidFill>
            <a:srgbClr val="1E3A5F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775704" y="3950208"/>
            <a:ext cx="18470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6CA8"/>
                </a:solidFill>
              </a:rPr>
              <a:t>PREVU 2027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6391656" y="4261104"/>
            <a:ext cx="261518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A2540"/>
                </a:solidFill>
              </a:rPr>
              <a:t>Organigramme &amp; Annuaire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6391656" y="4736592"/>
            <a:ext cx="2615184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75569"/>
                </a:solidFill>
              </a:rPr>
              <a:t>Organigramme interactif SNH, annuaire collaborateurs, fiche de poste dynamique.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9244584" y="3822192"/>
            <a:ext cx="2798064" cy="2359152"/>
          </a:xfrm>
          <a:prstGeom prst="roundRect">
            <a:avLst>
              <a:gd name="adj" fmla="val 387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9244584" y="3822192"/>
            <a:ext cx="2798064" cy="54864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9720072" y="3950208"/>
            <a:ext cx="1847088" cy="237744"/>
          </a:xfrm>
          <a:prstGeom prst="roundRect">
            <a:avLst>
              <a:gd name="adj" fmla="val 15385"/>
            </a:avLst>
          </a:prstGeom>
          <a:solidFill>
            <a:srgbClr val="1E3A5F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720072" y="3950208"/>
            <a:ext cx="18470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6CA8"/>
                </a:solidFill>
              </a:rPr>
              <a:t>PREVU 2027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9336024" y="4261104"/>
            <a:ext cx="261518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A2540"/>
                </a:solidFill>
              </a:rPr>
              <a:t>Connexion ERP / Paie externe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9336024" y="4736592"/>
            <a:ext cx="2615184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75569"/>
                </a:solidFill>
              </a:rPr>
              <a:t>Interfacage avec le systeme ERP paie existant SNH - synchronisation bidirectionnelle.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0" y="6492240"/>
            <a:ext cx="12188952" cy="27432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65760" y="6537960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SNH - DRH  |  Perspectives 2026-2027  |  Confidentiel  |  3 / 4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92608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1B6CA8"/>
                </a:solidFill>
              </a:rPr>
              <a:t>VISION &amp; FEUILLE DE ROUTE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114300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SIRH SNH - Roadmap 2026-2027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335024"/>
            <a:ext cx="11430000" cy="36576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2523744"/>
            <a:ext cx="10058400" cy="914"/>
          </a:xfrm>
          <a:prstGeom prst="line">
            <a:avLst/>
          </a:prstGeom>
          <a:noFill/>
          <a:ln w="12700">
            <a:solidFill>
              <a:srgbClr val="1E4A7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69264" y="2322576"/>
            <a:ext cx="402336" cy="402336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9264" y="232257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V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20624" y="2816352"/>
            <a:ext cx="14996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97706"/>
                </a:solidFill>
              </a:rPr>
              <a:t>Juil. 2026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84048" y="3108960"/>
            <a:ext cx="157276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FFFFF"/>
                </a:solidFill>
              </a:rPr>
              <a:t>Presentation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FFFFF"/>
                </a:solidFill>
              </a:rPr>
              <a:t>Directoire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419856" y="2322576"/>
            <a:ext cx="402336" cy="402336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19856" y="232257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V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871216" y="2816352"/>
            <a:ext cx="14996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6A34A"/>
                </a:solidFill>
              </a:rPr>
              <a:t>Juil.-Aout 2026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834640" y="3108960"/>
            <a:ext cx="157276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FFFFF"/>
                </a:solidFill>
              </a:rPr>
              <a:t>Deploiement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FFFFF"/>
                </a:solidFill>
              </a:rPr>
              <a:t>CVtheque &amp; Portail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870448" y="2322576"/>
            <a:ext cx="402336" cy="402336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870448" y="232257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321808" y="2816352"/>
            <a:ext cx="14996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6A34A"/>
                </a:solidFill>
              </a:rPr>
              <a:t>Sept.-Oct. 2026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285232" y="3108960"/>
            <a:ext cx="157276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FFFFF"/>
                </a:solidFill>
              </a:rPr>
              <a:t>Formation equipes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FFFFF"/>
                </a:solidFill>
              </a:rPr>
              <a:t>DRH &amp; Informatique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8321040" y="2322576"/>
            <a:ext cx="402336" cy="402336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21040" y="232257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772400" y="2816352"/>
            <a:ext cx="14996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97706"/>
                </a:solidFill>
              </a:rPr>
              <a:t>Oct.-Dec. 2026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7735824" y="3108960"/>
            <a:ext cx="157276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FFFFF"/>
                </a:solidFill>
              </a:rPr>
              <a:t>Workflow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FFFFF"/>
                </a:solidFill>
              </a:rPr>
              <a:t>Recrutement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10771632" y="2322576"/>
            <a:ext cx="402336" cy="402336"/>
          </a:xfrm>
          <a:prstGeom prst="ellipse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771632" y="232257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0222992" y="2816352"/>
            <a:ext cx="14996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B6CA8"/>
                </a:solidFill>
              </a:rPr>
              <a:t>2027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0186416" y="3108960"/>
            <a:ext cx="157276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FFFFF"/>
                </a:solidFill>
              </a:rPr>
              <a:t>SIRH complet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FFFFF"/>
                </a:solidFill>
              </a:rPr>
              <a:t>&amp; ERP Paie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65760" y="3822192"/>
            <a:ext cx="3749040" cy="2487168"/>
          </a:xfrm>
          <a:prstGeom prst="roundRect">
            <a:avLst>
              <a:gd name="adj" fmla="val 2941"/>
            </a:avLst>
          </a:prstGeom>
          <a:solidFill>
            <a:srgbClr val="0D2D4F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65760" y="3822192"/>
            <a:ext cx="3749040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3776" y="3877056"/>
            <a:ext cx="34930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</a:rPr>
              <a:t>Pour la DRH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93776" y="4334256"/>
            <a:ext cx="109728" cy="10972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76656" y="4288536"/>
            <a:ext cx="33101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94A3B8"/>
                </a:solidFill>
              </a:rPr>
              <a:t>Tableaux de bord RH complets et temps reel</a:t>
            </a:r>
            <a:endParaRPr lang="en-US" sz="880" dirty="0"/>
          </a:p>
        </p:txBody>
      </p:sp>
      <p:sp>
        <p:nvSpPr>
          <p:cNvPr id="32" name="Shape 30"/>
          <p:cNvSpPr/>
          <p:nvPr/>
        </p:nvSpPr>
        <p:spPr>
          <a:xfrm>
            <a:off x="493776" y="4773168"/>
            <a:ext cx="109728" cy="10972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76656" y="4727448"/>
            <a:ext cx="33101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94A3B8"/>
                </a:solidFill>
              </a:rPr>
              <a:t>Processus digitalises &amp; tracables de bout en bout</a:t>
            </a:r>
            <a:endParaRPr lang="en-US" sz="880" dirty="0"/>
          </a:p>
        </p:txBody>
      </p:sp>
      <p:sp>
        <p:nvSpPr>
          <p:cNvPr id="34" name="Shape 32"/>
          <p:cNvSpPr/>
          <p:nvPr/>
        </p:nvSpPr>
        <p:spPr>
          <a:xfrm>
            <a:off x="493776" y="5212080"/>
            <a:ext cx="109728" cy="10972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76656" y="5166360"/>
            <a:ext cx="33101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94A3B8"/>
                </a:solidFill>
              </a:rPr>
              <a:t>Pilotage data-driven des effectifs et competences</a:t>
            </a:r>
            <a:endParaRPr lang="en-US" sz="880" dirty="0"/>
          </a:p>
        </p:txBody>
      </p:sp>
      <p:sp>
        <p:nvSpPr>
          <p:cNvPr id="36" name="Shape 34"/>
          <p:cNvSpPr/>
          <p:nvPr/>
        </p:nvSpPr>
        <p:spPr>
          <a:xfrm>
            <a:off x="493776" y="5650992"/>
            <a:ext cx="109728" cy="10972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76656" y="5605272"/>
            <a:ext cx="33101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94A3B8"/>
                </a:solidFill>
              </a:rPr>
              <a:t>Moins de saisie manuelle, plus de valeur ajoutee</a:t>
            </a:r>
            <a:endParaRPr lang="en-US" sz="880" dirty="0"/>
          </a:p>
        </p:txBody>
      </p:sp>
      <p:sp>
        <p:nvSpPr>
          <p:cNvPr id="38" name="Shape 36"/>
          <p:cNvSpPr/>
          <p:nvPr/>
        </p:nvSpPr>
        <p:spPr>
          <a:xfrm>
            <a:off x="4297680" y="3822192"/>
            <a:ext cx="3749040" cy="2487168"/>
          </a:xfrm>
          <a:prstGeom prst="roundRect">
            <a:avLst>
              <a:gd name="adj" fmla="val 2941"/>
            </a:avLst>
          </a:prstGeom>
          <a:solidFill>
            <a:srgbClr val="0D2D4F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297680" y="3822192"/>
            <a:ext cx="3749040" cy="54864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425696" y="3877056"/>
            <a:ext cx="34930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6CA8"/>
                </a:solidFill>
              </a:rPr>
              <a:t>Pour les Managers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425696" y="4334256"/>
            <a:ext cx="109728" cy="109728"/>
          </a:xfrm>
          <a:prstGeom prst="ellipse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608576" y="4288536"/>
            <a:ext cx="33101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94A3B8"/>
                </a:solidFill>
              </a:rPr>
              <a:t>Visibilite sur les candidatures de leur direction</a:t>
            </a:r>
            <a:endParaRPr lang="en-US" sz="880" dirty="0"/>
          </a:p>
        </p:txBody>
      </p:sp>
      <p:sp>
        <p:nvSpPr>
          <p:cNvPr id="43" name="Shape 41"/>
          <p:cNvSpPr/>
          <p:nvPr/>
        </p:nvSpPr>
        <p:spPr>
          <a:xfrm>
            <a:off x="4425696" y="4773168"/>
            <a:ext cx="109728" cy="109728"/>
          </a:xfrm>
          <a:prstGeom prst="ellipse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608576" y="4727448"/>
            <a:ext cx="33101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94A3B8"/>
                </a:solidFill>
              </a:rPr>
              <a:t>Suivi des evaluations et performances de l'equipe</a:t>
            </a:r>
            <a:endParaRPr lang="en-US" sz="880" dirty="0"/>
          </a:p>
        </p:txBody>
      </p:sp>
      <p:sp>
        <p:nvSpPr>
          <p:cNvPr id="45" name="Shape 43"/>
          <p:cNvSpPr/>
          <p:nvPr/>
        </p:nvSpPr>
        <p:spPr>
          <a:xfrm>
            <a:off x="4425696" y="5212080"/>
            <a:ext cx="109728" cy="109728"/>
          </a:xfrm>
          <a:prstGeom prst="ellipse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608576" y="5166360"/>
            <a:ext cx="33101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94A3B8"/>
                </a:solidFill>
              </a:rPr>
              <a:t>Demandes de recrutement formalisees en ligne</a:t>
            </a:r>
            <a:endParaRPr lang="en-US" sz="880" dirty="0"/>
          </a:p>
        </p:txBody>
      </p:sp>
      <p:sp>
        <p:nvSpPr>
          <p:cNvPr id="47" name="Shape 45"/>
          <p:cNvSpPr/>
          <p:nvPr/>
        </p:nvSpPr>
        <p:spPr>
          <a:xfrm>
            <a:off x="4425696" y="5650992"/>
            <a:ext cx="109728" cy="109728"/>
          </a:xfrm>
          <a:prstGeom prst="ellipse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608576" y="5605272"/>
            <a:ext cx="33101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94A3B8"/>
                </a:solidFill>
              </a:rPr>
              <a:t>Acces a l'organigramme et a l'annuaire interactif</a:t>
            </a:r>
            <a:endParaRPr lang="en-US" sz="880" dirty="0"/>
          </a:p>
        </p:txBody>
      </p:sp>
      <p:sp>
        <p:nvSpPr>
          <p:cNvPr id="49" name="Shape 47"/>
          <p:cNvSpPr/>
          <p:nvPr/>
        </p:nvSpPr>
        <p:spPr>
          <a:xfrm>
            <a:off x="8229600" y="3822192"/>
            <a:ext cx="3749040" cy="2487168"/>
          </a:xfrm>
          <a:prstGeom prst="roundRect">
            <a:avLst>
              <a:gd name="adj" fmla="val 2941"/>
            </a:avLst>
          </a:prstGeom>
          <a:solidFill>
            <a:srgbClr val="0D2D4F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229600" y="3822192"/>
            <a:ext cx="3749040" cy="5486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357616" y="3877056"/>
            <a:ext cx="34930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</a:rPr>
              <a:t>Pour la SNH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8357616" y="4334256"/>
            <a:ext cx="109728" cy="10972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540496" y="4288536"/>
            <a:ext cx="33101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94A3B8"/>
                </a:solidFill>
              </a:rPr>
              <a:t>Image employeur renforcee - attractivite des talents</a:t>
            </a:r>
            <a:endParaRPr lang="en-US" sz="880" dirty="0"/>
          </a:p>
        </p:txBody>
      </p:sp>
      <p:sp>
        <p:nvSpPr>
          <p:cNvPr id="54" name="Shape 52"/>
          <p:cNvSpPr/>
          <p:nvPr/>
        </p:nvSpPr>
        <p:spPr>
          <a:xfrm>
            <a:off x="8357616" y="4773168"/>
            <a:ext cx="109728" cy="10972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540496" y="4727448"/>
            <a:ext cx="33101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94A3B8"/>
                </a:solidFill>
              </a:rPr>
              <a:t>Conformite reglementaire des donnees RH &amp; candidats</a:t>
            </a:r>
            <a:endParaRPr lang="en-US" sz="880" dirty="0"/>
          </a:p>
        </p:txBody>
      </p:sp>
      <p:sp>
        <p:nvSpPr>
          <p:cNvPr id="56" name="Shape 54"/>
          <p:cNvSpPr/>
          <p:nvPr/>
        </p:nvSpPr>
        <p:spPr>
          <a:xfrm>
            <a:off x="8357616" y="5212080"/>
            <a:ext cx="109728" cy="10972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540496" y="5166360"/>
            <a:ext cx="33101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94A3B8"/>
                </a:solidFill>
              </a:rPr>
              <a:t>Reduction des delais de recrutement</a:t>
            </a:r>
            <a:endParaRPr lang="en-US" sz="880" dirty="0"/>
          </a:p>
        </p:txBody>
      </p:sp>
      <p:sp>
        <p:nvSpPr>
          <p:cNvPr id="58" name="Shape 56"/>
          <p:cNvSpPr/>
          <p:nvPr/>
        </p:nvSpPr>
        <p:spPr>
          <a:xfrm>
            <a:off x="8357616" y="5650992"/>
            <a:ext cx="109728" cy="10972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8540496" y="5605272"/>
            <a:ext cx="33101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94A3B8"/>
                </a:solidFill>
              </a:rPr>
              <a:t>Capitalisation sur le SIRH existant - ROI optimal</a:t>
            </a:r>
            <a:endParaRPr lang="en-US" sz="880" dirty="0"/>
          </a:p>
        </p:txBody>
      </p:sp>
      <p:sp>
        <p:nvSpPr>
          <p:cNvPr id="60" name="Shape 58"/>
          <p:cNvSpPr/>
          <p:nvPr/>
        </p:nvSpPr>
        <p:spPr>
          <a:xfrm>
            <a:off x="0" y="6492240"/>
            <a:ext cx="12188952" cy="27432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65760" y="6537960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SNH - DRH  |  Perspectives 2026-2027  |  Confidentiel  |  4 / 4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Societe Nationale des Hydrocarbures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SNH - Perspectives : Workflow Recrutement &amp; SIRH 2026-2027</dc:title>
  <dc:subject>PptxGenJS Presentation</dc:subject>
  <dc:creator>PptxGenJS</dc:creator>
  <cp:lastModifiedBy>PptxGenJS</cp:lastModifiedBy>
  <cp:revision>1</cp:revision>
  <dcterms:created xsi:type="dcterms:W3CDTF">2026-07-06T07:12:12Z</dcterms:created>
  <dcterms:modified xsi:type="dcterms:W3CDTF">2026-07-06T07:12:12Z</dcterms:modified>
</cp:coreProperties>
</file>